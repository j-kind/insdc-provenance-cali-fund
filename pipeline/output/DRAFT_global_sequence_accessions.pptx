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9"/>
  </p:normalViewPr>
  <p:slideViewPr>
    <p:cSldViewPr snapToGrid="0" snapToObjects="1">
      <p:cViewPr varScale="1">
        <p:scale>
          <a:sx n="96" d="100"/>
          <a:sy n="96" d="100"/>
        </p:scale>
        <p:origin x="424"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4E79"/>
        </a:solidFill>
        <a:effectLst/>
      </p:bgPr>
    </p:bg>
    <p:spTree>
      <p:nvGrpSpPr>
        <p:cNvPr id="1" name=""/>
        <p:cNvGrpSpPr/>
        <p:nvPr/>
      </p:nvGrpSpPr>
      <p:grpSpPr>
        <a:xfrm>
          <a:off x="0" y="0"/>
          <a:ext cx="0" cy="0"/>
          <a:chOff x="0" y="0"/>
          <a:chExt cx="0" cy="0"/>
        </a:xfrm>
      </p:grpSpPr>
      <p:sp>
        <p:nvSpPr>
          <p:cNvPr id="2" name="TextBox 1"/>
          <p:cNvSpPr txBox="1"/>
          <p:nvPr/>
        </p:nvSpPr>
        <p:spPr>
          <a:xfrm>
            <a:off x="914400" y="1828800"/>
            <a:ext cx="10058400" cy="2328843"/>
          </a:xfrm>
          <a:prstGeom prst="rect">
            <a:avLst/>
          </a:prstGeom>
          <a:noFill/>
        </p:spPr>
        <p:txBody>
          <a:bodyPr wrap="square">
            <a:spAutoFit/>
          </a:bodyPr>
          <a:lstStyle/>
          <a:p>
            <a:pPr>
              <a:defRPr sz="3600" b="1">
                <a:solidFill>
                  <a:srgbClr val="FFFFFF"/>
                </a:solidFill>
              </a:defRPr>
            </a:pPr>
            <a:r>
              <a:rPr dirty="0"/>
              <a:t>Global Variation in Sequence Accessions Over Time</a:t>
            </a:r>
            <a:endParaRPr lang="en-GB" dirty="0"/>
          </a:p>
          <a:p>
            <a:pPr>
              <a:defRPr sz="3600" b="1">
                <a:solidFill>
                  <a:srgbClr val="FFFFFF"/>
                </a:solidFill>
              </a:defRPr>
            </a:pPr>
            <a:r>
              <a:rPr lang="en-GB" dirty="0"/>
              <a:t>[DRAFT]</a:t>
            </a:r>
            <a:endParaRPr dirty="0"/>
          </a:p>
          <a:p>
            <a:pPr>
              <a:spcBef>
                <a:spcPts val="1600"/>
              </a:spcBef>
              <a:defRPr sz="2200">
                <a:solidFill>
                  <a:srgbClr val="A8C7E8"/>
                </a:solidFill>
              </a:defRPr>
            </a:pPr>
            <a:r>
              <a:rPr dirty="0"/>
              <a:t>Implications for the Cali Fund and DSI Benefit-Sharing</a:t>
            </a:r>
          </a:p>
          <a:p>
            <a:pPr>
              <a:spcBef>
                <a:spcPts val="2400"/>
              </a:spcBef>
              <a:defRPr sz="1800">
                <a:solidFill>
                  <a:srgbClr val="7BA8D4"/>
                </a:solidFill>
              </a:defRPr>
            </a:pPr>
            <a:r>
              <a:rPr lang="en-GB" dirty="0"/>
              <a:t>Jasmine Kindness, </a:t>
            </a:r>
            <a:r>
              <a:rPr lang="en-GB" dirty="0" err="1"/>
              <a:t>TierraViva</a:t>
            </a:r>
            <a:r>
              <a:rPr lang="en-GB" dirty="0"/>
              <a:t> AI, </a:t>
            </a:r>
            <a:r>
              <a:rPr dirty="0"/>
              <a:t>1</a:t>
            </a:r>
            <a:r>
              <a:rPr lang="en-GB" dirty="0"/>
              <a:t>6</a:t>
            </a:r>
            <a:r>
              <a:rPr dirty="0"/>
              <a:t> October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Why this matters</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554480"/>
            <a:ext cx="10515600" cy="4074577"/>
          </a:xfrm>
          <a:prstGeom prst="rect">
            <a:avLst/>
          </a:prstGeom>
          <a:noFill/>
        </p:spPr>
        <p:txBody>
          <a:bodyPr wrap="square">
            <a:spAutoFit/>
          </a:bodyPr>
          <a:lstStyle/>
          <a:p>
            <a:pPr>
              <a:lnSpc>
                <a:spcPct val="130000"/>
              </a:lnSpc>
              <a:spcBef>
                <a:spcPts val="800"/>
              </a:spcBef>
              <a:defRPr sz="1800" b="0">
                <a:solidFill>
                  <a:srgbClr val="1A1A1A"/>
                </a:solidFill>
              </a:defRPr>
            </a:pPr>
            <a:r>
              <a:rPr dirty="0"/>
              <a:t>The multilateral mechanism for benefit-sharing from digital sequence information (DSI), agreed at COP16 in Cali, includes a fund to which users of DSI are expected to contribute.</a:t>
            </a:r>
          </a:p>
          <a:p>
            <a:pPr>
              <a:lnSpc>
                <a:spcPct val="130000"/>
              </a:lnSpc>
              <a:spcBef>
                <a:spcPts val="800"/>
              </a:spcBef>
              <a:defRPr sz="1800" b="0">
                <a:solidFill>
                  <a:srgbClr val="1A1A1A"/>
                </a:solidFill>
              </a:defRPr>
            </a:pPr>
            <a:r>
              <a:rPr dirty="0"/>
              <a:t>A central question is how to allocate those funds among eligible countries. One proposed basis is the geographic distribution of sequence records in public databases: countries that are the source of many sequenced organisms might be considered to have contributed more to the global commons.</a:t>
            </a:r>
          </a:p>
          <a:p>
            <a:pPr>
              <a:lnSpc>
                <a:spcPct val="130000"/>
              </a:lnSpc>
              <a:spcBef>
                <a:spcPts val="800"/>
              </a:spcBef>
              <a:defRPr sz="1800" b="0">
                <a:solidFill>
                  <a:srgbClr val="1A1A1A"/>
                </a:solidFill>
              </a:defRPr>
            </a:pPr>
            <a:r>
              <a:rPr dirty="0"/>
              <a:t>This report tests whether INSDC provenance data are fit for that purpose. </a:t>
            </a:r>
            <a:r>
              <a:rPr lang="en-GB" dirty="0"/>
              <a:t>It </a:t>
            </a:r>
            <a:r>
              <a:rPr dirty="0"/>
              <a:t>examines whether the data are complete enough, fair enough, and stable enough to support an allocation methodology.</a:t>
            </a:r>
            <a:endParaRPr lang="en-GB" dirty="0"/>
          </a:p>
          <a:p>
            <a:pPr>
              <a:lnSpc>
                <a:spcPct val="130000"/>
              </a:lnSpc>
              <a:spcBef>
                <a:spcPts val="800"/>
              </a:spcBef>
              <a:defRPr sz="1800" b="0">
                <a:solidFill>
                  <a:srgbClr val="1A1A1A"/>
                </a:solidFill>
              </a:defRPr>
            </a:pPr>
            <a:r>
              <a:rPr lang="en-GB" dirty="0"/>
              <a:t>This analysis was conducted to provide the best information possible in the time available. It has not been peer reviewed.</a:t>
            </a:r>
          </a:p>
          <a:p>
            <a:pPr>
              <a:lnSpc>
                <a:spcPct val="130000"/>
              </a:lnSpc>
              <a:spcBef>
                <a:spcPts val="800"/>
              </a:spcBef>
              <a:defRPr sz="1800" b="0">
                <a:solidFill>
                  <a:srgbClr val="1A1A1A"/>
                </a:solidFill>
              </a:defRPr>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Methodology: Data source and scope</a:t>
            </a:r>
          </a:p>
          <a:p>
            <a:pPr>
              <a:spcBef>
                <a:spcPts val="400"/>
              </a:spcBef>
              <a:defRPr sz="1600">
                <a:solidFill>
                  <a:srgbClr val="666666"/>
                </a:solidFill>
              </a:defRPr>
            </a:pPr>
            <a:r>
              <a:t>What was counted and what was excluded</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554480"/>
            <a:ext cx="10515600" cy="4547655"/>
          </a:xfrm>
          <a:prstGeom prst="rect">
            <a:avLst/>
          </a:prstGeom>
          <a:noFill/>
        </p:spPr>
        <p:txBody>
          <a:bodyPr wrap="square">
            <a:spAutoFit/>
          </a:bodyPr>
          <a:lstStyle/>
          <a:p>
            <a:pPr>
              <a:lnSpc>
                <a:spcPct val="130000"/>
              </a:lnSpc>
              <a:spcBef>
                <a:spcPts val="800"/>
              </a:spcBef>
              <a:defRPr sz="1700" b="0">
                <a:solidFill>
                  <a:srgbClr val="1A1A1A"/>
                </a:solidFill>
              </a:defRPr>
            </a:pPr>
            <a:r>
              <a:rPr dirty="0"/>
              <a:t>All counts were obtained from the European Nucleotide Archive (ENA) Portal API, which provides programmatic access to metadata for biological samples deposited in INSDC databases. ENA is the European partner of INSDC, which also includes DDBJ and NCBI. The three databases exchange data daily, so counts from ENA are representative of global holdings.</a:t>
            </a:r>
          </a:p>
          <a:p>
            <a:pPr>
              <a:lnSpc>
                <a:spcPct val="130000"/>
              </a:lnSpc>
              <a:spcBef>
                <a:spcPts val="800"/>
              </a:spcBef>
              <a:defRPr sz="1700" b="0">
                <a:solidFill>
                  <a:srgbClr val="1A1A1A"/>
                </a:solidFill>
              </a:defRPr>
            </a:pPr>
            <a:r>
              <a:rPr dirty="0"/>
              <a:t>The analysis uses the sample record type, corresponding to one record per biological sample deposited. This is the appropriate unit for provenance questions because a single sample may generate multiple sequencing runs, and counting runs would inflate the numbers.</a:t>
            </a:r>
          </a:p>
          <a:p>
            <a:pPr>
              <a:lnSpc>
                <a:spcPct val="130000"/>
              </a:lnSpc>
              <a:spcBef>
                <a:spcPts val="800"/>
              </a:spcBef>
              <a:defRPr sz="1700" b="1">
                <a:solidFill>
                  <a:srgbClr val="1A1A1A"/>
                </a:solidFill>
              </a:defRPr>
            </a:pPr>
            <a:r>
              <a:rPr dirty="0"/>
              <a:t>Three categories of records were excluded:</a:t>
            </a:r>
          </a:p>
          <a:p>
            <a:pPr lvl="1">
              <a:lnSpc>
                <a:spcPct val="130000"/>
              </a:lnSpc>
              <a:spcBef>
                <a:spcPts val="400"/>
              </a:spcBef>
              <a:defRPr sz="1600" b="0">
                <a:solidFill>
                  <a:srgbClr val="666666"/>
                </a:solidFill>
              </a:defRPr>
            </a:pPr>
            <a:r>
              <a:rPr dirty="0"/>
              <a:t>Human organism records, which are not relevant to biodiversity benefit-sharing</a:t>
            </a:r>
          </a:p>
          <a:p>
            <a:pPr lvl="1">
              <a:lnSpc>
                <a:spcPct val="130000"/>
              </a:lnSpc>
              <a:spcBef>
                <a:spcPts val="400"/>
              </a:spcBef>
              <a:defRPr sz="1600" b="0">
                <a:solidFill>
                  <a:srgbClr val="666666"/>
                </a:solidFill>
              </a:defRPr>
            </a:pPr>
            <a:r>
              <a:rPr dirty="0"/>
              <a:t>Human microbiome samples, where the host organism is a human</a:t>
            </a:r>
          </a:p>
          <a:p>
            <a:pPr lvl="1">
              <a:lnSpc>
                <a:spcPct val="130000"/>
              </a:lnSpc>
              <a:spcBef>
                <a:spcPts val="400"/>
              </a:spcBef>
              <a:defRPr sz="1600" b="0">
                <a:solidFill>
                  <a:srgbClr val="666666"/>
                </a:solidFill>
              </a:defRPr>
            </a:pPr>
            <a:r>
              <a:rPr dirty="0"/>
              <a:t>Synthetic constructs, which do not correspond to biological genetic resources</a:t>
            </a:r>
          </a:p>
          <a:p>
            <a:pPr>
              <a:lnSpc>
                <a:spcPct val="130000"/>
              </a:lnSpc>
              <a:spcBef>
                <a:spcPts val="800"/>
              </a:spcBef>
              <a:defRPr sz="1700" b="0">
                <a:solidFill>
                  <a:srgbClr val="1A1A1A"/>
                </a:solidFill>
              </a:defRPr>
            </a:pPr>
            <a:r>
              <a:rPr dirty="0"/>
              <a:t>After applying these filters, the total record count was 30,313,212.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Methodology: Country attribution</a:t>
            </a:r>
          </a:p>
          <a:p>
            <a:pPr>
              <a:spcBef>
                <a:spcPts val="400"/>
              </a:spcBef>
              <a:defRPr sz="1600">
                <a:solidFill>
                  <a:srgbClr val="666666"/>
                </a:solidFill>
              </a:defRPr>
            </a:pPr>
            <a:r>
              <a:t>How records were assigned to countries</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554480"/>
            <a:ext cx="10515600" cy="4113690"/>
          </a:xfrm>
          <a:prstGeom prst="rect">
            <a:avLst/>
          </a:prstGeom>
          <a:noFill/>
        </p:spPr>
        <p:txBody>
          <a:bodyPr wrap="square">
            <a:spAutoFit/>
          </a:bodyPr>
          <a:lstStyle/>
          <a:p>
            <a:pPr>
              <a:lnSpc>
                <a:spcPct val="130000"/>
              </a:lnSpc>
              <a:spcBef>
                <a:spcPts val="800"/>
              </a:spcBef>
              <a:defRPr sz="1700" b="0">
                <a:solidFill>
                  <a:srgbClr val="1A1A1A"/>
                </a:solidFill>
              </a:defRPr>
            </a:pPr>
            <a:r>
              <a:rPr dirty="0"/>
              <a:t>Each record has a country of collection recorded in a geographic location field. The analysis queried 378 distinct values: 296 from the INSDC controlled vocabulary plus 82 additional values identified through systematic sampling (alternative country names, locality names, placeholders).</a:t>
            </a:r>
          </a:p>
          <a:p>
            <a:pPr>
              <a:lnSpc>
                <a:spcPct val="130000"/>
              </a:lnSpc>
              <a:spcBef>
                <a:spcPts val="800"/>
              </a:spcBef>
              <a:defRPr sz="1700" b="0">
                <a:solidFill>
                  <a:srgbClr val="1A1A1A"/>
                </a:solidFill>
              </a:defRPr>
            </a:pPr>
            <a:r>
              <a:rPr dirty="0"/>
              <a:t>The database uses token-based matching: a query for a short country name matches any record where that name appears as a word anywhere in the field. This creates false matches, for example when querying Mexico and matching records from USA: New Mexico.</a:t>
            </a:r>
          </a:p>
          <a:p>
            <a:pPr>
              <a:lnSpc>
                <a:spcPct val="130000"/>
              </a:lnSpc>
              <a:spcBef>
                <a:spcPts val="800"/>
              </a:spcBef>
              <a:defRPr sz="1700" b="0">
                <a:solidFill>
                  <a:srgbClr val="1A1A1A"/>
                </a:solidFill>
              </a:defRPr>
            </a:pPr>
            <a:r>
              <a:rPr dirty="0"/>
              <a:t>Twenty collision exclusions were applied to prevent these false matches, covering cross-country pairs (Guinea matching Papua New Guinea), sub-national pairs (Mexico matching the US state of New Mexico), and ocean name overlaps (China matching South China Sea).</a:t>
            </a:r>
            <a:r>
              <a:rPr lang="en-GB" dirty="0"/>
              <a:t> </a:t>
            </a:r>
            <a:endParaRPr dirty="0"/>
          </a:p>
          <a:p>
            <a:pPr>
              <a:lnSpc>
                <a:spcPct val="130000"/>
              </a:lnSpc>
              <a:spcBef>
                <a:spcPts val="800"/>
              </a:spcBef>
              <a:defRPr sz="1700" b="0">
                <a:solidFill>
                  <a:srgbClr val="1A1A1A"/>
                </a:solidFill>
              </a:defRPr>
            </a:pPr>
            <a:r>
              <a:rPr dirty="0"/>
              <a:t>Raw values were aggregated onto 267 sovereign countries using UN M.49 and World Bank income classifications. Historical names with multiple successor states (USSR, Yugoslavia) were set aside.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Methodology: Temporal anchor</a:t>
            </a:r>
          </a:p>
          <a:p>
            <a:pPr>
              <a:spcBef>
                <a:spcPts val="400"/>
              </a:spcBef>
              <a:defRPr sz="1600">
                <a:solidFill>
                  <a:srgbClr val="666666"/>
                </a:solidFill>
              </a:defRPr>
            </a:pPr>
            <a:r>
              <a:t>How records were assigned to years</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554480"/>
            <a:ext cx="10515600" cy="4846320"/>
          </a:xfrm>
          <a:prstGeom prst="rect">
            <a:avLst/>
          </a:prstGeom>
          <a:noFill/>
        </p:spPr>
        <p:txBody>
          <a:bodyPr wrap="square">
            <a:spAutoFit/>
          </a:bodyPr>
          <a:lstStyle/>
          <a:p>
            <a:pPr>
              <a:lnSpc>
                <a:spcPct val="130000"/>
              </a:lnSpc>
              <a:spcBef>
                <a:spcPts val="800"/>
              </a:spcBef>
              <a:defRPr sz="1700" b="0">
                <a:solidFill>
                  <a:srgbClr val="1A1A1A"/>
                </a:solidFill>
              </a:defRPr>
            </a:pPr>
            <a:r>
              <a:t>Each record was assigned to a year based on the date it was first made publicly available. This date is set by the database, not by the submitter, and is therefore a reliable indicator of when the record entered the public domain.</a:t>
            </a:r>
          </a:p>
          <a:p>
            <a:pPr>
              <a:lnSpc>
                <a:spcPct val="130000"/>
              </a:lnSpc>
              <a:spcBef>
                <a:spcPts val="800"/>
              </a:spcBef>
              <a:defRPr sz="1700" b="0">
                <a:solidFill>
                  <a:srgbClr val="1A1A1A"/>
                </a:solidFill>
              </a:defRPr>
            </a:pPr>
            <a:r>
              <a:t>Annual counts cover 2018 through 2026, with 2026 including only January to October because the snapshot was taken on 13 October 2026. A pre-2018 bucket captures older records, and an undated bucket captures records with no public release date.</a:t>
            </a:r>
          </a:p>
          <a:p>
            <a:pPr>
              <a:lnSpc>
                <a:spcPct val="130000"/>
              </a:lnSpc>
              <a:spcBef>
                <a:spcPts val="800"/>
              </a:spcBef>
              <a:defRPr sz="1700" b="0">
                <a:solidFill>
                  <a:srgbClr val="1A1A1A"/>
                </a:solidFill>
              </a:defRPr>
            </a:pPr>
            <a:r>
              <a:t>Approximately 21.5 per cent of records have no date recorded. These undated records are reported separately rather than being distributed across years. This means that annual counts are partial censuses, not complete enumerations.</a:t>
            </a:r>
          </a:p>
          <a:p>
            <a:pPr>
              <a:lnSpc>
                <a:spcPct val="130000"/>
              </a:lnSpc>
              <a:spcBef>
                <a:spcPts val="800"/>
              </a:spcBef>
              <a:defRPr sz="1700" b="0">
                <a:solidFill>
                  <a:srgbClr val="1A1A1A"/>
                </a:solidFill>
              </a:defRPr>
            </a:pPr>
            <a:r>
              <a:t>The dated share varies by country, which introduces temporal bias. Countries with poor date metadata will appear to have fewer records in annual counts relative to their true total.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What can be attributed to a country?</a:t>
            </a:r>
          </a:p>
          <a:p>
            <a:pPr>
              <a:spcBef>
                <a:spcPts val="400"/>
              </a:spcBef>
              <a:defRPr sz="1600">
                <a:solidFill>
                  <a:srgbClr val="666666"/>
                </a:solidFill>
              </a:defRPr>
            </a:pPr>
            <a:r>
              <a:t>Nearly two-thirds of records; the rest cannot be assigned</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554480"/>
          <a:ext cx="6858000" cy="24231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320040">
                <a:tc>
                  <a:txBody>
                    <a:bodyPr/>
                    <a:lstStyle/>
                    <a:p>
                      <a:pPr>
                        <a:defRPr sz="1400" b="1">
                          <a:solidFill>
                            <a:srgbClr val="FFFFFF"/>
                          </a:solidFill>
                        </a:defRPr>
                      </a:pPr>
                      <a:r>
                        <a:t>Attribution status</a:t>
                      </a:r>
                    </a:p>
                  </a:txBody>
                  <a:tcPr>
                    <a:solidFill>
                      <a:srgbClr val="1F4E79"/>
                    </a:solidFill>
                  </a:tcPr>
                </a:tc>
                <a:tc>
                  <a:txBody>
                    <a:bodyPr/>
                    <a:lstStyle/>
                    <a:p>
                      <a:pPr>
                        <a:defRPr sz="1400" b="1">
                          <a:solidFill>
                            <a:srgbClr val="FFFFFF"/>
                          </a:solidFill>
                        </a:defRPr>
                      </a:pPr>
                      <a:r>
                        <a:t>Record count</a:t>
                      </a:r>
                    </a:p>
                  </a:txBody>
                  <a:tcPr>
                    <a:solidFill>
                      <a:srgbClr val="1F4E79"/>
                    </a:solidFill>
                  </a:tcPr>
                </a:tc>
                <a:tc>
                  <a:txBody>
                    <a:bodyPr/>
                    <a:lstStyle/>
                    <a:p>
                      <a:pPr>
                        <a:defRPr sz="1400" b="1">
                          <a:solidFill>
                            <a:srgbClr val="FFFFFF"/>
                          </a:solidFill>
                        </a:defRPr>
                      </a:pPr>
                      <a:r>
                        <a:t>Per cent of total</a:t>
                      </a:r>
                    </a:p>
                  </a:txBody>
                  <a:tcPr>
                    <a:solidFill>
                      <a:srgbClr val="1F4E79"/>
                    </a:solidFill>
                  </a:tcPr>
                </a:tc>
                <a:extLst>
                  <a:ext uri="{0D108BD9-81ED-4DB2-BD59-A6C34878D82A}">
                    <a16:rowId xmlns:a16="http://schemas.microsoft.com/office/drawing/2014/main" val="10000"/>
                  </a:ext>
                </a:extLst>
              </a:tr>
              <a:tr h="320040">
                <a:tc>
                  <a:txBody>
                    <a:bodyPr/>
                    <a:lstStyle/>
                    <a:p>
                      <a:pPr>
                        <a:defRPr sz="1300">
                          <a:solidFill>
                            <a:srgbClr val="1A1A1A"/>
                          </a:solidFill>
                        </a:defRPr>
                      </a:pPr>
                      <a:r>
                        <a:t>Attributed to a sovereign country</a:t>
                      </a:r>
                    </a:p>
                  </a:txBody>
                  <a:tcPr/>
                </a:tc>
                <a:tc>
                  <a:txBody>
                    <a:bodyPr/>
                    <a:lstStyle/>
                    <a:p>
                      <a:pPr>
                        <a:defRPr sz="1300">
                          <a:solidFill>
                            <a:srgbClr val="1A1A1A"/>
                          </a:solidFill>
                        </a:defRPr>
                      </a:pPr>
                      <a:r>
                        <a:t>18,934,645</a:t>
                      </a:r>
                    </a:p>
                  </a:txBody>
                  <a:tcPr/>
                </a:tc>
                <a:tc>
                  <a:txBody>
                    <a:bodyPr/>
                    <a:lstStyle/>
                    <a:p>
                      <a:pPr>
                        <a:defRPr sz="1300">
                          <a:solidFill>
                            <a:srgbClr val="1A1A1A"/>
                          </a:solidFill>
                        </a:defRPr>
                      </a:pPr>
                      <a:r>
                        <a:t>62.5%</a:t>
                      </a:r>
                    </a:p>
                  </a:txBody>
                  <a:tcPr/>
                </a:tc>
                <a:extLst>
                  <a:ext uri="{0D108BD9-81ED-4DB2-BD59-A6C34878D82A}">
                    <a16:rowId xmlns:a16="http://schemas.microsoft.com/office/drawing/2014/main" val="10001"/>
                  </a:ext>
                </a:extLst>
              </a:tr>
              <a:tr h="320040">
                <a:tc>
                  <a:txBody>
                    <a:bodyPr/>
                    <a:lstStyle/>
                    <a:p>
                      <a:pPr>
                        <a:defRPr sz="1300">
                          <a:solidFill>
                            <a:srgbClr val="1A1A1A"/>
                          </a:solidFill>
                        </a:defRPr>
                      </a:pPr>
                      <a:r>
                        <a:t>No country field present</a:t>
                      </a:r>
                    </a:p>
                  </a:txBody>
                  <a:tcPr>
                    <a:solidFill>
                      <a:srgbClr val="F5F8FC"/>
                    </a:solidFill>
                  </a:tcPr>
                </a:tc>
                <a:tc>
                  <a:txBody>
                    <a:bodyPr/>
                    <a:lstStyle/>
                    <a:p>
                      <a:pPr>
                        <a:defRPr sz="1300">
                          <a:solidFill>
                            <a:srgbClr val="1A1A1A"/>
                          </a:solidFill>
                        </a:defRPr>
                      </a:pPr>
                      <a:r>
                        <a:t>7,695,501</a:t>
                      </a:r>
                    </a:p>
                  </a:txBody>
                  <a:tcPr>
                    <a:solidFill>
                      <a:srgbClr val="F5F8FC"/>
                    </a:solidFill>
                  </a:tcPr>
                </a:tc>
                <a:tc>
                  <a:txBody>
                    <a:bodyPr/>
                    <a:lstStyle/>
                    <a:p>
                      <a:pPr>
                        <a:defRPr sz="1300">
                          <a:solidFill>
                            <a:srgbClr val="1A1A1A"/>
                          </a:solidFill>
                        </a:defRPr>
                      </a:pPr>
                      <a:r>
                        <a:t>25.4%</a:t>
                      </a:r>
                    </a:p>
                  </a:txBody>
                  <a:tcPr>
                    <a:solidFill>
                      <a:srgbClr val="F5F8FC"/>
                    </a:solidFill>
                  </a:tcPr>
                </a:tc>
                <a:extLst>
                  <a:ext uri="{0D108BD9-81ED-4DB2-BD59-A6C34878D82A}">
                    <a16:rowId xmlns:a16="http://schemas.microsoft.com/office/drawing/2014/main" val="10002"/>
                  </a:ext>
                </a:extLst>
              </a:tr>
              <a:tr h="320040">
                <a:tc>
                  <a:txBody>
                    <a:bodyPr/>
                    <a:lstStyle/>
                    <a:p>
                      <a:pPr>
                        <a:defRPr sz="1300">
                          <a:solidFill>
                            <a:srgbClr val="1A1A1A"/>
                          </a:solidFill>
                        </a:defRPr>
                      </a:pPr>
                      <a:r>
                        <a:t>Non-country value (oceans, placeholders)</a:t>
                      </a:r>
                    </a:p>
                  </a:txBody>
                  <a:tcPr/>
                </a:tc>
                <a:tc>
                  <a:txBody>
                    <a:bodyPr/>
                    <a:lstStyle/>
                    <a:p>
                      <a:pPr>
                        <a:defRPr sz="1300">
                          <a:solidFill>
                            <a:srgbClr val="1A1A1A"/>
                          </a:solidFill>
                        </a:defRPr>
                      </a:pPr>
                      <a:r>
                        <a:t>3,662,923</a:t>
                      </a:r>
                    </a:p>
                  </a:txBody>
                  <a:tcPr/>
                </a:tc>
                <a:tc>
                  <a:txBody>
                    <a:bodyPr/>
                    <a:lstStyle/>
                    <a:p>
                      <a:pPr>
                        <a:defRPr sz="1300">
                          <a:solidFill>
                            <a:srgbClr val="1A1A1A"/>
                          </a:solidFill>
                        </a:defRPr>
                      </a:pPr>
                      <a:r>
                        <a:t>12.1%</a:t>
                      </a:r>
                    </a:p>
                  </a:txBody>
                  <a:tcPr/>
                </a:tc>
                <a:extLst>
                  <a:ext uri="{0D108BD9-81ED-4DB2-BD59-A6C34878D82A}">
                    <a16:rowId xmlns:a16="http://schemas.microsoft.com/office/drawing/2014/main" val="10003"/>
                  </a:ext>
                </a:extLst>
              </a:tr>
              <a:tr h="320040">
                <a:tc>
                  <a:txBody>
                    <a:bodyPr/>
                    <a:lstStyle/>
                    <a:p>
                      <a:pPr>
                        <a:defRPr sz="1300">
                          <a:solidFill>
                            <a:srgbClr val="1A1A1A"/>
                          </a:solidFill>
                        </a:defRPr>
                      </a:pPr>
                      <a:r>
                        <a:t>Historical (multi-successor states)</a:t>
                      </a:r>
                    </a:p>
                  </a:txBody>
                  <a:tcPr>
                    <a:solidFill>
                      <a:srgbClr val="F5F8FC"/>
                    </a:solidFill>
                  </a:tcPr>
                </a:tc>
                <a:tc>
                  <a:txBody>
                    <a:bodyPr/>
                    <a:lstStyle/>
                    <a:p>
                      <a:pPr>
                        <a:defRPr sz="1300">
                          <a:solidFill>
                            <a:srgbClr val="1A1A1A"/>
                          </a:solidFill>
                        </a:defRPr>
                      </a:pPr>
                      <a:r>
                        <a:t>20,143</a:t>
                      </a:r>
                    </a:p>
                  </a:txBody>
                  <a:tcPr>
                    <a:solidFill>
                      <a:srgbClr val="F5F8FC"/>
                    </a:solidFill>
                  </a:tcPr>
                </a:tc>
                <a:tc>
                  <a:txBody>
                    <a:bodyPr/>
                    <a:lstStyle/>
                    <a:p>
                      <a:pPr>
                        <a:defRPr sz="1300">
                          <a:solidFill>
                            <a:srgbClr val="1A1A1A"/>
                          </a:solidFill>
                        </a:defRPr>
                      </a:pPr>
                      <a:r>
                        <a:t>0.1%</a:t>
                      </a:r>
                    </a:p>
                  </a:txBody>
                  <a:tcPr>
                    <a:solidFill>
                      <a:srgbClr val="F5F8FC"/>
                    </a:solidFill>
                  </a:tcPr>
                </a:tc>
                <a:extLst>
                  <a:ext uri="{0D108BD9-81ED-4DB2-BD59-A6C34878D82A}">
                    <a16:rowId xmlns:a16="http://schemas.microsoft.com/office/drawing/2014/main" val="10004"/>
                  </a:ext>
                </a:extLst>
              </a:tr>
              <a:tr h="320040">
                <a:tc>
                  <a:txBody>
                    <a:bodyPr/>
                    <a:lstStyle/>
                    <a:p>
                      <a:pPr>
                        <a:defRPr sz="1300">
                          <a:solidFill>
                            <a:srgbClr val="1A1A1A"/>
                          </a:solidFill>
                        </a:defRPr>
                      </a:pPr>
                      <a:r>
                        <a:t>Total</a:t>
                      </a:r>
                    </a:p>
                  </a:txBody>
                  <a:tcPr/>
                </a:tc>
                <a:tc>
                  <a:txBody>
                    <a:bodyPr/>
                    <a:lstStyle/>
                    <a:p>
                      <a:pPr>
                        <a:defRPr sz="1300">
                          <a:solidFill>
                            <a:srgbClr val="1A1A1A"/>
                          </a:solidFill>
                        </a:defRPr>
                      </a:pPr>
                      <a:r>
                        <a:t>30,313,212</a:t>
                      </a:r>
                    </a:p>
                  </a:txBody>
                  <a:tcPr/>
                </a:tc>
                <a:tc>
                  <a:txBody>
                    <a:bodyPr/>
                    <a:lstStyle/>
                    <a:p>
                      <a:pPr>
                        <a:defRPr sz="1300">
                          <a:solidFill>
                            <a:srgbClr val="1A1A1A"/>
                          </a:solidFill>
                        </a:defRPr>
                      </a:pPr>
                      <a:r>
                        <a:t>100%</a:t>
                      </a:r>
                    </a:p>
                  </a:txBody>
                  <a:tcPr/>
                </a:tc>
                <a:extLst>
                  <a:ext uri="{0D108BD9-81ED-4DB2-BD59-A6C34878D82A}">
                    <a16:rowId xmlns:a16="http://schemas.microsoft.com/office/drawing/2014/main" val="10005"/>
                  </a:ext>
                </a:extLst>
              </a:tr>
            </a:tbl>
          </a:graphicData>
        </a:graphic>
      </p:graphicFrame>
      <p:sp>
        <p:nvSpPr>
          <p:cNvPr id="5" name="TextBox 4"/>
          <p:cNvSpPr txBox="1"/>
          <p:nvPr/>
        </p:nvSpPr>
        <p:spPr>
          <a:xfrm>
            <a:off x="7955279" y="1554480"/>
            <a:ext cx="3931920" cy="3690049"/>
          </a:xfrm>
          <a:prstGeom prst="rect">
            <a:avLst/>
          </a:prstGeom>
          <a:noFill/>
        </p:spPr>
        <p:txBody>
          <a:bodyPr wrap="square">
            <a:spAutoFit/>
          </a:bodyPr>
          <a:lstStyle/>
          <a:p>
            <a:pPr>
              <a:lnSpc>
                <a:spcPct val="130000"/>
              </a:lnSpc>
              <a:spcBef>
                <a:spcPts val="800"/>
              </a:spcBef>
              <a:defRPr sz="1600" b="0">
                <a:solidFill>
                  <a:srgbClr val="1A1A1A"/>
                </a:solidFill>
              </a:defRPr>
            </a:pPr>
            <a:r>
              <a:rPr dirty="0"/>
              <a:t>37.5 per cent of all records cannot be attributed to any country. This is either because no country was recorded, the recorded value is a placeholder such as </a:t>
            </a:r>
            <a:r>
              <a:rPr lang="en-GB" dirty="0"/>
              <a:t>'</a:t>
            </a:r>
            <a:r>
              <a:rPr dirty="0"/>
              <a:t>missing</a:t>
            </a:r>
            <a:r>
              <a:rPr lang="en-GB" dirty="0"/>
              <a:t>'</a:t>
            </a:r>
            <a:r>
              <a:rPr dirty="0"/>
              <a:t> or </a:t>
            </a:r>
            <a:r>
              <a:rPr lang="en-GB" dirty="0"/>
              <a:t>'</a:t>
            </a:r>
            <a:r>
              <a:rPr dirty="0"/>
              <a:t>NULL</a:t>
            </a:r>
            <a:r>
              <a:rPr lang="en-GB" dirty="0"/>
              <a:t>'</a:t>
            </a:r>
            <a:r>
              <a:rPr dirty="0"/>
              <a:t>, or the value is a geographic feature such as an ocean rather than a political jurisdiction.</a:t>
            </a:r>
          </a:p>
          <a:p>
            <a:pPr>
              <a:lnSpc>
                <a:spcPct val="130000"/>
              </a:lnSpc>
              <a:spcBef>
                <a:spcPts val="800"/>
              </a:spcBef>
              <a:defRPr sz="1600" b="1">
                <a:solidFill>
                  <a:srgbClr val="1F4E79"/>
                </a:solidFill>
              </a:defRPr>
            </a:pPr>
            <a:r>
              <a:rPr lang="en-GB" dirty="0"/>
              <a:t>The implication for using these data as an allocation basis: </a:t>
            </a:r>
            <a:r>
              <a:rPr dirty="0"/>
              <a:t>more than a third of records would be excluded from a country-level formula</a:t>
            </a:r>
            <a:r>
              <a:rPr lang="en-GB" dirty="0"/>
              <a:t>.</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Records without usable country information over time</a:t>
            </a:r>
          </a:p>
          <a:p>
            <a:pPr>
              <a:spcBef>
                <a:spcPts val="400"/>
              </a:spcBef>
              <a:defRPr sz="1600">
                <a:solidFill>
                  <a:srgbClr val="666666"/>
                </a:solidFill>
              </a:defRPr>
            </a:pPr>
            <a:r>
              <a:t>Three measures of missing geographic data, 2018 to 2026</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chart_no_country_trend.png"/>
          <p:cNvPicPr>
            <a:picLocks noChangeAspect="1"/>
          </p:cNvPicPr>
          <p:nvPr/>
        </p:nvPicPr>
        <p:blipFill>
          <a:blip r:embed="rId2"/>
          <a:stretch>
            <a:fillRect/>
          </a:stretch>
        </p:blipFill>
        <p:spPr>
          <a:xfrm>
            <a:off x="731520" y="1463040"/>
            <a:ext cx="7315200" cy="3986415"/>
          </a:xfrm>
          <a:prstGeom prst="rect">
            <a:avLst/>
          </a:prstGeom>
        </p:spPr>
      </p:pic>
      <p:sp>
        <p:nvSpPr>
          <p:cNvPr id="5" name="TextBox 4"/>
          <p:cNvSpPr txBox="1"/>
          <p:nvPr/>
        </p:nvSpPr>
        <p:spPr>
          <a:xfrm>
            <a:off x="8412480" y="1463040"/>
            <a:ext cx="3474720" cy="3440109"/>
          </a:xfrm>
          <a:prstGeom prst="rect">
            <a:avLst/>
          </a:prstGeom>
          <a:noFill/>
        </p:spPr>
        <p:txBody>
          <a:bodyPr wrap="square">
            <a:spAutoFit/>
          </a:bodyPr>
          <a:lstStyle/>
          <a:p>
            <a:pPr>
              <a:lnSpc>
                <a:spcPct val="125000"/>
              </a:lnSpc>
              <a:spcBef>
                <a:spcPts val="600"/>
              </a:spcBef>
              <a:defRPr sz="1600" b="1">
                <a:solidFill>
                  <a:srgbClr val="1F4E79"/>
                </a:solidFill>
              </a:defRPr>
            </a:pPr>
            <a:r>
              <a:rPr dirty="0"/>
              <a:t>What this shows</a:t>
            </a:r>
          </a:p>
          <a:p>
            <a:pPr>
              <a:lnSpc>
                <a:spcPct val="125000"/>
              </a:lnSpc>
              <a:spcBef>
                <a:spcPts val="600"/>
              </a:spcBef>
              <a:defRPr sz="1300" b="0">
                <a:solidFill>
                  <a:srgbClr val="1A1A1A"/>
                </a:solidFill>
              </a:defRPr>
            </a:pPr>
            <a:r>
              <a:rPr dirty="0"/>
              <a:t>Blue line: records with no country field at all, falling from 44.9 per cent to 5.2 per cent.</a:t>
            </a:r>
          </a:p>
          <a:p>
            <a:pPr>
              <a:lnSpc>
                <a:spcPct val="125000"/>
              </a:lnSpc>
              <a:spcBef>
                <a:spcPts val="600"/>
              </a:spcBef>
              <a:defRPr sz="1300" b="0">
                <a:solidFill>
                  <a:srgbClr val="E15759"/>
                </a:solidFill>
              </a:defRPr>
            </a:pPr>
            <a:r>
              <a:rPr dirty="0"/>
              <a:t>Red line: records where the field exists but contains the placeholder value “missing”, rising from 3.2 per cent to 17.3 per cent.</a:t>
            </a:r>
          </a:p>
          <a:p>
            <a:pPr>
              <a:lnSpc>
                <a:spcPct val="125000"/>
              </a:lnSpc>
              <a:spcBef>
                <a:spcPts val="600"/>
              </a:spcBef>
              <a:defRPr sz="1300" b="0">
                <a:solidFill>
                  <a:srgbClr val="59A14F"/>
                </a:solidFill>
              </a:defRPr>
            </a:pPr>
            <a:r>
              <a:rPr dirty="0"/>
              <a:t>Green line: the combined total with no usable country, falling from 48.1 per cent to 22.5 per cent.</a:t>
            </a:r>
          </a:p>
          <a:p>
            <a:pPr>
              <a:lnSpc>
                <a:spcPct val="125000"/>
              </a:lnSpc>
              <a:spcBef>
                <a:spcPts val="600"/>
              </a:spcBef>
              <a:defRPr sz="1300" b="1">
                <a:solidFill>
                  <a:srgbClr val="B07AA1"/>
                </a:solidFill>
              </a:defRPr>
            </a:pPr>
            <a:r>
              <a:rPr dirty="0"/>
              <a:t>The</a:t>
            </a:r>
            <a:r>
              <a:rPr lang="en-GB" dirty="0"/>
              <a:t> country</a:t>
            </a:r>
            <a:r>
              <a:rPr dirty="0"/>
              <a:t> field became compulsory, so submitters now include it. But many put “missing” as the value.</a:t>
            </a:r>
          </a:p>
        </p:txBody>
      </p:sp>
      <p:sp>
        <p:nvSpPr>
          <p:cNvPr id="6" name="TextBox 5"/>
          <p:cNvSpPr txBox="1"/>
          <p:nvPr/>
        </p:nvSpPr>
        <p:spPr>
          <a:xfrm>
            <a:off x="731520" y="6400800"/>
            <a:ext cx="10515600" cy="365760"/>
          </a:xfrm>
          <a:prstGeom prst="rect">
            <a:avLst/>
          </a:prstGeom>
          <a:noFill/>
        </p:spPr>
        <p:txBody>
          <a:bodyPr wrap="none">
            <a:spAutoFit/>
          </a:bodyPr>
          <a:lstStyle/>
          <a:p>
            <a:pPr>
              <a:defRPr sz="1100" i="1">
                <a:solidFill>
                  <a:srgbClr val="999999"/>
                </a:solidFill>
              </a:defRPr>
            </a:pPr>
            <a:r>
              <a:t>Source: ENA Portal API, 13 October 2026. *2026 covers January to October only. Percentages are calculated against total records first published in each year.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The substitution effect</a:t>
            </a:r>
          </a:p>
          <a:p>
            <a:pPr>
              <a:spcBef>
                <a:spcPts val="400"/>
              </a:spcBef>
              <a:defRPr sz="1600">
                <a:solidFill>
                  <a:srgbClr val="666666"/>
                </a:solidFill>
              </a:defRPr>
            </a:pPr>
            <a:r>
              <a:t>Making the field compulsory reduced absences but created placeholders</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554480"/>
            <a:ext cx="10515600" cy="4846320"/>
          </a:xfrm>
          <a:prstGeom prst="rect">
            <a:avLst/>
          </a:prstGeom>
          <a:noFill/>
        </p:spPr>
        <p:txBody>
          <a:bodyPr wrap="square">
            <a:spAutoFit/>
          </a:bodyPr>
          <a:lstStyle/>
          <a:p>
            <a:pPr>
              <a:lnSpc>
                <a:spcPct val="130000"/>
              </a:lnSpc>
              <a:spcBef>
                <a:spcPts val="800"/>
              </a:spcBef>
              <a:defRPr sz="1700" b="0">
                <a:solidFill>
                  <a:srgbClr val="1A1A1A"/>
                </a:solidFill>
              </a:defRPr>
            </a:pPr>
            <a:r>
              <a:rPr dirty="0"/>
              <a:t>The country field is now compulsory in ENA submissions. This has worked: the share of records with no country field at all fell from 44.9 per cent in 2018 to 5.2 per cent in 2026.</a:t>
            </a:r>
          </a:p>
          <a:p>
            <a:pPr>
              <a:lnSpc>
                <a:spcPct val="130000"/>
              </a:lnSpc>
              <a:spcBef>
                <a:spcPts val="800"/>
              </a:spcBef>
              <a:defRPr sz="1700" b="0">
                <a:solidFill>
                  <a:srgbClr val="1A1A1A"/>
                </a:solidFill>
              </a:defRPr>
            </a:pPr>
            <a:r>
              <a:rPr dirty="0"/>
              <a:t>However, a new problem has emerged in its place. The share of records where the field is present but contains the value “missing” rose from 3.2 per cent in 2018 to 17.3 per cent in 2026. The surge began in 2023, coinciding with the introduction of the mandatory requirement.</a:t>
            </a:r>
          </a:p>
          <a:p>
            <a:pPr>
              <a:lnSpc>
                <a:spcPct val="130000"/>
              </a:lnSpc>
              <a:spcBef>
                <a:spcPts val="800"/>
              </a:spcBef>
              <a:defRPr sz="1600" b="0">
                <a:solidFill>
                  <a:srgbClr val="1A1A1A"/>
                </a:solidFill>
              </a:defRPr>
            </a:pPr>
            <a:r>
              <a:rPr dirty="0"/>
              <a:t>INSDC does provide a structured missing-value reporting framework: submitters who genuinely cannot provide a country should use “missing: ” followed by a specific reason, such as “missing: lab stock” for model organisms, “missing: restricted access” for endangered species, or “missing: not collected”. Some “missing” records are therefore legitimate.</a:t>
            </a:r>
          </a:p>
          <a:p>
            <a:pPr>
              <a:lnSpc>
                <a:spcPct val="130000"/>
              </a:lnSpc>
              <a:spcBef>
                <a:spcPts val="800"/>
              </a:spcBef>
              <a:defRPr sz="1600" b="0">
                <a:solidFill>
                  <a:srgbClr val="666666"/>
                </a:solidFill>
              </a:defRPr>
            </a:pPr>
            <a:r>
              <a:rPr dirty="0"/>
              <a:t>However, many submitters use bare “missing” without a reason, or “</a:t>
            </a:r>
            <a:r>
              <a:rPr dirty="0" err="1"/>
              <a:t>missing:missing</a:t>
            </a:r>
            <a:r>
              <a:rPr dirty="0"/>
              <a:t>”, both of which are non-compliant. Without granular reporting, we cannot distinguish legitimate omissions from compliance-without-substance.</a:t>
            </a:r>
          </a:p>
          <a:p>
            <a:pPr>
              <a:lnSpc>
                <a:spcPct val="130000"/>
              </a:lnSpc>
              <a:spcBef>
                <a:spcPts val="800"/>
              </a:spcBef>
              <a:defRPr sz="1700" b="1">
                <a:solidFill>
                  <a:srgbClr val="1F4E79"/>
                </a:solidFill>
              </a:defRPr>
            </a:pPr>
            <a:r>
              <a:rPr dirty="0"/>
              <a:t>Implication for allocation: any formula based on country-level counts must decide how to handle the 22.5 per cent of recent records with no usable country. The inability to distinguish legitimate from non-compliant omissions makes this harder.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Controlled vocabulary in theory, free text in practice</a:t>
            </a:r>
          </a:p>
          <a:p>
            <a:pPr>
              <a:spcBef>
                <a:spcPts val="400"/>
              </a:spcBef>
              <a:defRPr sz="1600">
                <a:solidFill>
                  <a:srgbClr val="666666"/>
                </a:solidFill>
              </a:defRPr>
            </a:pPr>
            <a:r>
              <a:t>The country field specification is not adequately enforced</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503680"/>
            <a:ext cx="10515600" cy="5138138"/>
          </a:xfrm>
          <a:prstGeom prst="rect">
            <a:avLst/>
          </a:prstGeom>
          <a:noFill/>
        </p:spPr>
        <p:txBody>
          <a:bodyPr wrap="square">
            <a:spAutoFit/>
          </a:bodyPr>
          <a:lstStyle/>
          <a:p>
            <a:pPr>
              <a:lnSpc>
                <a:spcPct val="130000"/>
              </a:lnSpc>
              <a:spcBef>
                <a:spcPts val="800"/>
              </a:spcBef>
              <a:defRPr sz="1600" b="0">
                <a:solidFill>
                  <a:srgbClr val="1A1A1A"/>
                </a:solidFill>
              </a:defRPr>
            </a:pPr>
            <a:r>
              <a:rPr dirty="0"/>
              <a:t>The INSDC specification defines the country field (</a:t>
            </a:r>
            <a:r>
              <a:rPr dirty="0" err="1"/>
              <a:t>geo_loc_name</a:t>
            </a:r>
            <a:r>
              <a:rPr dirty="0"/>
              <a:t>) as a controlled vocabulary. The country portion must be one of approximately 296 approved values, with an optional free-text region and locality after a colon, for example “</a:t>
            </a:r>
            <a:r>
              <a:rPr dirty="0" err="1"/>
              <a:t>Canada:Vancouver</a:t>
            </a:r>
            <a:r>
              <a:rPr dirty="0"/>
              <a:t>”.</a:t>
            </a:r>
          </a:p>
          <a:p>
            <a:pPr>
              <a:lnSpc>
                <a:spcPct val="130000"/>
              </a:lnSpc>
              <a:spcBef>
                <a:spcPts val="800"/>
              </a:spcBef>
              <a:defRPr sz="1600" b="1">
                <a:solidFill>
                  <a:srgbClr val="1A1A1A"/>
                </a:solidFill>
              </a:defRPr>
            </a:pPr>
            <a:r>
              <a:rPr dirty="0"/>
              <a:t>In practice, enforcement is weak:</a:t>
            </a:r>
          </a:p>
          <a:p>
            <a:pPr lvl="1">
              <a:lnSpc>
                <a:spcPct val="130000"/>
              </a:lnSpc>
              <a:spcBef>
                <a:spcPts val="400"/>
              </a:spcBef>
              <a:defRPr sz="1500" b="0">
                <a:solidFill>
                  <a:srgbClr val="666666"/>
                </a:solidFill>
              </a:defRPr>
            </a:pPr>
            <a:r>
              <a:rPr dirty="0"/>
              <a:t>82 non-vocabulary country values were found in the database, including alternative names (“UK” instead of “United Kingdom”), misspellings (“Columbia” instead of “Colombia”), and locality names entered without a country prefix.</a:t>
            </a:r>
          </a:p>
          <a:p>
            <a:pPr lvl="1">
              <a:lnSpc>
                <a:spcPct val="130000"/>
              </a:lnSpc>
              <a:spcBef>
                <a:spcPts val="400"/>
              </a:spcBef>
              <a:defRPr sz="1500" b="0">
                <a:solidFill>
                  <a:srgbClr val="666666"/>
                </a:solidFill>
              </a:defRPr>
            </a:pPr>
            <a:r>
              <a:rPr dirty="0"/>
              <a:t>The value “missing” is an approved INSDC term, but the specification requires it to be used with a reporting-level reason (e.g., “missing: lab stock”). Many submitters use bare “missing” or the invalid “</a:t>
            </a:r>
            <a:r>
              <a:rPr dirty="0" err="1"/>
              <a:t>missing:missing</a:t>
            </a:r>
            <a:r>
              <a:rPr dirty="0"/>
              <a:t>”, both non-compliant.</a:t>
            </a:r>
          </a:p>
          <a:p>
            <a:pPr lvl="1">
              <a:lnSpc>
                <a:spcPct val="130000"/>
              </a:lnSpc>
              <a:spcBef>
                <a:spcPts val="400"/>
              </a:spcBef>
              <a:defRPr sz="1500" b="0">
                <a:solidFill>
                  <a:srgbClr val="666666"/>
                </a:solidFill>
              </a:defRPr>
            </a:pPr>
            <a:r>
              <a:rPr dirty="0"/>
              <a:t>5.2 per cent of 2026 records have no country field at all, despite the field being compulsory since 202</a:t>
            </a:r>
            <a:r>
              <a:rPr lang="en-GB" dirty="0"/>
              <a:t>4</a:t>
            </a:r>
            <a:r>
              <a:rPr dirty="0"/>
              <a:t>.</a:t>
            </a:r>
          </a:p>
          <a:p>
            <a:pPr lvl="1">
              <a:lnSpc>
                <a:spcPct val="130000"/>
              </a:lnSpc>
              <a:spcBef>
                <a:spcPts val="400"/>
              </a:spcBef>
              <a:defRPr sz="1500" b="0">
                <a:solidFill>
                  <a:srgbClr val="666666"/>
                </a:solidFill>
              </a:defRPr>
            </a:pPr>
            <a:r>
              <a:rPr dirty="0"/>
              <a:t>The free-text region and locality portion causes token-matching collisions, for example “USA: New Mexico” matching a query for “Mexico”.</a:t>
            </a:r>
          </a:p>
          <a:p>
            <a:pPr>
              <a:lnSpc>
                <a:spcPct val="130000"/>
              </a:lnSpc>
              <a:spcBef>
                <a:spcPts val="800"/>
              </a:spcBef>
              <a:defRPr sz="1600" b="1">
                <a:solidFill>
                  <a:srgbClr val="1F4E79"/>
                </a:solidFill>
              </a:defRPr>
            </a:pPr>
            <a:r>
              <a:rPr dirty="0"/>
              <a:t>Recommendation: </a:t>
            </a:r>
            <a:r>
              <a:rPr lang="en-GB" dirty="0"/>
              <a:t>enforce </a:t>
            </a:r>
            <a:r>
              <a:rPr dirty="0"/>
              <a:t>both the controlled vocabulary for country names and the missing-value reporting format at submission time, rejecting records where the country portion is not from the approved list and where “missing” is used without a valid reporting-level term. This would improve data quality for all downstream uses, including any future allocation methodology under the Cali Fund.</a:t>
            </a:r>
          </a:p>
        </p:txBody>
      </p:sp>
      <p:sp>
        <p:nvSpPr>
          <p:cNvPr id="5" name="TextBox 4"/>
          <p:cNvSpPr txBox="1"/>
          <p:nvPr/>
        </p:nvSpPr>
        <p:spPr>
          <a:xfrm>
            <a:off x="731520" y="6400800"/>
            <a:ext cx="10515600" cy="365760"/>
          </a:xfrm>
          <a:prstGeom prst="rect">
            <a:avLst/>
          </a:prstGeom>
          <a:noFill/>
        </p:spPr>
        <p:txBody>
          <a:bodyPr wrap="none">
            <a:spAutoFit/>
          </a:bodyPr>
          <a:lstStyle/>
          <a:p>
            <a:pPr>
              <a:defRPr sz="1100" i="1">
                <a:solidFill>
                  <a:srgbClr val="999999"/>
                </a:solidFill>
              </a:defRPr>
            </a:pPr>
            <a:r>
              <a:t>Source: INSDC geo_loc_name qualifier specification and INSDC missing value reporting terms (insdc.org), ENA Portal API verification (13 October 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All-time sequence records by country</a:t>
            </a:r>
          </a:p>
          <a:p>
            <a:pPr>
              <a:spcBef>
                <a:spcPts val="400"/>
              </a:spcBef>
              <a:defRPr sz="1600">
                <a:solidFill>
                  <a:srgbClr val="666666"/>
                </a:solidFill>
              </a:defRPr>
            </a:pPr>
            <a:r>
              <a:t>Total non-human records attributed to each country, all years combined</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heatmap_all_time.png"/>
          <p:cNvPicPr>
            <a:picLocks noChangeAspect="1"/>
          </p:cNvPicPr>
          <p:nvPr/>
        </p:nvPicPr>
        <p:blipFill>
          <a:blip r:embed="rId2"/>
          <a:stretch>
            <a:fillRect/>
          </a:stretch>
        </p:blipFill>
        <p:spPr>
          <a:xfrm>
            <a:off x="1371600" y="1463040"/>
            <a:ext cx="9418320" cy="4709160"/>
          </a:xfrm>
          <a:prstGeom prst="rect">
            <a:avLst/>
          </a:prstGeom>
        </p:spPr>
      </p:pic>
      <p:sp>
        <p:nvSpPr>
          <p:cNvPr id="5" name="TextBox 4"/>
          <p:cNvSpPr txBox="1"/>
          <p:nvPr/>
        </p:nvSpPr>
        <p:spPr>
          <a:xfrm>
            <a:off x="2149503" y="6061353"/>
            <a:ext cx="6700873" cy="430887"/>
          </a:xfrm>
          <a:prstGeom prst="rect">
            <a:avLst/>
          </a:prstGeom>
          <a:noFill/>
        </p:spPr>
        <p:txBody>
          <a:bodyPr wrap="none">
            <a:spAutoFit/>
          </a:bodyPr>
          <a:lstStyle/>
          <a:p>
            <a:pPr>
              <a:defRPr sz="1100" i="1">
                <a:solidFill>
                  <a:srgbClr val="999999"/>
                </a:solidFill>
              </a:defRPr>
            </a:pPr>
            <a:r>
              <a:rPr dirty="0" err="1"/>
              <a:t>Colour</a:t>
            </a:r>
            <a:r>
              <a:rPr dirty="0"/>
              <a:t> scale is logarithmic: dark blue indicates the fewest records (around 2), white indicates approximately 4,000 </a:t>
            </a:r>
            <a:endParaRPr lang="en-GB" dirty="0"/>
          </a:p>
          <a:p>
            <a:pPr>
              <a:defRPr sz="1100" i="1">
                <a:solidFill>
                  <a:srgbClr val="999999"/>
                </a:solidFill>
              </a:defRPr>
            </a:pPr>
            <a:r>
              <a:rPr dirty="0"/>
              <a:t>records (the median country), and dark red indicates the most records (over 4 million).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Sequence records since 2023 by country</a:t>
            </a:r>
          </a:p>
          <a:p>
            <a:pPr>
              <a:spcBef>
                <a:spcPts val="400"/>
              </a:spcBef>
              <a:defRPr sz="1600">
                <a:solidFill>
                  <a:srgbClr val="666666"/>
                </a:solidFill>
              </a:defRPr>
            </a:pPr>
            <a:r>
              <a:t>Records with a first public release date in 2024, 2025, or 2026 (January to October)</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heatmap_post_2023.png"/>
          <p:cNvPicPr>
            <a:picLocks noChangeAspect="1"/>
          </p:cNvPicPr>
          <p:nvPr/>
        </p:nvPicPr>
        <p:blipFill>
          <a:blip r:embed="rId2"/>
          <a:stretch>
            <a:fillRect/>
          </a:stretch>
        </p:blipFill>
        <p:spPr>
          <a:xfrm>
            <a:off x="1371600" y="1463040"/>
            <a:ext cx="9418320" cy="4709160"/>
          </a:xfrm>
          <a:prstGeom prst="rect">
            <a:avLst/>
          </a:prstGeom>
        </p:spPr>
      </p:pic>
      <p:sp>
        <p:nvSpPr>
          <p:cNvPr id="5" name="TextBox 4"/>
          <p:cNvSpPr txBox="1"/>
          <p:nvPr/>
        </p:nvSpPr>
        <p:spPr>
          <a:xfrm>
            <a:off x="3103659" y="6088390"/>
            <a:ext cx="5109091" cy="261610"/>
          </a:xfrm>
          <a:prstGeom prst="rect">
            <a:avLst/>
          </a:prstGeom>
          <a:noFill/>
        </p:spPr>
        <p:txBody>
          <a:bodyPr wrap="none">
            <a:spAutoFit/>
          </a:bodyPr>
          <a:lstStyle/>
          <a:p>
            <a:pPr>
              <a:defRPr sz="1100" i="1">
                <a:solidFill>
                  <a:srgbClr val="999999"/>
                </a:solidFill>
              </a:defRPr>
            </a:pPr>
            <a:r>
              <a:rPr dirty="0"/>
              <a:t>Same</a:t>
            </a:r>
            <a:r>
              <a:rPr lang="en-GB" dirty="0"/>
              <a:t> logarithmic </a:t>
            </a:r>
            <a:r>
              <a:rPr dirty="0"/>
              <a:t> </a:t>
            </a:r>
            <a:r>
              <a:rPr dirty="0" err="1"/>
              <a:t>colour</a:t>
            </a:r>
            <a:r>
              <a:rPr dirty="0"/>
              <a:t> scale as the all-time map above, allowing direct</a:t>
            </a:r>
            <a:r>
              <a:rPr lang="en-GB" dirty="0"/>
              <a:t> comparison. </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Developed versus developing countries</a:t>
            </a:r>
          </a:p>
          <a:p>
            <a:pPr>
              <a:spcBef>
                <a:spcPts val="400"/>
              </a:spcBef>
              <a:defRPr sz="1600">
                <a:solidFill>
                  <a:srgbClr val="666666"/>
                </a:solidFill>
              </a:defRPr>
            </a:pPr>
            <a:r>
              <a:t>The gap is narrowing, but from a very high level</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554480"/>
          <a:ext cx="5943600" cy="1920240"/>
        </p:xfrm>
        <a:graphic>
          <a:graphicData uri="http://schemas.openxmlformats.org/drawingml/2006/table">
            <a:tbl>
              <a:tblPr firstRow="1" bandRow="1">
                <a:tableStyleId>{5C22544A-7EE6-4342-B048-85BDC9FD1C3A}</a:tableStyleId>
              </a:tblPr>
              <a:tblGrid>
                <a:gridCol w="148590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gridCol w="1485900">
                  <a:extLst>
                    <a:ext uri="{9D8B030D-6E8A-4147-A177-3AD203B41FA5}">
                      <a16:colId xmlns:a16="http://schemas.microsoft.com/office/drawing/2014/main" val="20003"/>
                    </a:ext>
                  </a:extLst>
                </a:gridCol>
              </a:tblGrid>
              <a:tr h="320040">
                <a:tc>
                  <a:txBody>
                    <a:bodyPr/>
                    <a:lstStyle/>
                    <a:p>
                      <a:pPr>
                        <a:defRPr sz="1400" b="1">
                          <a:solidFill>
                            <a:srgbClr val="FFFFFF"/>
                          </a:solidFill>
                        </a:defRPr>
                      </a:pPr>
                      <a:r>
                        <a:t>Year</a:t>
                      </a:r>
                    </a:p>
                  </a:txBody>
                  <a:tcPr>
                    <a:solidFill>
                      <a:srgbClr val="1F4E79"/>
                    </a:solidFill>
                  </a:tcPr>
                </a:tc>
                <a:tc>
                  <a:txBody>
                    <a:bodyPr/>
                    <a:lstStyle/>
                    <a:p>
                      <a:pPr>
                        <a:defRPr sz="1400" b="1">
                          <a:solidFill>
                            <a:srgbClr val="FFFFFF"/>
                          </a:solidFill>
                        </a:defRPr>
                      </a:pPr>
                      <a:r>
                        <a:t>Developed</a:t>
                      </a:r>
                    </a:p>
                  </a:txBody>
                  <a:tcPr>
                    <a:solidFill>
                      <a:srgbClr val="1F4E79"/>
                    </a:solidFill>
                  </a:tcPr>
                </a:tc>
                <a:tc>
                  <a:txBody>
                    <a:bodyPr/>
                    <a:lstStyle/>
                    <a:p>
                      <a:pPr>
                        <a:defRPr sz="1400" b="1">
                          <a:solidFill>
                            <a:srgbClr val="FFFFFF"/>
                          </a:solidFill>
                        </a:defRPr>
                      </a:pPr>
                      <a:r>
                        <a:t>Developing</a:t>
                      </a:r>
                    </a:p>
                  </a:txBody>
                  <a:tcPr>
                    <a:solidFill>
                      <a:srgbClr val="1F4E79"/>
                    </a:solidFill>
                  </a:tcPr>
                </a:tc>
                <a:tc>
                  <a:txBody>
                    <a:bodyPr/>
                    <a:lstStyle/>
                    <a:p>
                      <a:pPr>
                        <a:defRPr sz="1400" b="1">
                          <a:solidFill>
                            <a:srgbClr val="FFFFFF"/>
                          </a:solidFill>
                        </a:defRPr>
                      </a:pPr>
                      <a:r>
                        <a:t>Developed share</a:t>
                      </a:r>
                    </a:p>
                  </a:txBody>
                  <a:tcPr>
                    <a:solidFill>
                      <a:srgbClr val="1F4E79"/>
                    </a:solidFill>
                  </a:tcPr>
                </a:tc>
                <a:extLst>
                  <a:ext uri="{0D108BD9-81ED-4DB2-BD59-A6C34878D82A}">
                    <a16:rowId xmlns:a16="http://schemas.microsoft.com/office/drawing/2014/main" val="10000"/>
                  </a:ext>
                </a:extLst>
              </a:tr>
              <a:tr h="320040">
                <a:tc>
                  <a:txBody>
                    <a:bodyPr/>
                    <a:lstStyle/>
                    <a:p>
                      <a:pPr>
                        <a:defRPr sz="1300">
                          <a:solidFill>
                            <a:srgbClr val="1A1A1A"/>
                          </a:solidFill>
                        </a:defRPr>
                      </a:pPr>
                      <a:r>
                        <a:t>2018</a:t>
                      </a:r>
                    </a:p>
                  </a:txBody>
                  <a:tcPr/>
                </a:tc>
                <a:tc>
                  <a:txBody>
                    <a:bodyPr/>
                    <a:lstStyle/>
                    <a:p>
                      <a:pPr>
                        <a:defRPr sz="1300">
                          <a:solidFill>
                            <a:srgbClr val="1A1A1A"/>
                          </a:solidFill>
                        </a:defRPr>
                      </a:pPr>
                      <a:r>
                        <a:t>384,484</a:t>
                      </a:r>
                    </a:p>
                  </a:txBody>
                  <a:tcPr/>
                </a:tc>
                <a:tc>
                  <a:txBody>
                    <a:bodyPr/>
                    <a:lstStyle/>
                    <a:p>
                      <a:pPr>
                        <a:defRPr sz="1300">
                          <a:solidFill>
                            <a:srgbClr val="1A1A1A"/>
                          </a:solidFill>
                        </a:defRPr>
                      </a:pPr>
                      <a:r>
                        <a:t>133,652</a:t>
                      </a:r>
                    </a:p>
                  </a:txBody>
                  <a:tcPr/>
                </a:tc>
                <a:tc>
                  <a:txBody>
                    <a:bodyPr/>
                    <a:lstStyle/>
                    <a:p>
                      <a:pPr>
                        <a:defRPr sz="1300">
                          <a:solidFill>
                            <a:srgbClr val="1A1A1A"/>
                          </a:solidFill>
                        </a:defRPr>
                      </a:pPr>
                      <a:r>
                        <a:t>74.2%</a:t>
                      </a:r>
                    </a:p>
                  </a:txBody>
                  <a:tcPr/>
                </a:tc>
                <a:extLst>
                  <a:ext uri="{0D108BD9-81ED-4DB2-BD59-A6C34878D82A}">
                    <a16:rowId xmlns:a16="http://schemas.microsoft.com/office/drawing/2014/main" val="10001"/>
                  </a:ext>
                </a:extLst>
              </a:tr>
              <a:tr h="320040">
                <a:tc>
                  <a:txBody>
                    <a:bodyPr/>
                    <a:lstStyle/>
                    <a:p>
                      <a:pPr>
                        <a:defRPr sz="1300">
                          <a:solidFill>
                            <a:srgbClr val="1A1A1A"/>
                          </a:solidFill>
                        </a:defRPr>
                      </a:pPr>
                      <a:r>
                        <a:t>2020</a:t>
                      </a:r>
                    </a:p>
                  </a:txBody>
                  <a:tcPr>
                    <a:solidFill>
                      <a:srgbClr val="F5F8FC"/>
                    </a:solidFill>
                  </a:tcPr>
                </a:tc>
                <a:tc>
                  <a:txBody>
                    <a:bodyPr/>
                    <a:lstStyle/>
                    <a:p>
                      <a:pPr>
                        <a:defRPr sz="1300">
                          <a:solidFill>
                            <a:srgbClr val="1A1A1A"/>
                          </a:solidFill>
                        </a:defRPr>
                      </a:pPr>
                      <a:r>
                        <a:t>774,188</a:t>
                      </a:r>
                    </a:p>
                  </a:txBody>
                  <a:tcPr>
                    <a:solidFill>
                      <a:srgbClr val="F5F8FC"/>
                    </a:solidFill>
                  </a:tcPr>
                </a:tc>
                <a:tc>
                  <a:txBody>
                    <a:bodyPr/>
                    <a:lstStyle/>
                    <a:p>
                      <a:pPr>
                        <a:defRPr sz="1300">
                          <a:solidFill>
                            <a:srgbClr val="1A1A1A"/>
                          </a:solidFill>
                        </a:defRPr>
                      </a:pPr>
                      <a:r>
                        <a:t>331,632</a:t>
                      </a:r>
                    </a:p>
                  </a:txBody>
                  <a:tcPr>
                    <a:solidFill>
                      <a:srgbClr val="F5F8FC"/>
                    </a:solidFill>
                  </a:tcPr>
                </a:tc>
                <a:tc>
                  <a:txBody>
                    <a:bodyPr/>
                    <a:lstStyle/>
                    <a:p>
                      <a:pPr>
                        <a:defRPr sz="1300">
                          <a:solidFill>
                            <a:srgbClr val="1A1A1A"/>
                          </a:solidFill>
                        </a:defRPr>
                      </a:pPr>
                      <a:r>
                        <a:t>70.0%</a:t>
                      </a:r>
                    </a:p>
                  </a:txBody>
                  <a:tcPr>
                    <a:solidFill>
                      <a:srgbClr val="F5F8FC"/>
                    </a:solidFill>
                  </a:tcPr>
                </a:tc>
                <a:extLst>
                  <a:ext uri="{0D108BD9-81ED-4DB2-BD59-A6C34878D82A}">
                    <a16:rowId xmlns:a16="http://schemas.microsoft.com/office/drawing/2014/main" val="10002"/>
                  </a:ext>
                </a:extLst>
              </a:tr>
              <a:tr h="320040">
                <a:tc>
                  <a:txBody>
                    <a:bodyPr/>
                    <a:lstStyle/>
                    <a:p>
                      <a:pPr>
                        <a:defRPr sz="1300">
                          <a:solidFill>
                            <a:srgbClr val="1A1A1A"/>
                          </a:solidFill>
                        </a:defRPr>
                      </a:pPr>
                      <a:r>
                        <a:t>2021</a:t>
                      </a:r>
                    </a:p>
                  </a:txBody>
                  <a:tcPr/>
                </a:tc>
                <a:tc>
                  <a:txBody>
                    <a:bodyPr/>
                    <a:lstStyle/>
                    <a:p>
                      <a:pPr>
                        <a:defRPr sz="1300">
                          <a:solidFill>
                            <a:srgbClr val="1A1A1A"/>
                          </a:solidFill>
                        </a:defRPr>
                      </a:pPr>
                      <a:r>
                        <a:t>2,272,486</a:t>
                      </a:r>
                    </a:p>
                  </a:txBody>
                  <a:tcPr/>
                </a:tc>
                <a:tc>
                  <a:txBody>
                    <a:bodyPr/>
                    <a:lstStyle/>
                    <a:p>
                      <a:pPr>
                        <a:defRPr sz="1300">
                          <a:solidFill>
                            <a:srgbClr val="1A1A1A"/>
                          </a:solidFill>
                        </a:defRPr>
                      </a:pPr>
                      <a:r>
                        <a:t>454,492</a:t>
                      </a:r>
                    </a:p>
                  </a:txBody>
                  <a:tcPr/>
                </a:tc>
                <a:tc>
                  <a:txBody>
                    <a:bodyPr/>
                    <a:lstStyle/>
                    <a:p>
                      <a:pPr>
                        <a:defRPr sz="1300">
                          <a:solidFill>
                            <a:srgbClr val="1A1A1A"/>
                          </a:solidFill>
                        </a:defRPr>
                      </a:pPr>
                      <a:r>
                        <a:t>83.3%</a:t>
                      </a:r>
                    </a:p>
                  </a:txBody>
                  <a:tcPr/>
                </a:tc>
                <a:extLst>
                  <a:ext uri="{0D108BD9-81ED-4DB2-BD59-A6C34878D82A}">
                    <a16:rowId xmlns:a16="http://schemas.microsoft.com/office/drawing/2014/main" val="10003"/>
                  </a:ext>
                </a:extLst>
              </a:tr>
              <a:tr h="320040">
                <a:tc>
                  <a:txBody>
                    <a:bodyPr/>
                    <a:lstStyle/>
                    <a:p>
                      <a:pPr>
                        <a:defRPr sz="1300">
                          <a:solidFill>
                            <a:srgbClr val="1A1A1A"/>
                          </a:solidFill>
                        </a:defRPr>
                      </a:pPr>
                      <a:r>
                        <a:t>2024</a:t>
                      </a:r>
                    </a:p>
                  </a:txBody>
                  <a:tcPr>
                    <a:solidFill>
                      <a:srgbClr val="F5F8FC"/>
                    </a:solidFill>
                  </a:tcPr>
                </a:tc>
                <a:tc>
                  <a:txBody>
                    <a:bodyPr/>
                    <a:lstStyle/>
                    <a:p>
                      <a:pPr>
                        <a:defRPr sz="1300">
                          <a:solidFill>
                            <a:srgbClr val="1A1A1A"/>
                          </a:solidFill>
                        </a:defRPr>
                      </a:pPr>
                      <a:r>
                        <a:t>998,971</a:t>
                      </a:r>
                    </a:p>
                  </a:txBody>
                  <a:tcPr>
                    <a:solidFill>
                      <a:srgbClr val="F5F8FC"/>
                    </a:solidFill>
                  </a:tcPr>
                </a:tc>
                <a:tc>
                  <a:txBody>
                    <a:bodyPr/>
                    <a:lstStyle/>
                    <a:p>
                      <a:pPr>
                        <a:defRPr sz="1300">
                          <a:solidFill>
                            <a:srgbClr val="1A1A1A"/>
                          </a:solidFill>
                        </a:defRPr>
                      </a:pPr>
                      <a:r>
                        <a:t>723,822</a:t>
                      </a:r>
                    </a:p>
                  </a:txBody>
                  <a:tcPr>
                    <a:solidFill>
                      <a:srgbClr val="F5F8FC"/>
                    </a:solidFill>
                  </a:tcPr>
                </a:tc>
                <a:tc>
                  <a:txBody>
                    <a:bodyPr/>
                    <a:lstStyle/>
                    <a:p>
                      <a:pPr>
                        <a:defRPr sz="1300">
                          <a:solidFill>
                            <a:srgbClr val="1A1A1A"/>
                          </a:solidFill>
                        </a:defRPr>
                      </a:pPr>
                      <a:r>
                        <a:t>58.0%</a:t>
                      </a:r>
                    </a:p>
                  </a:txBody>
                  <a:tcPr>
                    <a:solidFill>
                      <a:srgbClr val="F5F8FC"/>
                    </a:solidFill>
                  </a:tcPr>
                </a:tc>
                <a:extLst>
                  <a:ext uri="{0D108BD9-81ED-4DB2-BD59-A6C34878D82A}">
                    <a16:rowId xmlns:a16="http://schemas.microsoft.com/office/drawing/2014/main" val="10004"/>
                  </a:ext>
                </a:extLst>
              </a:tr>
              <a:tr h="320040">
                <a:tc>
                  <a:txBody>
                    <a:bodyPr/>
                    <a:lstStyle/>
                    <a:p>
                      <a:pPr>
                        <a:defRPr sz="1300">
                          <a:solidFill>
                            <a:srgbClr val="1A1A1A"/>
                          </a:solidFill>
                        </a:defRPr>
                      </a:pPr>
                      <a:r>
                        <a:t>2026 (Jan-Oct)</a:t>
                      </a:r>
                    </a:p>
                  </a:txBody>
                  <a:tcPr/>
                </a:tc>
                <a:tc>
                  <a:txBody>
                    <a:bodyPr/>
                    <a:lstStyle/>
                    <a:p>
                      <a:pPr>
                        <a:defRPr sz="1300">
                          <a:solidFill>
                            <a:srgbClr val="1A1A1A"/>
                          </a:solidFill>
                        </a:defRPr>
                      </a:pPr>
                      <a:r>
                        <a:t>561,709</a:t>
                      </a:r>
                    </a:p>
                  </a:txBody>
                  <a:tcPr/>
                </a:tc>
                <a:tc>
                  <a:txBody>
                    <a:bodyPr/>
                    <a:lstStyle/>
                    <a:p>
                      <a:pPr>
                        <a:defRPr sz="1300">
                          <a:solidFill>
                            <a:srgbClr val="1A1A1A"/>
                          </a:solidFill>
                        </a:defRPr>
                      </a:pPr>
                      <a:r>
                        <a:t>540,012</a:t>
                      </a:r>
                    </a:p>
                  </a:txBody>
                  <a:tcPr/>
                </a:tc>
                <a:tc>
                  <a:txBody>
                    <a:bodyPr/>
                    <a:lstStyle/>
                    <a:p>
                      <a:pPr>
                        <a:defRPr sz="1300">
                          <a:solidFill>
                            <a:srgbClr val="1A1A1A"/>
                          </a:solidFill>
                        </a:defRPr>
                      </a:pPr>
                      <a:r>
                        <a:t>51.0%</a:t>
                      </a:r>
                    </a:p>
                  </a:txBody>
                  <a:tcPr/>
                </a:tc>
                <a:extLst>
                  <a:ext uri="{0D108BD9-81ED-4DB2-BD59-A6C34878D82A}">
                    <a16:rowId xmlns:a16="http://schemas.microsoft.com/office/drawing/2014/main" val="10005"/>
                  </a:ext>
                </a:extLst>
              </a:tr>
            </a:tbl>
          </a:graphicData>
        </a:graphic>
      </p:graphicFrame>
      <p:sp>
        <p:nvSpPr>
          <p:cNvPr id="5" name="TextBox 4"/>
          <p:cNvSpPr txBox="1"/>
          <p:nvPr/>
        </p:nvSpPr>
        <p:spPr>
          <a:xfrm>
            <a:off x="7040880" y="1554480"/>
            <a:ext cx="4846320" cy="4572000"/>
          </a:xfrm>
          <a:prstGeom prst="rect">
            <a:avLst/>
          </a:prstGeom>
          <a:noFill/>
        </p:spPr>
        <p:txBody>
          <a:bodyPr wrap="square">
            <a:spAutoFit/>
          </a:bodyPr>
          <a:lstStyle/>
          <a:p>
            <a:pPr>
              <a:lnSpc>
                <a:spcPct val="130000"/>
              </a:lnSpc>
              <a:spcBef>
                <a:spcPts val="800"/>
              </a:spcBef>
              <a:defRPr sz="1600" b="1">
                <a:solidFill>
                  <a:srgbClr val="1A1A1A"/>
                </a:solidFill>
              </a:defRPr>
            </a:pPr>
            <a:r>
              <a:rPr dirty="0"/>
              <a:t>Overall, developed countries hold 70.5 per cent of all country-attributed records and developing countries hold 29.5 per cent.</a:t>
            </a:r>
          </a:p>
          <a:p>
            <a:pPr>
              <a:lnSpc>
                <a:spcPct val="130000"/>
              </a:lnSpc>
              <a:spcBef>
                <a:spcPts val="800"/>
              </a:spcBef>
              <a:defRPr sz="1600" b="0">
                <a:solidFill>
                  <a:srgbClr val="1A1A1A"/>
                </a:solidFill>
              </a:defRPr>
            </a:pPr>
            <a:r>
              <a:rPr dirty="0"/>
              <a:t>The developed-country share fell from 74.2 per cent in 2018 to 51.0 per cent in the first ten months of 2026. This is a genuine shift, but it is not smooth.</a:t>
            </a:r>
          </a:p>
          <a:p>
            <a:pPr>
              <a:lnSpc>
                <a:spcPct val="130000"/>
              </a:lnSpc>
              <a:spcBef>
                <a:spcPts val="800"/>
              </a:spcBef>
              <a:defRPr sz="1600" b="0">
                <a:solidFill>
                  <a:srgbClr val="1A1A1A"/>
                </a:solidFill>
              </a:defRPr>
            </a:pPr>
            <a:r>
              <a:rPr dirty="0"/>
              <a:t>The 2021 surge to 83.3 per cent was caused </a:t>
            </a:r>
            <a:r>
              <a:rPr lang="en-GB" dirty="0"/>
              <a:t>in part </a:t>
            </a:r>
            <a:r>
              <a:rPr dirty="0"/>
              <a:t>by COVID-19 genomic surveillance, particularly the COG-UK consortium in the United Kingdom.</a:t>
            </a:r>
          </a:p>
          <a:p>
            <a:pPr>
              <a:lnSpc>
                <a:spcPct val="130000"/>
              </a:lnSpc>
              <a:spcBef>
                <a:spcPts val="800"/>
              </a:spcBef>
              <a:defRPr sz="1600" b="0">
                <a:solidFill>
                  <a:srgbClr val="1A1A1A"/>
                </a:solidFill>
              </a:defRPr>
            </a:pPr>
            <a:r>
              <a:rPr dirty="0"/>
              <a:t>The convergence visible in 2026 is driven primarily by rapid growth in China and a handful of other upper middle income countries, not by broad-based gains across the developing world.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Trends over time by income group</a:t>
            </a:r>
          </a:p>
          <a:p>
            <a:pPr>
              <a:spcBef>
                <a:spcPts val="400"/>
              </a:spcBef>
              <a:defRPr sz="1600">
                <a:solidFill>
                  <a:srgbClr val="666666"/>
                </a:solidFill>
              </a:defRPr>
            </a:pPr>
            <a:r>
              <a:t>Annual record counts by World Bank income classification, 2018 to 2026</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chart_income_trends.png"/>
          <p:cNvPicPr>
            <a:picLocks noChangeAspect="1"/>
          </p:cNvPicPr>
          <p:nvPr/>
        </p:nvPicPr>
        <p:blipFill>
          <a:blip r:embed="rId2"/>
          <a:stretch>
            <a:fillRect/>
          </a:stretch>
        </p:blipFill>
        <p:spPr>
          <a:xfrm>
            <a:off x="731520" y="1463040"/>
            <a:ext cx="7315200" cy="3947494"/>
          </a:xfrm>
          <a:prstGeom prst="rect">
            <a:avLst/>
          </a:prstGeom>
        </p:spPr>
      </p:pic>
      <p:sp>
        <p:nvSpPr>
          <p:cNvPr id="5" name="TextBox 4"/>
          <p:cNvSpPr txBox="1"/>
          <p:nvPr/>
        </p:nvSpPr>
        <p:spPr>
          <a:xfrm>
            <a:off x="8412480" y="1463040"/>
            <a:ext cx="3474720" cy="3573286"/>
          </a:xfrm>
          <a:prstGeom prst="rect">
            <a:avLst/>
          </a:prstGeom>
          <a:noFill/>
        </p:spPr>
        <p:txBody>
          <a:bodyPr wrap="square">
            <a:spAutoFit/>
          </a:bodyPr>
          <a:lstStyle/>
          <a:p>
            <a:pPr>
              <a:lnSpc>
                <a:spcPct val="125000"/>
              </a:lnSpc>
              <a:spcBef>
                <a:spcPts val="600"/>
              </a:spcBef>
              <a:defRPr sz="1600" b="1">
                <a:solidFill>
                  <a:srgbClr val="1F4E79"/>
                </a:solidFill>
              </a:defRPr>
            </a:pPr>
            <a:r>
              <a:rPr dirty="0"/>
              <a:t>What this shows</a:t>
            </a:r>
          </a:p>
          <a:p>
            <a:pPr>
              <a:lnSpc>
                <a:spcPct val="125000"/>
              </a:lnSpc>
              <a:spcBef>
                <a:spcPts val="600"/>
              </a:spcBef>
              <a:defRPr sz="1400" b="0">
                <a:solidFill>
                  <a:srgbClr val="1A1A1A"/>
                </a:solidFill>
              </a:defRPr>
            </a:pPr>
            <a:r>
              <a:rPr dirty="0"/>
              <a:t>High-income countries (blue) dominate throughout, but their annual output peaked in 2021 during the COVID-19 surge and has since declined sharply.</a:t>
            </a:r>
          </a:p>
          <a:p>
            <a:pPr>
              <a:lnSpc>
                <a:spcPct val="125000"/>
              </a:lnSpc>
              <a:spcBef>
                <a:spcPts val="600"/>
              </a:spcBef>
              <a:defRPr sz="1400" b="0">
                <a:solidFill>
                  <a:srgbClr val="1A1A1A"/>
                </a:solidFill>
              </a:defRPr>
            </a:pPr>
            <a:r>
              <a:rPr dirty="0"/>
              <a:t>Upper middle income countries (green), have grown steadily and are now approaching parity with high-income countries.</a:t>
            </a:r>
          </a:p>
          <a:p>
            <a:pPr>
              <a:lnSpc>
                <a:spcPct val="125000"/>
              </a:lnSpc>
              <a:spcBef>
                <a:spcPts val="600"/>
              </a:spcBef>
              <a:defRPr sz="1400" b="0">
                <a:solidFill>
                  <a:srgbClr val="1A1A1A"/>
                </a:solidFill>
              </a:defRPr>
            </a:pPr>
            <a:r>
              <a:rPr dirty="0"/>
              <a:t>Lower middle income and low-income countries (orange and red) remain far behind, together accounting for only 5 per cent of annual records.</a:t>
            </a:r>
          </a:p>
        </p:txBody>
      </p:sp>
      <p:sp>
        <p:nvSpPr>
          <p:cNvPr id="6" name="TextBox 5"/>
          <p:cNvSpPr txBox="1"/>
          <p:nvPr/>
        </p:nvSpPr>
        <p:spPr>
          <a:xfrm>
            <a:off x="731520" y="6400800"/>
            <a:ext cx="10515600" cy="365760"/>
          </a:xfrm>
          <a:prstGeom prst="rect">
            <a:avLst/>
          </a:prstGeom>
          <a:noFill/>
        </p:spPr>
        <p:txBody>
          <a:bodyPr wrap="none">
            <a:spAutoFit/>
          </a:bodyPr>
          <a:lstStyle/>
          <a:p>
            <a:pPr>
              <a:defRPr sz="1100" i="1">
                <a:solidFill>
                  <a:srgbClr val="999999"/>
                </a:solidFill>
              </a:defRPr>
            </a:pPr>
            <a:r>
              <a:t>Source: ENA Portal API, 13 October 2026. *2026 covers January to October only.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Income group trends excluding high income</a:t>
            </a:r>
          </a:p>
          <a:p>
            <a:pPr>
              <a:spcBef>
                <a:spcPts val="400"/>
              </a:spcBef>
              <a:defRPr sz="1600">
                <a:solidFill>
                  <a:srgbClr val="666666"/>
                </a:solidFill>
              </a:defRPr>
            </a:pPr>
            <a:r>
              <a:t>Annual record counts for upper middle, lower middle, and low income countries, 2018 to 2026</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chart_income_excl_high.png"/>
          <p:cNvPicPr>
            <a:picLocks noChangeAspect="1"/>
          </p:cNvPicPr>
          <p:nvPr/>
        </p:nvPicPr>
        <p:blipFill>
          <a:blip r:embed="rId2"/>
          <a:stretch>
            <a:fillRect/>
          </a:stretch>
        </p:blipFill>
        <p:spPr>
          <a:xfrm>
            <a:off x="731520" y="1463040"/>
            <a:ext cx="7315200" cy="3949159"/>
          </a:xfrm>
          <a:prstGeom prst="rect">
            <a:avLst/>
          </a:prstGeom>
        </p:spPr>
      </p:pic>
      <p:sp>
        <p:nvSpPr>
          <p:cNvPr id="5" name="TextBox 4"/>
          <p:cNvSpPr txBox="1"/>
          <p:nvPr/>
        </p:nvSpPr>
        <p:spPr>
          <a:xfrm>
            <a:off x="8412480" y="1463040"/>
            <a:ext cx="3474720" cy="4188839"/>
          </a:xfrm>
          <a:prstGeom prst="rect">
            <a:avLst/>
          </a:prstGeom>
          <a:noFill/>
        </p:spPr>
        <p:txBody>
          <a:bodyPr wrap="square">
            <a:spAutoFit/>
          </a:bodyPr>
          <a:lstStyle/>
          <a:p>
            <a:pPr>
              <a:lnSpc>
                <a:spcPct val="125000"/>
              </a:lnSpc>
              <a:spcBef>
                <a:spcPts val="600"/>
              </a:spcBef>
              <a:defRPr sz="1600" b="1">
                <a:solidFill>
                  <a:srgbClr val="1F4E79"/>
                </a:solidFill>
              </a:defRPr>
            </a:pPr>
            <a:r>
              <a:rPr dirty="0"/>
              <a:t>What this shows</a:t>
            </a:r>
          </a:p>
          <a:p>
            <a:pPr>
              <a:lnSpc>
                <a:spcPct val="125000"/>
              </a:lnSpc>
              <a:spcBef>
                <a:spcPts val="600"/>
              </a:spcBef>
              <a:defRPr sz="1400" b="0">
                <a:solidFill>
                  <a:srgbClr val="1A1A1A"/>
                </a:solidFill>
              </a:defRPr>
            </a:pPr>
            <a:r>
              <a:rPr dirty="0"/>
              <a:t>With high-income countries removed, the scale differences between the remaining three groups become visible.</a:t>
            </a:r>
          </a:p>
          <a:p>
            <a:pPr>
              <a:lnSpc>
                <a:spcPct val="125000"/>
              </a:lnSpc>
              <a:spcBef>
                <a:spcPts val="600"/>
              </a:spcBef>
              <a:defRPr sz="1400" b="0">
                <a:solidFill>
                  <a:srgbClr val="1A1A1A"/>
                </a:solidFill>
              </a:defRPr>
            </a:pPr>
            <a:r>
              <a:rPr dirty="0"/>
              <a:t>Upper middle income countries (green) dominate this view, reaching over 700,000 records per year by 2025</a:t>
            </a:r>
            <a:r>
              <a:rPr lang="en-GB" dirty="0"/>
              <a:t>.</a:t>
            </a:r>
          </a:p>
          <a:p>
            <a:pPr>
              <a:lnSpc>
                <a:spcPct val="125000"/>
              </a:lnSpc>
              <a:spcBef>
                <a:spcPts val="600"/>
              </a:spcBef>
              <a:defRPr sz="1400" b="0">
                <a:solidFill>
                  <a:srgbClr val="1A1A1A"/>
                </a:solidFill>
              </a:defRPr>
            </a:pPr>
            <a:r>
              <a:rPr dirty="0"/>
              <a:t>Lower middle income countries (orange) peaked in 2022 at 124,000 records</a:t>
            </a:r>
            <a:r>
              <a:rPr lang="en-GB" dirty="0"/>
              <a:t>, </a:t>
            </a:r>
            <a:r>
              <a:rPr dirty="0"/>
              <a:t>then fell back.</a:t>
            </a:r>
          </a:p>
          <a:p>
            <a:pPr>
              <a:lnSpc>
                <a:spcPct val="125000"/>
              </a:lnSpc>
              <a:spcBef>
                <a:spcPts val="600"/>
              </a:spcBef>
              <a:defRPr sz="1400" b="1">
                <a:solidFill>
                  <a:srgbClr val="E15759"/>
                </a:solidFill>
              </a:defRPr>
            </a:pPr>
            <a:r>
              <a:rPr dirty="0"/>
              <a:t>Low-income countries (red) remain below 25,000 records per year throughout. The gap between upper middle and low income is roughly 30-fold.</a:t>
            </a:r>
          </a:p>
        </p:txBody>
      </p:sp>
      <p:sp>
        <p:nvSpPr>
          <p:cNvPr id="6" name="TextBox 5"/>
          <p:cNvSpPr txBox="1"/>
          <p:nvPr/>
        </p:nvSpPr>
        <p:spPr>
          <a:xfrm>
            <a:off x="731520" y="6400800"/>
            <a:ext cx="10515600" cy="365760"/>
          </a:xfrm>
          <a:prstGeom prst="rect">
            <a:avLst/>
          </a:prstGeom>
          <a:noFill/>
        </p:spPr>
        <p:txBody>
          <a:bodyPr wrap="none">
            <a:spAutoFit/>
          </a:bodyPr>
          <a:lstStyle/>
          <a:p>
            <a:pPr>
              <a:defRPr sz="1100" i="1">
                <a:solidFill>
                  <a:srgbClr val="999999"/>
                </a:solidFill>
              </a:defRPr>
            </a:pPr>
            <a:r>
              <a:t>Source: ENA Portal API, 13 October 2026. *2026 covers January to October only. High-income countries excluded to show scale differences among the remaining groups.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Income group distribution</a:t>
            </a:r>
          </a:p>
          <a:p>
            <a:pPr>
              <a:spcBef>
                <a:spcPts val="400"/>
              </a:spcBef>
              <a:defRPr sz="1600">
                <a:solidFill>
                  <a:srgbClr val="666666"/>
                </a:solidFill>
              </a:defRPr>
            </a:pPr>
            <a:r>
              <a:t>Concentration at the top, scarcity at the bottom</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554480"/>
          <a:ext cx="5943600" cy="1935480"/>
        </p:xfrm>
        <a:graphic>
          <a:graphicData uri="http://schemas.openxmlformats.org/drawingml/2006/table">
            <a:tbl>
              <a:tblPr firstRow="1" bandRow="1">
                <a:tableStyleId>{5C22544A-7EE6-4342-B048-85BDC9FD1C3A}</a:tableStyleId>
              </a:tblPr>
              <a:tblGrid>
                <a:gridCol w="148590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gridCol w="1485900">
                  <a:extLst>
                    <a:ext uri="{9D8B030D-6E8A-4147-A177-3AD203B41FA5}">
                      <a16:colId xmlns:a16="http://schemas.microsoft.com/office/drawing/2014/main" val="20003"/>
                    </a:ext>
                  </a:extLst>
                </a:gridCol>
              </a:tblGrid>
              <a:tr h="320040">
                <a:tc>
                  <a:txBody>
                    <a:bodyPr/>
                    <a:lstStyle/>
                    <a:p>
                      <a:pPr>
                        <a:defRPr sz="1400" b="1">
                          <a:solidFill>
                            <a:srgbClr val="FFFFFF"/>
                          </a:solidFill>
                        </a:defRPr>
                      </a:pPr>
                      <a:r>
                        <a:t>Income group</a:t>
                      </a:r>
                    </a:p>
                  </a:txBody>
                  <a:tcPr>
                    <a:solidFill>
                      <a:srgbClr val="1F4E79"/>
                    </a:solidFill>
                  </a:tcPr>
                </a:tc>
                <a:tc>
                  <a:txBody>
                    <a:bodyPr/>
                    <a:lstStyle/>
                    <a:p>
                      <a:pPr>
                        <a:defRPr sz="1400" b="1">
                          <a:solidFill>
                            <a:srgbClr val="FFFFFF"/>
                          </a:solidFill>
                        </a:defRPr>
                      </a:pPr>
                      <a:r>
                        <a:t>Countries</a:t>
                      </a:r>
                    </a:p>
                  </a:txBody>
                  <a:tcPr>
                    <a:solidFill>
                      <a:srgbClr val="1F4E79"/>
                    </a:solidFill>
                  </a:tcPr>
                </a:tc>
                <a:tc>
                  <a:txBody>
                    <a:bodyPr/>
                    <a:lstStyle/>
                    <a:p>
                      <a:pPr>
                        <a:defRPr sz="1400" b="1">
                          <a:solidFill>
                            <a:srgbClr val="FFFFFF"/>
                          </a:solidFill>
                        </a:defRPr>
                      </a:pPr>
                      <a:r>
                        <a:t>Records</a:t>
                      </a:r>
                    </a:p>
                  </a:txBody>
                  <a:tcPr>
                    <a:solidFill>
                      <a:srgbClr val="1F4E79"/>
                    </a:solidFill>
                  </a:tcPr>
                </a:tc>
                <a:tc>
                  <a:txBody>
                    <a:bodyPr/>
                    <a:lstStyle/>
                    <a:p>
                      <a:pPr>
                        <a:defRPr sz="1400" b="1">
                          <a:solidFill>
                            <a:srgbClr val="FFFFFF"/>
                          </a:solidFill>
                        </a:defRPr>
                      </a:pPr>
                      <a:r>
                        <a:t>Share</a:t>
                      </a:r>
                    </a:p>
                  </a:txBody>
                  <a:tcPr>
                    <a:solidFill>
                      <a:srgbClr val="1F4E79"/>
                    </a:solidFill>
                  </a:tcPr>
                </a:tc>
                <a:extLst>
                  <a:ext uri="{0D108BD9-81ED-4DB2-BD59-A6C34878D82A}">
                    <a16:rowId xmlns:a16="http://schemas.microsoft.com/office/drawing/2014/main" val="10000"/>
                  </a:ext>
                </a:extLst>
              </a:tr>
              <a:tr h="320040">
                <a:tc>
                  <a:txBody>
                    <a:bodyPr/>
                    <a:lstStyle/>
                    <a:p>
                      <a:pPr>
                        <a:defRPr sz="1300">
                          <a:solidFill>
                            <a:srgbClr val="1A1A1A"/>
                          </a:solidFill>
                        </a:defRPr>
                      </a:pPr>
                      <a:r>
                        <a:t>High income</a:t>
                      </a:r>
                    </a:p>
                  </a:txBody>
                  <a:tcPr/>
                </a:tc>
                <a:tc>
                  <a:txBody>
                    <a:bodyPr/>
                    <a:lstStyle/>
                    <a:p>
                      <a:pPr>
                        <a:defRPr sz="1300">
                          <a:solidFill>
                            <a:srgbClr val="1A1A1A"/>
                          </a:solidFill>
                        </a:defRPr>
                      </a:pPr>
                      <a:r>
                        <a:t>82</a:t>
                      </a:r>
                    </a:p>
                  </a:txBody>
                  <a:tcPr/>
                </a:tc>
                <a:tc>
                  <a:txBody>
                    <a:bodyPr/>
                    <a:lstStyle/>
                    <a:p>
                      <a:pPr>
                        <a:defRPr sz="1300">
                          <a:solidFill>
                            <a:srgbClr val="1A1A1A"/>
                          </a:solidFill>
                        </a:defRPr>
                      </a:pPr>
                      <a:r>
                        <a:t>13,806,686</a:t>
                      </a:r>
                    </a:p>
                  </a:txBody>
                  <a:tcPr/>
                </a:tc>
                <a:tc>
                  <a:txBody>
                    <a:bodyPr/>
                    <a:lstStyle/>
                    <a:p>
                      <a:pPr>
                        <a:defRPr sz="1300">
                          <a:solidFill>
                            <a:srgbClr val="1A1A1A"/>
                          </a:solidFill>
                        </a:defRPr>
                      </a:pPr>
                      <a:r>
                        <a:t>72.7%</a:t>
                      </a:r>
                    </a:p>
                  </a:txBody>
                  <a:tcPr/>
                </a:tc>
                <a:extLst>
                  <a:ext uri="{0D108BD9-81ED-4DB2-BD59-A6C34878D82A}">
                    <a16:rowId xmlns:a16="http://schemas.microsoft.com/office/drawing/2014/main" val="10001"/>
                  </a:ext>
                </a:extLst>
              </a:tr>
              <a:tr h="320040">
                <a:tc>
                  <a:txBody>
                    <a:bodyPr/>
                    <a:lstStyle/>
                    <a:p>
                      <a:pPr>
                        <a:defRPr sz="1300">
                          <a:solidFill>
                            <a:srgbClr val="1A1A1A"/>
                          </a:solidFill>
                        </a:defRPr>
                      </a:pPr>
                      <a:r>
                        <a:t>Upper middle income</a:t>
                      </a:r>
                    </a:p>
                  </a:txBody>
                  <a:tcPr>
                    <a:solidFill>
                      <a:srgbClr val="F5F8FC"/>
                    </a:solidFill>
                  </a:tcPr>
                </a:tc>
                <a:tc>
                  <a:txBody>
                    <a:bodyPr/>
                    <a:lstStyle/>
                    <a:p>
                      <a:pPr>
                        <a:defRPr sz="1300">
                          <a:solidFill>
                            <a:srgbClr val="1A1A1A"/>
                          </a:solidFill>
                        </a:defRPr>
                      </a:pPr>
                      <a:r>
                        <a:t>54</a:t>
                      </a:r>
                    </a:p>
                  </a:txBody>
                  <a:tcPr>
                    <a:solidFill>
                      <a:srgbClr val="F5F8FC"/>
                    </a:solidFill>
                  </a:tcPr>
                </a:tc>
                <a:tc>
                  <a:txBody>
                    <a:bodyPr/>
                    <a:lstStyle/>
                    <a:p>
                      <a:pPr>
                        <a:defRPr sz="1300">
                          <a:solidFill>
                            <a:srgbClr val="1A1A1A"/>
                          </a:solidFill>
                        </a:defRPr>
                      </a:pPr>
                      <a:r>
                        <a:t>4,163,957</a:t>
                      </a:r>
                    </a:p>
                  </a:txBody>
                  <a:tcPr>
                    <a:solidFill>
                      <a:srgbClr val="F5F8FC"/>
                    </a:solidFill>
                  </a:tcPr>
                </a:tc>
                <a:tc>
                  <a:txBody>
                    <a:bodyPr/>
                    <a:lstStyle/>
                    <a:p>
                      <a:pPr>
                        <a:defRPr sz="1300">
                          <a:solidFill>
                            <a:srgbClr val="1A1A1A"/>
                          </a:solidFill>
                        </a:defRPr>
                      </a:pPr>
                      <a:r>
                        <a:t>21.9%</a:t>
                      </a:r>
                    </a:p>
                  </a:txBody>
                  <a:tcPr>
                    <a:solidFill>
                      <a:srgbClr val="F5F8FC"/>
                    </a:solidFill>
                  </a:tcPr>
                </a:tc>
                <a:extLst>
                  <a:ext uri="{0D108BD9-81ED-4DB2-BD59-A6C34878D82A}">
                    <a16:rowId xmlns:a16="http://schemas.microsoft.com/office/drawing/2014/main" val="10002"/>
                  </a:ext>
                </a:extLst>
              </a:tr>
              <a:tr h="320040">
                <a:tc>
                  <a:txBody>
                    <a:bodyPr/>
                    <a:lstStyle/>
                    <a:p>
                      <a:pPr>
                        <a:defRPr sz="1300">
                          <a:solidFill>
                            <a:srgbClr val="1A1A1A"/>
                          </a:solidFill>
                        </a:defRPr>
                      </a:pPr>
                      <a:r>
                        <a:t>Lower middle income</a:t>
                      </a:r>
                    </a:p>
                  </a:txBody>
                  <a:tcPr/>
                </a:tc>
                <a:tc>
                  <a:txBody>
                    <a:bodyPr/>
                    <a:lstStyle/>
                    <a:p>
                      <a:pPr>
                        <a:defRPr sz="1300">
                          <a:solidFill>
                            <a:srgbClr val="1A1A1A"/>
                          </a:solidFill>
                        </a:defRPr>
                      </a:pPr>
                      <a:r>
                        <a:t>52</a:t>
                      </a:r>
                    </a:p>
                  </a:txBody>
                  <a:tcPr/>
                </a:tc>
                <a:tc>
                  <a:txBody>
                    <a:bodyPr/>
                    <a:lstStyle/>
                    <a:p>
                      <a:pPr>
                        <a:defRPr sz="1300">
                          <a:solidFill>
                            <a:srgbClr val="1A1A1A"/>
                          </a:solidFill>
                        </a:defRPr>
                      </a:pPr>
                      <a:r>
                        <a:t>684,992</a:t>
                      </a:r>
                    </a:p>
                  </a:txBody>
                  <a:tcPr/>
                </a:tc>
                <a:tc>
                  <a:txBody>
                    <a:bodyPr/>
                    <a:lstStyle/>
                    <a:p>
                      <a:pPr>
                        <a:defRPr sz="1300">
                          <a:solidFill>
                            <a:srgbClr val="1A1A1A"/>
                          </a:solidFill>
                        </a:defRPr>
                      </a:pPr>
                      <a:r>
                        <a:t>3.6%</a:t>
                      </a:r>
                    </a:p>
                  </a:txBody>
                  <a:tcPr/>
                </a:tc>
                <a:extLst>
                  <a:ext uri="{0D108BD9-81ED-4DB2-BD59-A6C34878D82A}">
                    <a16:rowId xmlns:a16="http://schemas.microsoft.com/office/drawing/2014/main" val="10003"/>
                  </a:ext>
                </a:extLst>
              </a:tr>
              <a:tr h="320040">
                <a:tc>
                  <a:txBody>
                    <a:bodyPr/>
                    <a:lstStyle/>
                    <a:p>
                      <a:pPr>
                        <a:defRPr sz="1300">
                          <a:solidFill>
                            <a:srgbClr val="1A1A1A"/>
                          </a:solidFill>
                        </a:defRPr>
                      </a:pPr>
                      <a:r>
                        <a:t>Low income</a:t>
                      </a:r>
                    </a:p>
                  </a:txBody>
                  <a:tcPr>
                    <a:solidFill>
                      <a:srgbClr val="F5F8FC"/>
                    </a:solidFill>
                  </a:tcPr>
                </a:tc>
                <a:tc>
                  <a:txBody>
                    <a:bodyPr/>
                    <a:lstStyle/>
                    <a:p>
                      <a:pPr>
                        <a:defRPr sz="1300">
                          <a:solidFill>
                            <a:srgbClr val="1A1A1A"/>
                          </a:solidFill>
                        </a:defRPr>
                      </a:pPr>
                      <a:r>
                        <a:t>26</a:t>
                      </a:r>
                    </a:p>
                  </a:txBody>
                  <a:tcPr>
                    <a:solidFill>
                      <a:srgbClr val="F5F8FC"/>
                    </a:solidFill>
                  </a:tcPr>
                </a:tc>
                <a:tc>
                  <a:txBody>
                    <a:bodyPr/>
                    <a:lstStyle/>
                    <a:p>
                      <a:pPr>
                        <a:defRPr sz="1300">
                          <a:solidFill>
                            <a:srgbClr val="1A1A1A"/>
                          </a:solidFill>
                        </a:defRPr>
                      </a:pPr>
                      <a:r>
                        <a:t>261,334</a:t>
                      </a:r>
                    </a:p>
                  </a:txBody>
                  <a:tcPr>
                    <a:solidFill>
                      <a:srgbClr val="F5F8FC"/>
                    </a:solidFill>
                  </a:tcPr>
                </a:tc>
                <a:tc>
                  <a:txBody>
                    <a:bodyPr/>
                    <a:lstStyle/>
                    <a:p>
                      <a:pPr>
                        <a:defRPr sz="1300">
                          <a:solidFill>
                            <a:srgbClr val="1A1A1A"/>
                          </a:solidFill>
                        </a:defRPr>
                      </a:pPr>
                      <a:r>
                        <a:t>1.4%</a:t>
                      </a:r>
                    </a:p>
                  </a:txBody>
                  <a:tcPr>
                    <a:solidFill>
                      <a:srgbClr val="F5F8FC"/>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7040880" y="1554480"/>
            <a:ext cx="4846320" cy="3690049"/>
          </a:xfrm>
          <a:prstGeom prst="rect">
            <a:avLst/>
          </a:prstGeom>
          <a:noFill/>
        </p:spPr>
        <p:txBody>
          <a:bodyPr wrap="square">
            <a:spAutoFit/>
          </a:bodyPr>
          <a:lstStyle/>
          <a:p>
            <a:pPr>
              <a:lnSpc>
                <a:spcPct val="130000"/>
              </a:lnSpc>
              <a:spcBef>
                <a:spcPts val="800"/>
              </a:spcBef>
              <a:defRPr sz="1600" b="0">
                <a:solidFill>
                  <a:srgbClr val="1A1A1A"/>
                </a:solidFill>
              </a:defRPr>
            </a:pPr>
            <a:r>
              <a:rPr dirty="0"/>
              <a:t>High-income countries hold nearly three-quarters of all records. Upper middle income countries, led by China, hold just under a quarter. Lower middle income and low-income countries together account for only 5.0 per cent, despite containing 78 countries between them.</a:t>
            </a:r>
          </a:p>
          <a:p>
            <a:pPr>
              <a:lnSpc>
                <a:spcPct val="130000"/>
              </a:lnSpc>
              <a:spcBef>
                <a:spcPts val="800"/>
              </a:spcBef>
              <a:defRPr sz="1600" b="0">
                <a:solidFill>
                  <a:srgbClr val="1A1A1A"/>
                </a:solidFill>
              </a:defRPr>
            </a:pPr>
            <a:r>
              <a:rPr dirty="0"/>
              <a:t>Comparing 2021-2023 with 2024-2026, upper middle income countries grew by 43 per cent on an </a:t>
            </a:r>
            <a:r>
              <a:rPr dirty="0" err="1"/>
              <a:t>annualised</a:t>
            </a:r>
            <a:r>
              <a:rPr dirty="0"/>
              <a:t> basis, while high-income countries declined by 55 per cent. This is the strongest evidence of a structural shift, though the decline </a:t>
            </a:r>
            <a:r>
              <a:rPr lang="en-GB" dirty="0"/>
              <a:t>may</a:t>
            </a:r>
            <a:r>
              <a:rPr dirty="0"/>
              <a:t> partly</a:t>
            </a:r>
            <a:r>
              <a:rPr lang="en-GB" dirty="0"/>
              <a:t> be</a:t>
            </a:r>
            <a:r>
              <a:rPr dirty="0"/>
              <a:t> the natural end of the COVID-19 surge.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Annual share of records by income group</a:t>
            </a:r>
          </a:p>
          <a:p>
            <a:pPr>
              <a:spcBef>
                <a:spcPts val="400"/>
              </a:spcBef>
              <a:defRPr sz="1600">
                <a:solidFill>
                  <a:srgbClr val="666666"/>
                </a:solidFill>
              </a:defRPr>
            </a:pPr>
            <a:r>
              <a:t>Percentage of each year’s total records, by World Bank income classification</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554480"/>
          <a:ext cx="10515600" cy="320040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tblGrid>
              <a:tr h="320040">
                <a:tc>
                  <a:txBody>
                    <a:bodyPr/>
                    <a:lstStyle/>
                    <a:p>
                      <a:pPr>
                        <a:defRPr sz="1400" b="1">
                          <a:solidFill>
                            <a:srgbClr val="FFFFFF"/>
                          </a:solidFill>
                        </a:defRPr>
                      </a:pPr>
                      <a:r>
                        <a:t>Year</a:t>
                      </a:r>
                    </a:p>
                  </a:txBody>
                  <a:tcPr>
                    <a:solidFill>
                      <a:srgbClr val="1F4E79"/>
                    </a:solidFill>
                  </a:tcPr>
                </a:tc>
                <a:tc>
                  <a:txBody>
                    <a:bodyPr/>
                    <a:lstStyle/>
                    <a:p>
                      <a:pPr>
                        <a:defRPr sz="1400" b="1">
                          <a:solidFill>
                            <a:srgbClr val="FFFFFF"/>
                          </a:solidFill>
                        </a:defRPr>
                      </a:pPr>
                      <a:r>
                        <a:t>High income</a:t>
                      </a:r>
                    </a:p>
                  </a:txBody>
                  <a:tcPr>
                    <a:solidFill>
                      <a:srgbClr val="1F4E79"/>
                    </a:solidFill>
                  </a:tcPr>
                </a:tc>
                <a:tc>
                  <a:txBody>
                    <a:bodyPr/>
                    <a:lstStyle/>
                    <a:p>
                      <a:pPr>
                        <a:defRPr sz="1400" b="1">
                          <a:solidFill>
                            <a:srgbClr val="FFFFFF"/>
                          </a:solidFill>
                        </a:defRPr>
                      </a:pPr>
                      <a:r>
                        <a:t>Upper middle</a:t>
                      </a:r>
                    </a:p>
                  </a:txBody>
                  <a:tcPr>
                    <a:solidFill>
                      <a:srgbClr val="1F4E79"/>
                    </a:solidFill>
                  </a:tcPr>
                </a:tc>
                <a:tc>
                  <a:txBody>
                    <a:bodyPr/>
                    <a:lstStyle/>
                    <a:p>
                      <a:pPr>
                        <a:defRPr sz="1400" b="1">
                          <a:solidFill>
                            <a:srgbClr val="FFFFFF"/>
                          </a:solidFill>
                        </a:defRPr>
                      </a:pPr>
                      <a:r>
                        <a:t>Lower middle</a:t>
                      </a:r>
                    </a:p>
                  </a:txBody>
                  <a:tcPr>
                    <a:solidFill>
                      <a:srgbClr val="1F4E79"/>
                    </a:solidFill>
                  </a:tcPr>
                </a:tc>
                <a:tc>
                  <a:txBody>
                    <a:bodyPr/>
                    <a:lstStyle/>
                    <a:p>
                      <a:pPr>
                        <a:defRPr sz="1400" b="1">
                          <a:solidFill>
                            <a:srgbClr val="FFFFFF"/>
                          </a:solidFill>
                        </a:defRPr>
                      </a:pPr>
                      <a:r>
                        <a:t>Low income</a:t>
                      </a:r>
                    </a:p>
                  </a:txBody>
                  <a:tcPr>
                    <a:solidFill>
                      <a:srgbClr val="1F4E79"/>
                    </a:solidFill>
                  </a:tcPr>
                </a:tc>
                <a:tc>
                  <a:txBody>
                    <a:bodyPr/>
                    <a:lstStyle/>
                    <a:p>
                      <a:pPr>
                        <a:defRPr sz="1400" b="1">
                          <a:solidFill>
                            <a:srgbClr val="FFFFFF"/>
                          </a:solidFill>
                        </a:defRPr>
                      </a:pPr>
                      <a:r>
                        <a:t>Total</a:t>
                      </a:r>
                    </a:p>
                  </a:txBody>
                  <a:tcPr>
                    <a:solidFill>
                      <a:srgbClr val="1F4E79"/>
                    </a:solidFill>
                  </a:tcPr>
                </a:tc>
                <a:extLst>
                  <a:ext uri="{0D108BD9-81ED-4DB2-BD59-A6C34878D82A}">
                    <a16:rowId xmlns:a16="http://schemas.microsoft.com/office/drawing/2014/main" val="10000"/>
                  </a:ext>
                </a:extLst>
              </a:tr>
              <a:tr h="320040">
                <a:tc>
                  <a:txBody>
                    <a:bodyPr/>
                    <a:lstStyle/>
                    <a:p>
                      <a:pPr>
                        <a:defRPr sz="1300">
                          <a:solidFill>
                            <a:srgbClr val="1A1A1A"/>
                          </a:solidFill>
                        </a:defRPr>
                      </a:pPr>
                      <a:r>
                        <a:t>2018</a:t>
                      </a:r>
                    </a:p>
                  </a:txBody>
                  <a:tcPr/>
                </a:tc>
                <a:tc>
                  <a:txBody>
                    <a:bodyPr/>
                    <a:lstStyle/>
                    <a:p>
                      <a:pPr>
                        <a:defRPr sz="1300">
                          <a:solidFill>
                            <a:srgbClr val="1A1A1A"/>
                          </a:solidFill>
                        </a:defRPr>
                      </a:pPr>
                      <a:r>
                        <a:t>76.3%</a:t>
                      </a:r>
                    </a:p>
                  </a:txBody>
                  <a:tcPr/>
                </a:tc>
                <a:tc>
                  <a:txBody>
                    <a:bodyPr/>
                    <a:lstStyle/>
                    <a:p>
                      <a:pPr>
                        <a:defRPr sz="1300">
                          <a:solidFill>
                            <a:srgbClr val="1A1A1A"/>
                          </a:solidFill>
                        </a:defRPr>
                      </a:pPr>
                      <a:r>
                        <a:t>19.4%</a:t>
                      </a:r>
                    </a:p>
                  </a:txBody>
                  <a:tcPr/>
                </a:tc>
                <a:tc>
                  <a:txBody>
                    <a:bodyPr/>
                    <a:lstStyle/>
                    <a:p>
                      <a:pPr>
                        <a:defRPr sz="1300">
                          <a:solidFill>
                            <a:srgbClr val="1A1A1A"/>
                          </a:solidFill>
                        </a:defRPr>
                      </a:pPr>
                      <a:r>
                        <a:t>3.2%</a:t>
                      </a:r>
                    </a:p>
                  </a:txBody>
                  <a:tcPr/>
                </a:tc>
                <a:tc>
                  <a:txBody>
                    <a:bodyPr/>
                    <a:lstStyle/>
                    <a:p>
                      <a:pPr>
                        <a:defRPr sz="1300">
                          <a:solidFill>
                            <a:srgbClr val="1A1A1A"/>
                          </a:solidFill>
                        </a:defRPr>
                      </a:pPr>
                      <a:r>
                        <a:t>1.1%</a:t>
                      </a:r>
                    </a:p>
                  </a:txBody>
                  <a:tcPr/>
                </a:tc>
                <a:tc>
                  <a:txBody>
                    <a:bodyPr/>
                    <a:lstStyle/>
                    <a:p>
                      <a:pPr>
                        <a:defRPr sz="1300">
                          <a:solidFill>
                            <a:srgbClr val="1A1A1A"/>
                          </a:solidFill>
                        </a:defRPr>
                      </a:pPr>
                      <a:r>
                        <a:t>516,745</a:t>
                      </a:r>
                    </a:p>
                  </a:txBody>
                  <a:tcPr/>
                </a:tc>
                <a:extLst>
                  <a:ext uri="{0D108BD9-81ED-4DB2-BD59-A6C34878D82A}">
                    <a16:rowId xmlns:a16="http://schemas.microsoft.com/office/drawing/2014/main" val="10001"/>
                  </a:ext>
                </a:extLst>
              </a:tr>
              <a:tr h="320040">
                <a:tc>
                  <a:txBody>
                    <a:bodyPr/>
                    <a:lstStyle/>
                    <a:p>
                      <a:pPr>
                        <a:defRPr sz="1300">
                          <a:solidFill>
                            <a:srgbClr val="1A1A1A"/>
                          </a:solidFill>
                        </a:defRPr>
                      </a:pPr>
                      <a:r>
                        <a:t>2019</a:t>
                      </a:r>
                    </a:p>
                  </a:txBody>
                  <a:tcPr>
                    <a:solidFill>
                      <a:srgbClr val="F5F8FC"/>
                    </a:solidFill>
                  </a:tcPr>
                </a:tc>
                <a:tc>
                  <a:txBody>
                    <a:bodyPr/>
                    <a:lstStyle/>
                    <a:p>
                      <a:pPr>
                        <a:defRPr sz="1300">
                          <a:solidFill>
                            <a:srgbClr val="1A1A1A"/>
                          </a:solidFill>
                        </a:defRPr>
                      </a:pPr>
                      <a:r>
                        <a:t>74.5%</a:t>
                      </a:r>
                    </a:p>
                  </a:txBody>
                  <a:tcPr>
                    <a:solidFill>
                      <a:srgbClr val="F5F8FC"/>
                    </a:solidFill>
                  </a:tcPr>
                </a:tc>
                <a:tc>
                  <a:txBody>
                    <a:bodyPr/>
                    <a:lstStyle/>
                    <a:p>
                      <a:pPr>
                        <a:defRPr sz="1300">
                          <a:solidFill>
                            <a:srgbClr val="1A1A1A"/>
                          </a:solidFill>
                        </a:defRPr>
                      </a:pPr>
                      <a:r>
                        <a:t>22.3%</a:t>
                      </a:r>
                    </a:p>
                  </a:txBody>
                  <a:tcPr>
                    <a:solidFill>
                      <a:srgbClr val="F5F8FC"/>
                    </a:solidFill>
                  </a:tcPr>
                </a:tc>
                <a:tc>
                  <a:txBody>
                    <a:bodyPr/>
                    <a:lstStyle/>
                    <a:p>
                      <a:pPr>
                        <a:defRPr sz="1300">
                          <a:solidFill>
                            <a:srgbClr val="1A1A1A"/>
                          </a:solidFill>
                        </a:defRPr>
                      </a:pPr>
                      <a:r>
                        <a:t>2.4%</a:t>
                      </a:r>
                    </a:p>
                  </a:txBody>
                  <a:tcPr>
                    <a:solidFill>
                      <a:srgbClr val="F5F8FC"/>
                    </a:solidFill>
                  </a:tcPr>
                </a:tc>
                <a:tc>
                  <a:txBody>
                    <a:bodyPr/>
                    <a:lstStyle/>
                    <a:p>
                      <a:pPr>
                        <a:defRPr sz="1300">
                          <a:solidFill>
                            <a:srgbClr val="1A1A1A"/>
                          </a:solidFill>
                        </a:defRPr>
                      </a:pPr>
                      <a:r>
                        <a:t>0.8%</a:t>
                      </a:r>
                    </a:p>
                  </a:txBody>
                  <a:tcPr>
                    <a:solidFill>
                      <a:srgbClr val="F5F8FC"/>
                    </a:solidFill>
                  </a:tcPr>
                </a:tc>
                <a:tc>
                  <a:txBody>
                    <a:bodyPr/>
                    <a:lstStyle/>
                    <a:p>
                      <a:pPr>
                        <a:defRPr sz="1300">
                          <a:solidFill>
                            <a:srgbClr val="1A1A1A"/>
                          </a:solidFill>
                        </a:defRPr>
                      </a:pPr>
                      <a:r>
                        <a:t>794,388</a:t>
                      </a:r>
                    </a:p>
                  </a:txBody>
                  <a:tcPr>
                    <a:solidFill>
                      <a:srgbClr val="F5F8FC"/>
                    </a:solidFill>
                  </a:tcPr>
                </a:tc>
                <a:extLst>
                  <a:ext uri="{0D108BD9-81ED-4DB2-BD59-A6C34878D82A}">
                    <a16:rowId xmlns:a16="http://schemas.microsoft.com/office/drawing/2014/main" val="10002"/>
                  </a:ext>
                </a:extLst>
              </a:tr>
              <a:tr h="320040">
                <a:tc>
                  <a:txBody>
                    <a:bodyPr/>
                    <a:lstStyle/>
                    <a:p>
                      <a:pPr>
                        <a:defRPr sz="1300">
                          <a:solidFill>
                            <a:srgbClr val="1A1A1A"/>
                          </a:solidFill>
                        </a:defRPr>
                      </a:pPr>
                      <a:r>
                        <a:t>2020</a:t>
                      </a:r>
                    </a:p>
                  </a:txBody>
                  <a:tcPr/>
                </a:tc>
                <a:tc>
                  <a:txBody>
                    <a:bodyPr/>
                    <a:lstStyle/>
                    <a:p>
                      <a:pPr>
                        <a:defRPr sz="1300">
                          <a:solidFill>
                            <a:srgbClr val="1A1A1A"/>
                          </a:solidFill>
                        </a:defRPr>
                      </a:pPr>
                      <a:r>
                        <a:t>72.7%</a:t>
                      </a:r>
                    </a:p>
                  </a:txBody>
                  <a:tcPr/>
                </a:tc>
                <a:tc>
                  <a:txBody>
                    <a:bodyPr/>
                    <a:lstStyle/>
                    <a:p>
                      <a:pPr>
                        <a:defRPr sz="1300">
                          <a:solidFill>
                            <a:srgbClr val="1A1A1A"/>
                          </a:solidFill>
                        </a:defRPr>
                      </a:pPr>
                      <a:r>
                        <a:t>24.1%</a:t>
                      </a:r>
                    </a:p>
                  </a:txBody>
                  <a:tcPr/>
                </a:tc>
                <a:tc>
                  <a:txBody>
                    <a:bodyPr/>
                    <a:lstStyle/>
                    <a:p>
                      <a:pPr>
                        <a:defRPr sz="1300">
                          <a:solidFill>
                            <a:srgbClr val="1A1A1A"/>
                          </a:solidFill>
                        </a:defRPr>
                      </a:pPr>
                      <a:r>
                        <a:t>2.6%</a:t>
                      </a:r>
                    </a:p>
                  </a:txBody>
                  <a:tcPr/>
                </a:tc>
                <a:tc>
                  <a:txBody>
                    <a:bodyPr/>
                    <a:lstStyle/>
                    <a:p>
                      <a:pPr>
                        <a:defRPr sz="1300">
                          <a:solidFill>
                            <a:srgbClr val="1A1A1A"/>
                          </a:solidFill>
                        </a:defRPr>
                      </a:pPr>
                      <a:r>
                        <a:t>0.7%</a:t>
                      </a:r>
                    </a:p>
                  </a:txBody>
                  <a:tcPr/>
                </a:tc>
                <a:tc>
                  <a:txBody>
                    <a:bodyPr/>
                    <a:lstStyle/>
                    <a:p>
                      <a:pPr>
                        <a:defRPr sz="1300">
                          <a:solidFill>
                            <a:srgbClr val="1A1A1A"/>
                          </a:solidFill>
                        </a:defRPr>
                      </a:pPr>
                      <a:r>
                        <a:t>1,100,590</a:t>
                      </a:r>
                    </a:p>
                  </a:txBody>
                  <a:tcPr/>
                </a:tc>
                <a:extLst>
                  <a:ext uri="{0D108BD9-81ED-4DB2-BD59-A6C34878D82A}">
                    <a16:rowId xmlns:a16="http://schemas.microsoft.com/office/drawing/2014/main" val="10003"/>
                  </a:ext>
                </a:extLst>
              </a:tr>
              <a:tr h="320040">
                <a:tc>
                  <a:txBody>
                    <a:bodyPr/>
                    <a:lstStyle/>
                    <a:p>
                      <a:pPr>
                        <a:defRPr sz="1300">
                          <a:solidFill>
                            <a:srgbClr val="1A1A1A"/>
                          </a:solidFill>
                        </a:defRPr>
                      </a:pPr>
                      <a:r>
                        <a:t>2021</a:t>
                      </a:r>
                    </a:p>
                  </a:txBody>
                  <a:tcPr>
                    <a:solidFill>
                      <a:srgbClr val="F5F8FC"/>
                    </a:solidFill>
                  </a:tcPr>
                </a:tc>
                <a:tc>
                  <a:txBody>
                    <a:bodyPr/>
                    <a:lstStyle/>
                    <a:p>
                      <a:pPr>
                        <a:defRPr sz="1300">
                          <a:solidFill>
                            <a:srgbClr val="1A1A1A"/>
                          </a:solidFill>
                        </a:defRPr>
                      </a:pPr>
                      <a:r>
                        <a:t>84.7%</a:t>
                      </a:r>
                    </a:p>
                  </a:txBody>
                  <a:tcPr>
                    <a:solidFill>
                      <a:srgbClr val="F5F8FC"/>
                    </a:solidFill>
                  </a:tcPr>
                </a:tc>
                <a:tc>
                  <a:txBody>
                    <a:bodyPr/>
                    <a:lstStyle/>
                    <a:p>
                      <a:pPr>
                        <a:defRPr sz="1300">
                          <a:solidFill>
                            <a:srgbClr val="1A1A1A"/>
                          </a:solidFill>
                        </a:defRPr>
                      </a:pPr>
                      <a:r>
                        <a:t>12.7%</a:t>
                      </a:r>
                    </a:p>
                  </a:txBody>
                  <a:tcPr>
                    <a:solidFill>
                      <a:srgbClr val="F5F8FC"/>
                    </a:solidFill>
                  </a:tcPr>
                </a:tc>
                <a:tc>
                  <a:txBody>
                    <a:bodyPr/>
                    <a:lstStyle/>
                    <a:p>
                      <a:pPr>
                        <a:defRPr sz="1300">
                          <a:solidFill>
                            <a:srgbClr val="1A1A1A"/>
                          </a:solidFill>
                        </a:defRPr>
                      </a:pPr>
                      <a:r>
                        <a:t>2.1%</a:t>
                      </a:r>
                    </a:p>
                  </a:txBody>
                  <a:tcPr>
                    <a:solidFill>
                      <a:srgbClr val="F5F8FC"/>
                    </a:solidFill>
                  </a:tcPr>
                </a:tc>
                <a:tc>
                  <a:txBody>
                    <a:bodyPr/>
                    <a:lstStyle/>
                    <a:p>
                      <a:pPr>
                        <a:defRPr sz="1300">
                          <a:solidFill>
                            <a:srgbClr val="1A1A1A"/>
                          </a:solidFill>
                        </a:defRPr>
                      </a:pPr>
                      <a:r>
                        <a:t>0.6%</a:t>
                      </a:r>
                    </a:p>
                  </a:txBody>
                  <a:tcPr>
                    <a:solidFill>
                      <a:srgbClr val="F5F8FC"/>
                    </a:solidFill>
                  </a:tcPr>
                </a:tc>
                <a:tc>
                  <a:txBody>
                    <a:bodyPr/>
                    <a:lstStyle/>
                    <a:p>
                      <a:pPr>
                        <a:defRPr sz="1300">
                          <a:solidFill>
                            <a:srgbClr val="1A1A1A"/>
                          </a:solidFill>
                        </a:defRPr>
                      </a:pPr>
                      <a:r>
                        <a:t>2,723,151</a:t>
                      </a:r>
                    </a:p>
                  </a:txBody>
                  <a:tcPr>
                    <a:solidFill>
                      <a:srgbClr val="F5F8FC"/>
                    </a:solidFill>
                  </a:tcPr>
                </a:tc>
                <a:extLst>
                  <a:ext uri="{0D108BD9-81ED-4DB2-BD59-A6C34878D82A}">
                    <a16:rowId xmlns:a16="http://schemas.microsoft.com/office/drawing/2014/main" val="10004"/>
                  </a:ext>
                </a:extLst>
              </a:tr>
              <a:tr h="320040">
                <a:tc>
                  <a:txBody>
                    <a:bodyPr/>
                    <a:lstStyle/>
                    <a:p>
                      <a:pPr>
                        <a:defRPr sz="1300">
                          <a:solidFill>
                            <a:srgbClr val="1A1A1A"/>
                          </a:solidFill>
                        </a:defRPr>
                      </a:pPr>
                      <a:r>
                        <a:t>2022</a:t>
                      </a:r>
                    </a:p>
                  </a:txBody>
                  <a:tcPr/>
                </a:tc>
                <a:tc>
                  <a:txBody>
                    <a:bodyPr/>
                    <a:lstStyle/>
                    <a:p>
                      <a:pPr>
                        <a:defRPr sz="1300">
                          <a:solidFill>
                            <a:srgbClr val="1A1A1A"/>
                          </a:solidFill>
                        </a:defRPr>
                      </a:pPr>
                      <a:r>
                        <a:t>78.6%</a:t>
                      </a:r>
                    </a:p>
                  </a:txBody>
                  <a:tcPr/>
                </a:tc>
                <a:tc>
                  <a:txBody>
                    <a:bodyPr/>
                    <a:lstStyle/>
                    <a:p>
                      <a:pPr>
                        <a:defRPr sz="1300">
                          <a:solidFill>
                            <a:srgbClr val="1A1A1A"/>
                          </a:solidFill>
                        </a:defRPr>
                      </a:pPr>
                      <a:r>
                        <a:t>15.7%</a:t>
                      </a:r>
                    </a:p>
                  </a:txBody>
                  <a:tcPr/>
                </a:tc>
                <a:tc>
                  <a:txBody>
                    <a:bodyPr/>
                    <a:lstStyle/>
                    <a:p>
                      <a:pPr>
                        <a:defRPr sz="1300">
                          <a:solidFill>
                            <a:srgbClr val="1A1A1A"/>
                          </a:solidFill>
                        </a:defRPr>
                      </a:pPr>
                      <a:r>
                        <a:t>5.0%</a:t>
                      </a:r>
                    </a:p>
                  </a:txBody>
                  <a:tcPr/>
                </a:tc>
                <a:tc>
                  <a:txBody>
                    <a:bodyPr/>
                    <a:lstStyle/>
                    <a:p>
                      <a:pPr>
                        <a:defRPr sz="1300">
                          <a:solidFill>
                            <a:srgbClr val="1A1A1A"/>
                          </a:solidFill>
                        </a:defRPr>
                      </a:pPr>
                      <a:r>
                        <a:t>0.7%</a:t>
                      </a:r>
                    </a:p>
                  </a:txBody>
                  <a:tcPr/>
                </a:tc>
                <a:tc>
                  <a:txBody>
                    <a:bodyPr/>
                    <a:lstStyle/>
                    <a:p>
                      <a:pPr>
                        <a:defRPr sz="1300">
                          <a:solidFill>
                            <a:srgbClr val="1A1A1A"/>
                          </a:solidFill>
                        </a:defRPr>
                      </a:pPr>
                      <a:r>
                        <a:t>2,460,898</a:t>
                      </a:r>
                    </a:p>
                  </a:txBody>
                  <a:tcPr/>
                </a:tc>
                <a:extLst>
                  <a:ext uri="{0D108BD9-81ED-4DB2-BD59-A6C34878D82A}">
                    <a16:rowId xmlns:a16="http://schemas.microsoft.com/office/drawing/2014/main" val="10005"/>
                  </a:ext>
                </a:extLst>
              </a:tr>
              <a:tr h="320040">
                <a:tc>
                  <a:txBody>
                    <a:bodyPr/>
                    <a:lstStyle/>
                    <a:p>
                      <a:pPr>
                        <a:defRPr sz="1300">
                          <a:solidFill>
                            <a:srgbClr val="1A1A1A"/>
                          </a:solidFill>
                        </a:defRPr>
                      </a:pPr>
                      <a:r>
                        <a:t>2023</a:t>
                      </a:r>
                    </a:p>
                  </a:txBody>
                  <a:tcPr>
                    <a:solidFill>
                      <a:srgbClr val="F5F8FC"/>
                    </a:solidFill>
                  </a:tcPr>
                </a:tc>
                <a:tc>
                  <a:txBody>
                    <a:bodyPr/>
                    <a:lstStyle/>
                    <a:p>
                      <a:pPr>
                        <a:defRPr sz="1300">
                          <a:solidFill>
                            <a:srgbClr val="1A1A1A"/>
                          </a:solidFill>
                        </a:defRPr>
                      </a:pPr>
                      <a:r>
                        <a:t>76.0%</a:t>
                      </a:r>
                    </a:p>
                  </a:txBody>
                  <a:tcPr>
                    <a:solidFill>
                      <a:srgbClr val="F5F8FC"/>
                    </a:solidFill>
                  </a:tcPr>
                </a:tc>
                <a:tc>
                  <a:txBody>
                    <a:bodyPr/>
                    <a:lstStyle/>
                    <a:p>
                      <a:pPr>
                        <a:defRPr sz="1300">
                          <a:solidFill>
                            <a:srgbClr val="1A1A1A"/>
                          </a:solidFill>
                        </a:defRPr>
                      </a:pPr>
                      <a:r>
                        <a:t>21.3%</a:t>
                      </a:r>
                    </a:p>
                  </a:txBody>
                  <a:tcPr>
                    <a:solidFill>
                      <a:srgbClr val="F5F8FC"/>
                    </a:solidFill>
                  </a:tcPr>
                </a:tc>
                <a:tc>
                  <a:txBody>
                    <a:bodyPr/>
                    <a:lstStyle/>
                    <a:p>
                      <a:pPr>
                        <a:defRPr sz="1300">
                          <a:solidFill>
                            <a:srgbClr val="1A1A1A"/>
                          </a:solidFill>
                        </a:defRPr>
                      </a:pPr>
                      <a:r>
                        <a:t>1.8%</a:t>
                      </a:r>
                    </a:p>
                  </a:txBody>
                  <a:tcPr>
                    <a:solidFill>
                      <a:srgbClr val="F5F8FC"/>
                    </a:solidFill>
                  </a:tcPr>
                </a:tc>
                <a:tc>
                  <a:txBody>
                    <a:bodyPr/>
                    <a:lstStyle/>
                    <a:p>
                      <a:pPr>
                        <a:defRPr sz="1300">
                          <a:solidFill>
                            <a:srgbClr val="1A1A1A"/>
                          </a:solidFill>
                        </a:defRPr>
                      </a:pPr>
                      <a:r>
                        <a:t>0.9%</a:t>
                      </a:r>
                    </a:p>
                  </a:txBody>
                  <a:tcPr>
                    <a:solidFill>
                      <a:srgbClr val="F5F8FC"/>
                    </a:solidFill>
                  </a:tcPr>
                </a:tc>
                <a:tc>
                  <a:txBody>
                    <a:bodyPr/>
                    <a:lstStyle/>
                    <a:p>
                      <a:pPr>
                        <a:defRPr sz="1300">
                          <a:solidFill>
                            <a:srgbClr val="1A1A1A"/>
                          </a:solidFill>
                        </a:defRPr>
                      </a:pPr>
                      <a:r>
                        <a:t>2,426,790</a:t>
                      </a:r>
                    </a:p>
                  </a:txBody>
                  <a:tcPr>
                    <a:solidFill>
                      <a:srgbClr val="F5F8FC"/>
                    </a:solidFill>
                  </a:tcPr>
                </a:tc>
                <a:extLst>
                  <a:ext uri="{0D108BD9-81ED-4DB2-BD59-A6C34878D82A}">
                    <a16:rowId xmlns:a16="http://schemas.microsoft.com/office/drawing/2014/main" val="10006"/>
                  </a:ext>
                </a:extLst>
              </a:tr>
              <a:tr h="320040">
                <a:tc>
                  <a:txBody>
                    <a:bodyPr/>
                    <a:lstStyle/>
                    <a:p>
                      <a:pPr>
                        <a:defRPr sz="1300">
                          <a:solidFill>
                            <a:srgbClr val="1A1A1A"/>
                          </a:solidFill>
                        </a:defRPr>
                      </a:pPr>
                      <a:r>
                        <a:t>2024</a:t>
                      </a:r>
                    </a:p>
                  </a:txBody>
                  <a:tcPr/>
                </a:tc>
                <a:tc>
                  <a:txBody>
                    <a:bodyPr/>
                    <a:lstStyle/>
                    <a:p>
                      <a:pPr>
                        <a:defRPr sz="1300">
                          <a:solidFill>
                            <a:srgbClr val="1A1A1A"/>
                          </a:solidFill>
                        </a:defRPr>
                      </a:pPr>
                      <a:r>
                        <a:t>61.5%</a:t>
                      </a:r>
                    </a:p>
                  </a:txBody>
                  <a:tcPr/>
                </a:tc>
                <a:tc>
                  <a:txBody>
                    <a:bodyPr/>
                    <a:lstStyle/>
                    <a:p>
                      <a:pPr>
                        <a:defRPr sz="1300">
                          <a:solidFill>
                            <a:srgbClr val="1A1A1A"/>
                          </a:solidFill>
                        </a:defRPr>
                      </a:pPr>
                      <a:r>
                        <a:t>34.7%</a:t>
                      </a:r>
                    </a:p>
                  </a:txBody>
                  <a:tcPr/>
                </a:tc>
                <a:tc>
                  <a:txBody>
                    <a:bodyPr/>
                    <a:lstStyle/>
                    <a:p>
                      <a:pPr>
                        <a:defRPr sz="1300">
                          <a:solidFill>
                            <a:srgbClr val="1A1A1A"/>
                          </a:solidFill>
                        </a:defRPr>
                      </a:pPr>
                      <a:r>
                        <a:t>2.9%</a:t>
                      </a:r>
                    </a:p>
                  </a:txBody>
                  <a:tcPr/>
                </a:tc>
                <a:tc>
                  <a:txBody>
                    <a:bodyPr/>
                    <a:lstStyle/>
                    <a:p>
                      <a:pPr>
                        <a:defRPr sz="1300">
                          <a:solidFill>
                            <a:srgbClr val="1A1A1A"/>
                          </a:solidFill>
                        </a:defRPr>
                      </a:pPr>
                      <a:r>
                        <a:t>0.8%</a:t>
                      </a:r>
                    </a:p>
                  </a:txBody>
                  <a:tcPr/>
                </a:tc>
                <a:tc>
                  <a:txBody>
                    <a:bodyPr/>
                    <a:lstStyle/>
                    <a:p>
                      <a:pPr>
                        <a:defRPr sz="1300">
                          <a:solidFill>
                            <a:srgbClr val="1A1A1A"/>
                          </a:solidFill>
                        </a:defRPr>
                      </a:pPr>
                      <a:r>
                        <a:t>1,715,389</a:t>
                      </a:r>
                    </a:p>
                  </a:txBody>
                  <a:tcPr/>
                </a:tc>
                <a:extLst>
                  <a:ext uri="{0D108BD9-81ED-4DB2-BD59-A6C34878D82A}">
                    <a16:rowId xmlns:a16="http://schemas.microsoft.com/office/drawing/2014/main" val="10007"/>
                  </a:ext>
                </a:extLst>
              </a:tr>
              <a:tr h="320040">
                <a:tc>
                  <a:txBody>
                    <a:bodyPr/>
                    <a:lstStyle/>
                    <a:p>
                      <a:pPr>
                        <a:defRPr sz="1300">
                          <a:solidFill>
                            <a:srgbClr val="1A1A1A"/>
                          </a:solidFill>
                        </a:defRPr>
                      </a:pPr>
                      <a:r>
                        <a:t>2025</a:t>
                      </a:r>
                    </a:p>
                  </a:txBody>
                  <a:tcPr>
                    <a:solidFill>
                      <a:srgbClr val="F5F8FC"/>
                    </a:solidFill>
                  </a:tcPr>
                </a:tc>
                <a:tc>
                  <a:txBody>
                    <a:bodyPr/>
                    <a:lstStyle/>
                    <a:p>
                      <a:pPr>
                        <a:defRPr sz="1300">
                          <a:solidFill>
                            <a:srgbClr val="1A1A1A"/>
                          </a:solidFill>
                        </a:defRPr>
                      </a:pPr>
                      <a:r>
                        <a:t>57.8%</a:t>
                      </a:r>
                    </a:p>
                  </a:txBody>
                  <a:tcPr>
                    <a:solidFill>
                      <a:srgbClr val="F5F8FC"/>
                    </a:solidFill>
                  </a:tcPr>
                </a:tc>
                <a:tc>
                  <a:txBody>
                    <a:bodyPr/>
                    <a:lstStyle/>
                    <a:p>
                      <a:pPr>
                        <a:defRPr sz="1300">
                          <a:solidFill>
                            <a:srgbClr val="1A1A1A"/>
                          </a:solidFill>
                        </a:defRPr>
                      </a:pPr>
                      <a:r>
                        <a:t>38.3%</a:t>
                      </a:r>
                    </a:p>
                  </a:txBody>
                  <a:tcPr>
                    <a:solidFill>
                      <a:srgbClr val="F5F8FC"/>
                    </a:solidFill>
                  </a:tcPr>
                </a:tc>
                <a:tc>
                  <a:txBody>
                    <a:bodyPr/>
                    <a:lstStyle/>
                    <a:p>
                      <a:pPr>
                        <a:defRPr sz="1300">
                          <a:solidFill>
                            <a:srgbClr val="1A1A1A"/>
                          </a:solidFill>
                        </a:defRPr>
                      </a:pPr>
                      <a:r>
                        <a:t>3.2%</a:t>
                      </a:r>
                    </a:p>
                  </a:txBody>
                  <a:tcPr>
                    <a:solidFill>
                      <a:srgbClr val="F5F8FC"/>
                    </a:solidFill>
                  </a:tcPr>
                </a:tc>
                <a:tc>
                  <a:txBody>
                    <a:bodyPr/>
                    <a:lstStyle/>
                    <a:p>
                      <a:pPr>
                        <a:defRPr sz="1300">
                          <a:solidFill>
                            <a:srgbClr val="1A1A1A"/>
                          </a:solidFill>
                        </a:defRPr>
                      </a:pPr>
                      <a:r>
                        <a:t>0.8%</a:t>
                      </a:r>
                    </a:p>
                  </a:txBody>
                  <a:tcPr>
                    <a:solidFill>
                      <a:srgbClr val="F5F8FC"/>
                    </a:solidFill>
                  </a:tcPr>
                </a:tc>
                <a:tc>
                  <a:txBody>
                    <a:bodyPr/>
                    <a:lstStyle/>
                    <a:p>
                      <a:pPr>
                        <a:defRPr sz="1300">
                          <a:solidFill>
                            <a:srgbClr val="1A1A1A"/>
                          </a:solidFill>
                        </a:defRPr>
                      </a:pPr>
                      <a:r>
                        <a:t>1,893,694</a:t>
                      </a:r>
                    </a:p>
                  </a:txBody>
                  <a:tcPr>
                    <a:solidFill>
                      <a:srgbClr val="F5F8FC"/>
                    </a:solidFill>
                  </a:tcPr>
                </a:tc>
                <a:extLst>
                  <a:ext uri="{0D108BD9-81ED-4DB2-BD59-A6C34878D82A}">
                    <a16:rowId xmlns:a16="http://schemas.microsoft.com/office/drawing/2014/main" val="10008"/>
                  </a:ext>
                </a:extLst>
              </a:tr>
              <a:tr h="320040">
                <a:tc>
                  <a:txBody>
                    <a:bodyPr/>
                    <a:lstStyle/>
                    <a:p>
                      <a:pPr>
                        <a:defRPr sz="1300">
                          <a:solidFill>
                            <a:srgbClr val="1A1A1A"/>
                          </a:solidFill>
                        </a:defRPr>
                      </a:pPr>
                      <a:r>
                        <a:t>2026*</a:t>
                      </a:r>
                    </a:p>
                  </a:txBody>
                  <a:tcPr/>
                </a:tc>
                <a:tc>
                  <a:txBody>
                    <a:bodyPr/>
                    <a:lstStyle/>
                    <a:p>
                      <a:pPr>
                        <a:defRPr sz="1300">
                          <a:solidFill>
                            <a:srgbClr val="1A1A1A"/>
                          </a:solidFill>
                        </a:defRPr>
                      </a:pPr>
                      <a:r>
                        <a:t>54.5%</a:t>
                      </a:r>
                    </a:p>
                  </a:txBody>
                  <a:tcPr/>
                </a:tc>
                <a:tc>
                  <a:txBody>
                    <a:bodyPr/>
                    <a:lstStyle/>
                    <a:p>
                      <a:pPr>
                        <a:defRPr sz="1300">
                          <a:solidFill>
                            <a:srgbClr val="1A1A1A"/>
                          </a:solidFill>
                        </a:defRPr>
                      </a:pPr>
                      <a:r>
                        <a:t>41.7%</a:t>
                      </a:r>
                    </a:p>
                  </a:txBody>
                  <a:tcPr/>
                </a:tc>
                <a:tc>
                  <a:txBody>
                    <a:bodyPr/>
                    <a:lstStyle/>
                    <a:p>
                      <a:pPr>
                        <a:defRPr sz="1300">
                          <a:solidFill>
                            <a:srgbClr val="1A1A1A"/>
                          </a:solidFill>
                        </a:defRPr>
                      </a:pPr>
                      <a:r>
                        <a:t>2.8%</a:t>
                      </a:r>
                    </a:p>
                  </a:txBody>
                  <a:tcPr/>
                </a:tc>
                <a:tc>
                  <a:txBody>
                    <a:bodyPr/>
                    <a:lstStyle/>
                    <a:p>
                      <a:pPr>
                        <a:defRPr sz="1300">
                          <a:solidFill>
                            <a:srgbClr val="1A1A1A"/>
                          </a:solidFill>
                        </a:defRPr>
                      </a:pPr>
                      <a:r>
                        <a:t>0.9%</a:t>
                      </a:r>
                    </a:p>
                  </a:txBody>
                  <a:tcPr/>
                </a:tc>
                <a:tc>
                  <a:txBody>
                    <a:bodyPr/>
                    <a:lstStyle/>
                    <a:p>
                      <a:pPr>
                        <a:defRPr sz="1300">
                          <a:solidFill>
                            <a:srgbClr val="1A1A1A"/>
                          </a:solidFill>
                        </a:defRPr>
                      </a:pPr>
                      <a:r>
                        <a:t>1,098,070</a:t>
                      </a:r>
                    </a:p>
                  </a:txBody>
                  <a:tcPr/>
                </a:tc>
                <a:extLst>
                  <a:ext uri="{0D108BD9-81ED-4DB2-BD59-A6C34878D82A}">
                    <a16:rowId xmlns:a16="http://schemas.microsoft.com/office/drawing/2014/main" val="10009"/>
                  </a:ext>
                </a:extLst>
              </a:tr>
            </a:tbl>
          </a:graphicData>
        </a:graphic>
      </p:graphicFrame>
      <p:sp>
        <p:nvSpPr>
          <p:cNvPr id="5" name="TextBox 4"/>
          <p:cNvSpPr txBox="1"/>
          <p:nvPr/>
        </p:nvSpPr>
        <p:spPr>
          <a:xfrm>
            <a:off x="731520" y="4846320"/>
            <a:ext cx="10515600" cy="1671098"/>
          </a:xfrm>
          <a:prstGeom prst="rect">
            <a:avLst/>
          </a:prstGeom>
          <a:noFill/>
        </p:spPr>
        <p:txBody>
          <a:bodyPr wrap="square">
            <a:spAutoFit/>
          </a:bodyPr>
          <a:lstStyle/>
          <a:p>
            <a:pPr>
              <a:lnSpc>
                <a:spcPct val="130000"/>
              </a:lnSpc>
              <a:spcBef>
                <a:spcPts val="800"/>
              </a:spcBef>
              <a:defRPr sz="1500" b="0">
                <a:solidFill>
                  <a:srgbClr val="1A1A1A"/>
                </a:solidFill>
              </a:defRPr>
            </a:pPr>
            <a:r>
              <a:rPr dirty="0"/>
              <a:t>The high-income share has fallen from 76.3 per cent in 2018 to 54.5 per cent in 2026, while upper middle income countries have risen from 19.4 per cent to 41.7 per cent. In 2026, for the first time, upper middle income countries are generating nearly as many records as high-income countries.</a:t>
            </a:r>
          </a:p>
          <a:p>
            <a:pPr>
              <a:lnSpc>
                <a:spcPct val="130000"/>
              </a:lnSpc>
              <a:spcBef>
                <a:spcPts val="800"/>
              </a:spcBef>
              <a:defRPr sz="1500" b="1">
                <a:solidFill>
                  <a:srgbClr val="E15759"/>
                </a:solidFill>
              </a:defRPr>
            </a:pPr>
            <a:r>
              <a:rPr dirty="0"/>
              <a:t>Lower middle income and low-income countries have remained below 6 per cent combined throughout the entire period, showing almost no structural change in their share despite year-to-year fluctuations.</a:t>
            </a:r>
          </a:p>
        </p:txBody>
      </p:sp>
      <p:sp>
        <p:nvSpPr>
          <p:cNvPr id="6" name="TextBox 5"/>
          <p:cNvSpPr txBox="1"/>
          <p:nvPr/>
        </p:nvSpPr>
        <p:spPr>
          <a:xfrm>
            <a:off x="731520" y="6492240"/>
            <a:ext cx="10515600" cy="365760"/>
          </a:xfrm>
          <a:prstGeom prst="rect">
            <a:avLst/>
          </a:prstGeom>
          <a:noFill/>
        </p:spPr>
        <p:txBody>
          <a:bodyPr wrap="none">
            <a:spAutoFit/>
          </a:bodyPr>
          <a:lstStyle/>
          <a:p>
            <a:pPr>
              <a:defRPr sz="1100" i="1">
                <a:solidFill>
                  <a:srgbClr val="999999"/>
                </a:solidFill>
              </a:defRPr>
            </a:pPr>
            <a:r>
              <a:rPr dirty="0"/>
              <a:t>Source: ENA Portal API, 13 October 2026. Percentages exclude records with unknown income classification. *2026 covers January to October only.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Vulnerable country groups</a:t>
            </a:r>
          </a:p>
          <a:p>
            <a:pPr>
              <a:spcBef>
                <a:spcPts val="400"/>
              </a:spcBef>
              <a:defRPr sz="1600">
                <a:solidFill>
                  <a:srgbClr val="666666"/>
                </a:solidFill>
              </a:defRPr>
            </a:pPr>
            <a:r>
              <a:t>LDCs, SIDS, and LLDCs remain far behind</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554480"/>
          <a:ext cx="5029200" cy="1280160"/>
        </p:xfrm>
        <a:graphic>
          <a:graphicData uri="http://schemas.openxmlformats.org/drawingml/2006/table">
            <a:tbl>
              <a:tblPr firstRow="1" bandRow="1">
                <a:tableStyleId>{5C22544A-7EE6-4342-B048-85BDC9FD1C3A}</a:tableStyleId>
              </a:tblPr>
              <a:tblGrid>
                <a:gridCol w="1257300">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gridCol w="1257300">
                  <a:extLst>
                    <a:ext uri="{9D8B030D-6E8A-4147-A177-3AD203B41FA5}">
                      <a16:colId xmlns:a16="http://schemas.microsoft.com/office/drawing/2014/main" val="20002"/>
                    </a:ext>
                  </a:extLst>
                </a:gridCol>
                <a:gridCol w="1257300">
                  <a:extLst>
                    <a:ext uri="{9D8B030D-6E8A-4147-A177-3AD203B41FA5}">
                      <a16:colId xmlns:a16="http://schemas.microsoft.com/office/drawing/2014/main" val="20003"/>
                    </a:ext>
                  </a:extLst>
                </a:gridCol>
              </a:tblGrid>
              <a:tr h="320040">
                <a:tc>
                  <a:txBody>
                    <a:bodyPr/>
                    <a:lstStyle/>
                    <a:p>
                      <a:pPr>
                        <a:defRPr sz="1400" b="1">
                          <a:solidFill>
                            <a:srgbClr val="FFFFFF"/>
                          </a:solidFill>
                        </a:defRPr>
                      </a:pPr>
                      <a:r>
                        <a:t>Group</a:t>
                      </a:r>
                    </a:p>
                  </a:txBody>
                  <a:tcPr>
                    <a:solidFill>
                      <a:srgbClr val="1F4E79"/>
                    </a:solidFill>
                  </a:tcPr>
                </a:tc>
                <a:tc>
                  <a:txBody>
                    <a:bodyPr/>
                    <a:lstStyle/>
                    <a:p>
                      <a:pPr>
                        <a:defRPr sz="1400" b="1">
                          <a:solidFill>
                            <a:srgbClr val="FFFFFF"/>
                          </a:solidFill>
                        </a:defRPr>
                      </a:pPr>
                      <a:r>
                        <a:t>Countries</a:t>
                      </a:r>
                    </a:p>
                  </a:txBody>
                  <a:tcPr>
                    <a:solidFill>
                      <a:srgbClr val="1F4E79"/>
                    </a:solidFill>
                  </a:tcPr>
                </a:tc>
                <a:tc>
                  <a:txBody>
                    <a:bodyPr/>
                    <a:lstStyle/>
                    <a:p>
                      <a:pPr>
                        <a:defRPr sz="1400" b="1">
                          <a:solidFill>
                            <a:srgbClr val="FFFFFF"/>
                          </a:solidFill>
                        </a:defRPr>
                      </a:pPr>
                      <a:r>
                        <a:t>Records</a:t>
                      </a:r>
                    </a:p>
                  </a:txBody>
                  <a:tcPr>
                    <a:solidFill>
                      <a:srgbClr val="1F4E79"/>
                    </a:solidFill>
                  </a:tcPr>
                </a:tc>
                <a:tc>
                  <a:txBody>
                    <a:bodyPr/>
                    <a:lstStyle/>
                    <a:p>
                      <a:pPr>
                        <a:defRPr sz="1400" b="1">
                          <a:solidFill>
                            <a:srgbClr val="FFFFFF"/>
                          </a:solidFill>
                        </a:defRPr>
                      </a:pPr>
                      <a:r>
                        <a:t>Share</a:t>
                      </a:r>
                    </a:p>
                  </a:txBody>
                  <a:tcPr>
                    <a:solidFill>
                      <a:srgbClr val="1F4E79"/>
                    </a:solidFill>
                  </a:tcPr>
                </a:tc>
                <a:extLst>
                  <a:ext uri="{0D108BD9-81ED-4DB2-BD59-A6C34878D82A}">
                    <a16:rowId xmlns:a16="http://schemas.microsoft.com/office/drawing/2014/main" val="10000"/>
                  </a:ext>
                </a:extLst>
              </a:tr>
              <a:tr h="320040">
                <a:tc>
                  <a:txBody>
                    <a:bodyPr/>
                    <a:lstStyle/>
                    <a:p>
                      <a:pPr>
                        <a:defRPr sz="1300">
                          <a:solidFill>
                            <a:srgbClr val="1A1A1A"/>
                          </a:solidFill>
                        </a:defRPr>
                      </a:pPr>
                      <a:r>
                        <a:t>LDCs</a:t>
                      </a:r>
                    </a:p>
                  </a:txBody>
                  <a:tcPr/>
                </a:tc>
                <a:tc>
                  <a:txBody>
                    <a:bodyPr/>
                    <a:lstStyle/>
                    <a:p>
                      <a:pPr>
                        <a:defRPr sz="1300">
                          <a:solidFill>
                            <a:srgbClr val="1A1A1A"/>
                          </a:solidFill>
                        </a:defRPr>
                      </a:pPr>
                      <a:r>
                        <a:t>47</a:t>
                      </a:r>
                    </a:p>
                  </a:txBody>
                  <a:tcPr/>
                </a:tc>
                <a:tc>
                  <a:txBody>
                    <a:bodyPr/>
                    <a:lstStyle/>
                    <a:p>
                      <a:pPr>
                        <a:defRPr sz="1300">
                          <a:solidFill>
                            <a:srgbClr val="1A1A1A"/>
                          </a:solidFill>
                        </a:defRPr>
                      </a:pPr>
                      <a:r>
                        <a:t>527,519</a:t>
                      </a:r>
                    </a:p>
                  </a:txBody>
                  <a:tcPr/>
                </a:tc>
                <a:tc>
                  <a:txBody>
                    <a:bodyPr/>
                    <a:lstStyle/>
                    <a:p>
                      <a:pPr>
                        <a:defRPr sz="1300">
                          <a:solidFill>
                            <a:srgbClr val="1A1A1A"/>
                          </a:solidFill>
                        </a:defRPr>
                      </a:pPr>
                      <a:r>
                        <a:t>2.8%</a:t>
                      </a:r>
                    </a:p>
                  </a:txBody>
                  <a:tcPr/>
                </a:tc>
                <a:extLst>
                  <a:ext uri="{0D108BD9-81ED-4DB2-BD59-A6C34878D82A}">
                    <a16:rowId xmlns:a16="http://schemas.microsoft.com/office/drawing/2014/main" val="10001"/>
                  </a:ext>
                </a:extLst>
              </a:tr>
              <a:tr h="320040">
                <a:tc>
                  <a:txBody>
                    <a:bodyPr/>
                    <a:lstStyle/>
                    <a:p>
                      <a:pPr>
                        <a:defRPr sz="1300">
                          <a:solidFill>
                            <a:srgbClr val="1A1A1A"/>
                          </a:solidFill>
                        </a:defRPr>
                      </a:pPr>
                      <a:r>
                        <a:t>SIDS</a:t>
                      </a:r>
                    </a:p>
                  </a:txBody>
                  <a:tcPr>
                    <a:solidFill>
                      <a:srgbClr val="F5F8FC"/>
                    </a:solidFill>
                  </a:tcPr>
                </a:tc>
                <a:tc>
                  <a:txBody>
                    <a:bodyPr/>
                    <a:lstStyle/>
                    <a:p>
                      <a:pPr>
                        <a:defRPr sz="1300">
                          <a:solidFill>
                            <a:srgbClr val="1A1A1A"/>
                          </a:solidFill>
                        </a:defRPr>
                      </a:pPr>
                      <a:r>
                        <a:t>51</a:t>
                      </a:r>
                    </a:p>
                  </a:txBody>
                  <a:tcPr>
                    <a:solidFill>
                      <a:srgbClr val="F5F8FC"/>
                    </a:solidFill>
                  </a:tcPr>
                </a:tc>
                <a:tc>
                  <a:txBody>
                    <a:bodyPr/>
                    <a:lstStyle/>
                    <a:p>
                      <a:pPr>
                        <a:defRPr sz="1300">
                          <a:solidFill>
                            <a:srgbClr val="1A1A1A"/>
                          </a:solidFill>
                        </a:defRPr>
                      </a:pPr>
                      <a:r>
                        <a:t>218,743</a:t>
                      </a:r>
                    </a:p>
                  </a:txBody>
                  <a:tcPr>
                    <a:solidFill>
                      <a:srgbClr val="F5F8FC"/>
                    </a:solidFill>
                  </a:tcPr>
                </a:tc>
                <a:tc>
                  <a:txBody>
                    <a:bodyPr/>
                    <a:lstStyle/>
                    <a:p>
                      <a:pPr>
                        <a:defRPr sz="1300">
                          <a:solidFill>
                            <a:srgbClr val="1A1A1A"/>
                          </a:solidFill>
                        </a:defRPr>
                      </a:pPr>
                      <a:r>
                        <a:t>1.2%</a:t>
                      </a:r>
                    </a:p>
                  </a:txBody>
                  <a:tcPr>
                    <a:solidFill>
                      <a:srgbClr val="F5F8FC"/>
                    </a:solidFill>
                  </a:tcPr>
                </a:tc>
                <a:extLst>
                  <a:ext uri="{0D108BD9-81ED-4DB2-BD59-A6C34878D82A}">
                    <a16:rowId xmlns:a16="http://schemas.microsoft.com/office/drawing/2014/main" val="10002"/>
                  </a:ext>
                </a:extLst>
              </a:tr>
              <a:tr h="320040">
                <a:tc>
                  <a:txBody>
                    <a:bodyPr/>
                    <a:lstStyle/>
                    <a:p>
                      <a:pPr>
                        <a:defRPr sz="1300">
                          <a:solidFill>
                            <a:srgbClr val="1A1A1A"/>
                          </a:solidFill>
                        </a:defRPr>
                      </a:pPr>
                      <a:r>
                        <a:t>LLDCs</a:t>
                      </a:r>
                    </a:p>
                  </a:txBody>
                  <a:tcPr/>
                </a:tc>
                <a:tc>
                  <a:txBody>
                    <a:bodyPr/>
                    <a:lstStyle/>
                    <a:p>
                      <a:pPr>
                        <a:defRPr sz="1300">
                          <a:solidFill>
                            <a:srgbClr val="1A1A1A"/>
                          </a:solidFill>
                        </a:defRPr>
                      </a:pPr>
                      <a:r>
                        <a:t>32</a:t>
                      </a:r>
                    </a:p>
                  </a:txBody>
                  <a:tcPr/>
                </a:tc>
                <a:tc>
                  <a:txBody>
                    <a:bodyPr/>
                    <a:lstStyle/>
                    <a:p>
                      <a:pPr>
                        <a:defRPr sz="1300">
                          <a:solidFill>
                            <a:srgbClr val="1A1A1A"/>
                          </a:solidFill>
                        </a:defRPr>
                      </a:pPr>
                      <a:r>
                        <a:t>235,701</a:t>
                      </a:r>
                    </a:p>
                  </a:txBody>
                  <a:tcPr/>
                </a:tc>
                <a:tc>
                  <a:txBody>
                    <a:bodyPr/>
                    <a:lstStyle/>
                    <a:p>
                      <a:pPr>
                        <a:defRPr sz="1300">
                          <a:solidFill>
                            <a:srgbClr val="1A1A1A"/>
                          </a:solidFill>
                        </a:defRPr>
                      </a:pPr>
                      <a:r>
                        <a:t>1.2%</a:t>
                      </a:r>
                    </a:p>
                  </a:txBody>
                  <a:tcPr/>
                </a:tc>
                <a:extLst>
                  <a:ext uri="{0D108BD9-81ED-4DB2-BD59-A6C34878D82A}">
                    <a16:rowId xmlns:a16="http://schemas.microsoft.com/office/drawing/2014/main" val="10003"/>
                  </a:ext>
                </a:extLst>
              </a:tr>
            </a:tbl>
          </a:graphicData>
        </a:graphic>
      </p:graphicFrame>
      <p:sp>
        <p:nvSpPr>
          <p:cNvPr id="5" name="TextBox 4"/>
          <p:cNvSpPr txBox="1"/>
          <p:nvPr/>
        </p:nvSpPr>
        <p:spPr>
          <a:xfrm>
            <a:off x="6217920" y="1554480"/>
            <a:ext cx="5486400" cy="784830"/>
          </a:xfrm>
          <a:prstGeom prst="rect">
            <a:avLst/>
          </a:prstGeom>
          <a:noFill/>
        </p:spPr>
        <p:txBody>
          <a:bodyPr wrap="square">
            <a:spAutoFit/>
          </a:bodyPr>
          <a:lstStyle/>
          <a:p>
            <a:pPr>
              <a:spcBef>
                <a:spcPts val="1200"/>
              </a:spcBef>
              <a:defRPr sz="2000" b="1">
                <a:solidFill>
                  <a:srgbClr val="E15759"/>
                </a:solidFill>
              </a:defRPr>
            </a:pPr>
            <a:r>
              <a:rPr dirty="0"/>
              <a:t>47 LDCs combined: 527,519 records</a:t>
            </a:r>
          </a:p>
          <a:p>
            <a:pPr>
              <a:spcBef>
                <a:spcPts val="600"/>
              </a:spcBef>
              <a:defRPr sz="2000" b="1">
                <a:solidFill>
                  <a:srgbClr val="4E79A7"/>
                </a:solidFill>
              </a:defRPr>
            </a:pPr>
            <a:r>
              <a:rPr dirty="0"/>
              <a:t>Canada alone: 530,725 records</a:t>
            </a:r>
          </a:p>
        </p:txBody>
      </p:sp>
      <p:sp>
        <p:nvSpPr>
          <p:cNvPr id="6" name="TextBox 5"/>
          <p:cNvSpPr txBox="1"/>
          <p:nvPr/>
        </p:nvSpPr>
        <p:spPr>
          <a:xfrm>
            <a:off x="731520" y="4114800"/>
            <a:ext cx="10515600" cy="1026756"/>
          </a:xfrm>
          <a:prstGeom prst="rect">
            <a:avLst/>
          </a:prstGeom>
          <a:noFill/>
        </p:spPr>
        <p:txBody>
          <a:bodyPr wrap="square">
            <a:spAutoFit/>
          </a:bodyPr>
          <a:lstStyle/>
          <a:p>
            <a:pPr>
              <a:lnSpc>
                <a:spcPct val="130000"/>
              </a:lnSpc>
              <a:spcBef>
                <a:spcPts val="800"/>
              </a:spcBef>
              <a:defRPr sz="1600" b="0">
                <a:solidFill>
                  <a:srgbClr val="1A1A1A"/>
                </a:solidFill>
              </a:defRPr>
            </a:pPr>
            <a:r>
              <a:rPr dirty="0"/>
              <a:t>LDC records are highly volatile. A 407 per cent surge in 2022 was driven by a few large projects, not broad-based capacity growth. The following year, LDC records fell by 71 per cent. This illustrates how dependent these counts are on individual projects and funding cycles, rather than durable institutional capacity.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Regional distribution</a:t>
            </a:r>
          </a:p>
          <a:p>
            <a:pPr>
              <a:spcBef>
                <a:spcPts val="400"/>
              </a:spcBef>
              <a:defRPr sz="1600">
                <a:solidFill>
                  <a:srgbClr val="666666"/>
                </a:solidFill>
              </a:defRPr>
            </a:pPr>
            <a:r>
              <a:t>Europe dominates, Africa persists at the bottom</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554480"/>
          <a:ext cx="5486400" cy="192024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20040">
                <a:tc>
                  <a:txBody>
                    <a:bodyPr/>
                    <a:lstStyle/>
                    <a:p>
                      <a:pPr>
                        <a:defRPr sz="1400" b="1">
                          <a:solidFill>
                            <a:srgbClr val="FFFFFF"/>
                          </a:solidFill>
                        </a:defRPr>
                      </a:pPr>
                      <a:r>
                        <a:t>Region</a:t>
                      </a:r>
                    </a:p>
                  </a:txBody>
                  <a:tcPr>
                    <a:solidFill>
                      <a:srgbClr val="1F4E79"/>
                    </a:solidFill>
                  </a:tcPr>
                </a:tc>
                <a:tc>
                  <a:txBody>
                    <a:bodyPr/>
                    <a:lstStyle/>
                    <a:p>
                      <a:pPr>
                        <a:defRPr sz="1400" b="1">
                          <a:solidFill>
                            <a:srgbClr val="FFFFFF"/>
                          </a:solidFill>
                        </a:defRPr>
                      </a:pPr>
                      <a:r>
                        <a:t>Countries</a:t>
                      </a:r>
                    </a:p>
                  </a:txBody>
                  <a:tcPr>
                    <a:solidFill>
                      <a:srgbClr val="1F4E79"/>
                    </a:solidFill>
                  </a:tcPr>
                </a:tc>
                <a:tc>
                  <a:txBody>
                    <a:bodyPr/>
                    <a:lstStyle/>
                    <a:p>
                      <a:pPr>
                        <a:defRPr sz="1400" b="1">
                          <a:solidFill>
                            <a:srgbClr val="FFFFFF"/>
                          </a:solidFill>
                        </a:defRPr>
                      </a:pPr>
                      <a:r>
                        <a:t>Records</a:t>
                      </a:r>
                    </a:p>
                  </a:txBody>
                  <a:tcPr>
                    <a:solidFill>
                      <a:srgbClr val="1F4E79"/>
                    </a:solidFill>
                  </a:tcPr>
                </a:tc>
                <a:tc>
                  <a:txBody>
                    <a:bodyPr/>
                    <a:lstStyle/>
                    <a:p>
                      <a:pPr>
                        <a:defRPr sz="1400" b="1">
                          <a:solidFill>
                            <a:srgbClr val="FFFFFF"/>
                          </a:solidFill>
                        </a:defRPr>
                      </a:pPr>
                      <a:r>
                        <a:t>Share</a:t>
                      </a:r>
                    </a:p>
                  </a:txBody>
                  <a:tcPr>
                    <a:solidFill>
                      <a:srgbClr val="1F4E79"/>
                    </a:solidFill>
                  </a:tcPr>
                </a:tc>
                <a:extLst>
                  <a:ext uri="{0D108BD9-81ED-4DB2-BD59-A6C34878D82A}">
                    <a16:rowId xmlns:a16="http://schemas.microsoft.com/office/drawing/2014/main" val="10000"/>
                  </a:ext>
                </a:extLst>
              </a:tr>
              <a:tr h="320040">
                <a:tc>
                  <a:txBody>
                    <a:bodyPr/>
                    <a:lstStyle/>
                    <a:p>
                      <a:pPr>
                        <a:defRPr sz="1300">
                          <a:solidFill>
                            <a:srgbClr val="1A1A1A"/>
                          </a:solidFill>
                        </a:defRPr>
                      </a:pPr>
                      <a:r>
                        <a:t>Europe</a:t>
                      </a:r>
                    </a:p>
                  </a:txBody>
                  <a:tcPr/>
                </a:tc>
                <a:tc>
                  <a:txBody>
                    <a:bodyPr/>
                    <a:lstStyle/>
                    <a:p>
                      <a:pPr>
                        <a:defRPr sz="1300">
                          <a:solidFill>
                            <a:srgbClr val="1A1A1A"/>
                          </a:solidFill>
                        </a:defRPr>
                      </a:pPr>
                      <a:r>
                        <a:t>49</a:t>
                      </a:r>
                    </a:p>
                  </a:txBody>
                  <a:tcPr/>
                </a:tc>
                <a:tc>
                  <a:txBody>
                    <a:bodyPr/>
                    <a:lstStyle/>
                    <a:p>
                      <a:pPr>
                        <a:defRPr sz="1300">
                          <a:solidFill>
                            <a:srgbClr val="1A1A1A"/>
                          </a:solidFill>
                        </a:defRPr>
                      </a:pPr>
                      <a:r>
                        <a:t>7,768,889</a:t>
                      </a:r>
                    </a:p>
                  </a:txBody>
                  <a:tcPr/>
                </a:tc>
                <a:tc>
                  <a:txBody>
                    <a:bodyPr/>
                    <a:lstStyle/>
                    <a:p>
                      <a:pPr>
                        <a:defRPr sz="1300">
                          <a:solidFill>
                            <a:srgbClr val="1A1A1A"/>
                          </a:solidFill>
                        </a:defRPr>
                      </a:pPr>
                      <a:r>
                        <a:t>40.9%</a:t>
                      </a:r>
                    </a:p>
                  </a:txBody>
                  <a:tcPr/>
                </a:tc>
                <a:extLst>
                  <a:ext uri="{0D108BD9-81ED-4DB2-BD59-A6C34878D82A}">
                    <a16:rowId xmlns:a16="http://schemas.microsoft.com/office/drawing/2014/main" val="10001"/>
                  </a:ext>
                </a:extLst>
              </a:tr>
              <a:tr h="320040">
                <a:tc>
                  <a:txBody>
                    <a:bodyPr/>
                    <a:lstStyle/>
                    <a:p>
                      <a:pPr>
                        <a:defRPr sz="1300">
                          <a:solidFill>
                            <a:srgbClr val="1A1A1A"/>
                          </a:solidFill>
                        </a:defRPr>
                      </a:pPr>
                      <a:r>
                        <a:t>Americas</a:t>
                      </a:r>
                    </a:p>
                  </a:txBody>
                  <a:tcPr>
                    <a:solidFill>
                      <a:srgbClr val="F5F8FC"/>
                    </a:solidFill>
                  </a:tcPr>
                </a:tc>
                <a:tc>
                  <a:txBody>
                    <a:bodyPr/>
                    <a:lstStyle/>
                    <a:p>
                      <a:pPr>
                        <a:defRPr sz="1300">
                          <a:solidFill>
                            <a:srgbClr val="1A1A1A"/>
                          </a:solidFill>
                        </a:defRPr>
                      </a:pPr>
                      <a:r>
                        <a:t>53</a:t>
                      </a:r>
                    </a:p>
                  </a:txBody>
                  <a:tcPr>
                    <a:solidFill>
                      <a:srgbClr val="F5F8FC"/>
                    </a:solidFill>
                  </a:tcPr>
                </a:tc>
                <a:tc>
                  <a:txBody>
                    <a:bodyPr/>
                    <a:lstStyle/>
                    <a:p>
                      <a:pPr>
                        <a:defRPr sz="1300">
                          <a:solidFill>
                            <a:srgbClr val="1A1A1A"/>
                          </a:solidFill>
                        </a:defRPr>
                      </a:pPr>
                      <a:r>
                        <a:t>5,217,623</a:t>
                      </a:r>
                    </a:p>
                  </a:txBody>
                  <a:tcPr>
                    <a:solidFill>
                      <a:srgbClr val="F5F8FC"/>
                    </a:solidFill>
                  </a:tcPr>
                </a:tc>
                <a:tc>
                  <a:txBody>
                    <a:bodyPr/>
                    <a:lstStyle/>
                    <a:p>
                      <a:pPr>
                        <a:defRPr sz="1300">
                          <a:solidFill>
                            <a:srgbClr val="1A1A1A"/>
                          </a:solidFill>
                        </a:defRPr>
                      </a:pPr>
                      <a:r>
                        <a:t>27.5%</a:t>
                      </a:r>
                    </a:p>
                  </a:txBody>
                  <a:tcPr>
                    <a:solidFill>
                      <a:srgbClr val="F5F8FC"/>
                    </a:solidFill>
                  </a:tcPr>
                </a:tc>
                <a:extLst>
                  <a:ext uri="{0D108BD9-81ED-4DB2-BD59-A6C34878D82A}">
                    <a16:rowId xmlns:a16="http://schemas.microsoft.com/office/drawing/2014/main" val="10002"/>
                  </a:ext>
                </a:extLst>
              </a:tr>
              <a:tr h="320040">
                <a:tc>
                  <a:txBody>
                    <a:bodyPr/>
                    <a:lstStyle/>
                    <a:p>
                      <a:pPr>
                        <a:defRPr sz="1300">
                          <a:solidFill>
                            <a:srgbClr val="1A1A1A"/>
                          </a:solidFill>
                        </a:defRPr>
                      </a:pPr>
                      <a:r>
                        <a:t>Asia</a:t>
                      </a:r>
                    </a:p>
                  </a:txBody>
                  <a:tcPr/>
                </a:tc>
                <a:tc>
                  <a:txBody>
                    <a:bodyPr/>
                    <a:lstStyle/>
                    <a:p>
                      <a:pPr>
                        <a:defRPr sz="1300">
                          <a:solidFill>
                            <a:srgbClr val="1A1A1A"/>
                          </a:solidFill>
                        </a:defRPr>
                      </a:pPr>
                      <a:r>
                        <a:t>50</a:t>
                      </a:r>
                    </a:p>
                  </a:txBody>
                  <a:tcPr/>
                </a:tc>
                <a:tc>
                  <a:txBody>
                    <a:bodyPr/>
                    <a:lstStyle/>
                    <a:p>
                      <a:pPr>
                        <a:defRPr sz="1300">
                          <a:solidFill>
                            <a:srgbClr val="1A1A1A"/>
                          </a:solidFill>
                        </a:defRPr>
                      </a:pPr>
                      <a:r>
                        <a:t>4,654,034</a:t>
                      </a:r>
                    </a:p>
                  </a:txBody>
                  <a:tcPr/>
                </a:tc>
                <a:tc>
                  <a:txBody>
                    <a:bodyPr/>
                    <a:lstStyle/>
                    <a:p>
                      <a:pPr>
                        <a:defRPr sz="1300">
                          <a:solidFill>
                            <a:srgbClr val="1A1A1A"/>
                          </a:solidFill>
                        </a:defRPr>
                      </a:pPr>
                      <a:r>
                        <a:t>24.5%</a:t>
                      </a:r>
                    </a:p>
                  </a:txBody>
                  <a:tcPr/>
                </a:tc>
                <a:extLst>
                  <a:ext uri="{0D108BD9-81ED-4DB2-BD59-A6C34878D82A}">
                    <a16:rowId xmlns:a16="http://schemas.microsoft.com/office/drawing/2014/main" val="10003"/>
                  </a:ext>
                </a:extLst>
              </a:tr>
              <a:tr h="320040">
                <a:tc>
                  <a:txBody>
                    <a:bodyPr/>
                    <a:lstStyle/>
                    <a:p>
                      <a:pPr>
                        <a:defRPr sz="1300">
                          <a:solidFill>
                            <a:srgbClr val="1A1A1A"/>
                          </a:solidFill>
                        </a:defRPr>
                      </a:pPr>
                      <a:r>
                        <a:t>Africa</a:t>
                      </a:r>
                    </a:p>
                  </a:txBody>
                  <a:tcPr>
                    <a:solidFill>
                      <a:srgbClr val="F5F8FC"/>
                    </a:solidFill>
                  </a:tcPr>
                </a:tc>
                <a:tc>
                  <a:txBody>
                    <a:bodyPr/>
                    <a:lstStyle/>
                    <a:p>
                      <a:pPr>
                        <a:defRPr sz="1300">
                          <a:solidFill>
                            <a:srgbClr val="1A1A1A"/>
                          </a:solidFill>
                        </a:defRPr>
                      </a:pPr>
                      <a:r>
                        <a:t>58</a:t>
                      </a:r>
                    </a:p>
                  </a:txBody>
                  <a:tcPr>
                    <a:solidFill>
                      <a:srgbClr val="F5F8FC"/>
                    </a:solidFill>
                  </a:tcPr>
                </a:tc>
                <a:tc>
                  <a:txBody>
                    <a:bodyPr/>
                    <a:lstStyle/>
                    <a:p>
                      <a:pPr>
                        <a:defRPr sz="1300">
                          <a:solidFill>
                            <a:srgbClr val="1A1A1A"/>
                          </a:solidFill>
                        </a:defRPr>
                      </a:pPr>
                      <a:r>
                        <a:t>688,721</a:t>
                      </a:r>
                    </a:p>
                  </a:txBody>
                  <a:tcPr>
                    <a:solidFill>
                      <a:srgbClr val="F5F8FC"/>
                    </a:solidFill>
                  </a:tcPr>
                </a:tc>
                <a:tc>
                  <a:txBody>
                    <a:bodyPr/>
                    <a:lstStyle/>
                    <a:p>
                      <a:pPr>
                        <a:defRPr sz="1300">
                          <a:solidFill>
                            <a:srgbClr val="1A1A1A"/>
                          </a:solidFill>
                        </a:defRPr>
                      </a:pPr>
                      <a:r>
                        <a:t>3.6%</a:t>
                      </a:r>
                    </a:p>
                  </a:txBody>
                  <a:tcPr>
                    <a:solidFill>
                      <a:srgbClr val="F5F8FC"/>
                    </a:solidFill>
                  </a:tcPr>
                </a:tc>
                <a:extLst>
                  <a:ext uri="{0D108BD9-81ED-4DB2-BD59-A6C34878D82A}">
                    <a16:rowId xmlns:a16="http://schemas.microsoft.com/office/drawing/2014/main" val="10004"/>
                  </a:ext>
                </a:extLst>
              </a:tr>
              <a:tr h="320040">
                <a:tc>
                  <a:txBody>
                    <a:bodyPr/>
                    <a:lstStyle/>
                    <a:p>
                      <a:pPr>
                        <a:defRPr sz="1300">
                          <a:solidFill>
                            <a:srgbClr val="1A1A1A"/>
                          </a:solidFill>
                        </a:defRPr>
                      </a:pPr>
                      <a:r>
                        <a:t>Oceania</a:t>
                      </a:r>
                    </a:p>
                  </a:txBody>
                  <a:tcPr/>
                </a:tc>
                <a:tc>
                  <a:txBody>
                    <a:bodyPr/>
                    <a:lstStyle/>
                    <a:p>
                      <a:pPr>
                        <a:defRPr sz="1300">
                          <a:solidFill>
                            <a:srgbClr val="1A1A1A"/>
                          </a:solidFill>
                        </a:defRPr>
                      </a:pPr>
                      <a:r>
                        <a:t>26</a:t>
                      </a:r>
                    </a:p>
                  </a:txBody>
                  <a:tcPr/>
                </a:tc>
                <a:tc>
                  <a:txBody>
                    <a:bodyPr/>
                    <a:lstStyle/>
                    <a:p>
                      <a:pPr>
                        <a:defRPr sz="1300">
                          <a:solidFill>
                            <a:srgbClr val="1A1A1A"/>
                          </a:solidFill>
                        </a:defRPr>
                      </a:pPr>
                      <a:r>
                        <a:t>605,378</a:t>
                      </a:r>
                    </a:p>
                  </a:txBody>
                  <a:tcPr/>
                </a:tc>
                <a:tc>
                  <a:txBody>
                    <a:bodyPr/>
                    <a:lstStyle/>
                    <a:p>
                      <a:pPr>
                        <a:defRPr sz="1300">
                          <a:solidFill>
                            <a:srgbClr val="1A1A1A"/>
                          </a:solidFill>
                        </a:defRPr>
                      </a:pPr>
                      <a:r>
                        <a:t>3.2%</a:t>
                      </a:r>
                    </a:p>
                  </a:txBody>
                  <a:tcPr/>
                </a:tc>
                <a:extLst>
                  <a:ext uri="{0D108BD9-81ED-4DB2-BD59-A6C34878D82A}">
                    <a16:rowId xmlns:a16="http://schemas.microsoft.com/office/drawing/2014/main" val="10005"/>
                  </a:ext>
                </a:extLst>
              </a:tr>
            </a:tbl>
          </a:graphicData>
        </a:graphic>
      </p:graphicFrame>
      <p:sp>
        <p:nvSpPr>
          <p:cNvPr id="5" name="TextBox 4"/>
          <p:cNvSpPr txBox="1"/>
          <p:nvPr/>
        </p:nvSpPr>
        <p:spPr>
          <a:xfrm>
            <a:off x="6583680" y="1554480"/>
            <a:ext cx="5303520" cy="3152466"/>
          </a:xfrm>
          <a:prstGeom prst="rect">
            <a:avLst/>
          </a:prstGeom>
          <a:noFill/>
        </p:spPr>
        <p:txBody>
          <a:bodyPr wrap="square">
            <a:spAutoFit/>
          </a:bodyPr>
          <a:lstStyle/>
          <a:p>
            <a:pPr>
              <a:lnSpc>
                <a:spcPct val="130000"/>
              </a:lnSpc>
              <a:spcBef>
                <a:spcPts val="800"/>
              </a:spcBef>
              <a:defRPr sz="1600" b="0">
                <a:solidFill>
                  <a:srgbClr val="1A1A1A"/>
                </a:solidFill>
              </a:defRPr>
            </a:pPr>
            <a:r>
              <a:rPr dirty="0"/>
              <a:t>Europe holds 40.9 per cent of all country-attributed records, more than any other region. This is heavily influenced by the United Kingdom</a:t>
            </a:r>
            <a:r>
              <a:rPr lang="en-GB" dirty="0"/>
              <a:t>. </a:t>
            </a:r>
            <a:r>
              <a:rPr dirty="0"/>
              <a:t>Without the UK, Europe share would fall to approximately 19 per cent, closer to the Americas and Asia.</a:t>
            </a:r>
          </a:p>
          <a:p>
            <a:pPr>
              <a:lnSpc>
                <a:spcPct val="130000"/>
              </a:lnSpc>
              <a:spcBef>
                <a:spcPts val="800"/>
              </a:spcBef>
              <a:defRPr sz="1600" b="0">
                <a:solidFill>
                  <a:srgbClr val="1A1A1A"/>
                </a:solidFill>
              </a:defRPr>
            </a:pPr>
            <a:r>
              <a:rPr dirty="0"/>
              <a:t>Africa, despite having 58 classified countries, holds only 3.6 per cent of records. This share has remained roughly constant throughout the period studied.</a:t>
            </a:r>
          </a:p>
          <a:p>
            <a:pPr>
              <a:lnSpc>
                <a:spcPct val="130000"/>
              </a:lnSpc>
              <a:spcBef>
                <a:spcPts val="800"/>
              </a:spcBef>
              <a:defRPr sz="1600" b="0">
                <a:solidFill>
                  <a:srgbClr val="1A1A1A"/>
                </a:solidFill>
              </a:defRPr>
            </a:pPr>
            <a:r>
              <a:rPr dirty="0"/>
              <a:t>At the sub-regional level, Northern Europe and Northern America together hold over half of all records.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Three countries dominate</a:t>
            </a:r>
          </a:p>
          <a:p>
            <a:pPr>
              <a:spcBef>
                <a:spcPts val="400"/>
              </a:spcBef>
              <a:defRPr sz="1600">
                <a:solidFill>
                  <a:srgbClr val="666666"/>
                </a:solidFill>
              </a:defRPr>
            </a:pPr>
            <a:r>
              <a:t>UK, USA, and China account for over 60 per cent of records</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554480"/>
          <a:ext cx="5486400" cy="352044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20040">
                <a:tc>
                  <a:txBody>
                    <a:bodyPr/>
                    <a:lstStyle/>
                    <a:p>
                      <a:pPr>
                        <a:defRPr sz="1400" b="1">
                          <a:solidFill>
                            <a:srgbClr val="FFFFFF"/>
                          </a:solidFill>
                        </a:defRPr>
                      </a:pPr>
                      <a:r>
                        <a:t>Rank</a:t>
                      </a:r>
                    </a:p>
                  </a:txBody>
                  <a:tcPr>
                    <a:solidFill>
                      <a:srgbClr val="1F4E79"/>
                    </a:solidFill>
                  </a:tcPr>
                </a:tc>
                <a:tc>
                  <a:txBody>
                    <a:bodyPr/>
                    <a:lstStyle/>
                    <a:p>
                      <a:pPr>
                        <a:defRPr sz="1400" b="1">
                          <a:solidFill>
                            <a:srgbClr val="FFFFFF"/>
                          </a:solidFill>
                        </a:defRPr>
                      </a:pPr>
                      <a:r>
                        <a:t>Country</a:t>
                      </a:r>
                    </a:p>
                  </a:txBody>
                  <a:tcPr>
                    <a:solidFill>
                      <a:srgbClr val="1F4E79"/>
                    </a:solidFill>
                  </a:tcPr>
                </a:tc>
                <a:tc>
                  <a:txBody>
                    <a:bodyPr/>
                    <a:lstStyle/>
                    <a:p>
                      <a:pPr>
                        <a:defRPr sz="1400" b="1">
                          <a:solidFill>
                            <a:srgbClr val="FFFFFF"/>
                          </a:solidFill>
                        </a:defRPr>
                      </a:pPr>
                      <a:r>
                        <a:t>Records</a:t>
                      </a:r>
                    </a:p>
                  </a:txBody>
                  <a:tcPr>
                    <a:solidFill>
                      <a:srgbClr val="1F4E79"/>
                    </a:solidFill>
                  </a:tcPr>
                </a:tc>
                <a:tc>
                  <a:txBody>
                    <a:bodyPr/>
                    <a:lstStyle/>
                    <a:p>
                      <a:pPr>
                        <a:defRPr sz="1400" b="1">
                          <a:solidFill>
                            <a:srgbClr val="FFFFFF"/>
                          </a:solidFill>
                        </a:defRPr>
                      </a:pPr>
                      <a:r>
                        <a:t>Share</a:t>
                      </a:r>
                    </a:p>
                  </a:txBody>
                  <a:tcPr>
                    <a:solidFill>
                      <a:srgbClr val="1F4E79"/>
                    </a:solidFill>
                  </a:tcPr>
                </a:tc>
                <a:extLst>
                  <a:ext uri="{0D108BD9-81ED-4DB2-BD59-A6C34878D82A}">
                    <a16:rowId xmlns:a16="http://schemas.microsoft.com/office/drawing/2014/main" val="10000"/>
                  </a:ext>
                </a:extLst>
              </a:tr>
              <a:tr h="320040">
                <a:tc>
                  <a:txBody>
                    <a:bodyPr/>
                    <a:lstStyle/>
                    <a:p>
                      <a:pPr>
                        <a:defRPr sz="1300">
                          <a:solidFill>
                            <a:srgbClr val="1A1A1A"/>
                          </a:solidFill>
                        </a:defRPr>
                      </a:pPr>
                      <a:r>
                        <a:t>1</a:t>
                      </a:r>
                    </a:p>
                  </a:txBody>
                  <a:tcPr/>
                </a:tc>
                <a:tc>
                  <a:txBody>
                    <a:bodyPr/>
                    <a:lstStyle/>
                    <a:p>
                      <a:pPr>
                        <a:defRPr sz="1300">
                          <a:solidFill>
                            <a:srgbClr val="1A1A1A"/>
                          </a:solidFill>
                        </a:defRPr>
                      </a:pPr>
                      <a:r>
                        <a:t>United Kingdom</a:t>
                      </a:r>
                    </a:p>
                  </a:txBody>
                  <a:tcPr/>
                </a:tc>
                <a:tc>
                  <a:txBody>
                    <a:bodyPr/>
                    <a:lstStyle/>
                    <a:p>
                      <a:pPr>
                        <a:defRPr sz="1300">
                          <a:solidFill>
                            <a:srgbClr val="1A1A1A"/>
                          </a:solidFill>
                        </a:defRPr>
                      </a:pPr>
                      <a:r>
                        <a:t>4,143,928</a:t>
                      </a:r>
                    </a:p>
                  </a:txBody>
                  <a:tcPr/>
                </a:tc>
                <a:tc>
                  <a:txBody>
                    <a:bodyPr/>
                    <a:lstStyle/>
                    <a:p>
                      <a:pPr>
                        <a:defRPr sz="1300">
                          <a:solidFill>
                            <a:srgbClr val="1A1A1A"/>
                          </a:solidFill>
                        </a:defRPr>
                      </a:pPr>
                      <a:r>
                        <a:t>21.9%</a:t>
                      </a:r>
                    </a:p>
                  </a:txBody>
                  <a:tcPr/>
                </a:tc>
                <a:extLst>
                  <a:ext uri="{0D108BD9-81ED-4DB2-BD59-A6C34878D82A}">
                    <a16:rowId xmlns:a16="http://schemas.microsoft.com/office/drawing/2014/main" val="10001"/>
                  </a:ext>
                </a:extLst>
              </a:tr>
              <a:tr h="320040">
                <a:tc>
                  <a:txBody>
                    <a:bodyPr/>
                    <a:lstStyle/>
                    <a:p>
                      <a:pPr>
                        <a:defRPr sz="1300">
                          <a:solidFill>
                            <a:srgbClr val="1A1A1A"/>
                          </a:solidFill>
                        </a:defRPr>
                      </a:pPr>
                      <a:r>
                        <a:t>2</a:t>
                      </a:r>
                    </a:p>
                  </a:txBody>
                  <a:tcPr>
                    <a:solidFill>
                      <a:srgbClr val="F5F8FC"/>
                    </a:solidFill>
                  </a:tcPr>
                </a:tc>
                <a:tc>
                  <a:txBody>
                    <a:bodyPr/>
                    <a:lstStyle/>
                    <a:p>
                      <a:pPr>
                        <a:defRPr sz="1300">
                          <a:solidFill>
                            <a:srgbClr val="1A1A1A"/>
                          </a:solidFill>
                        </a:defRPr>
                      </a:pPr>
                      <a:r>
                        <a:t>United States</a:t>
                      </a:r>
                    </a:p>
                  </a:txBody>
                  <a:tcPr>
                    <a:solidFill>
                      <a:srgbClr val="F5F8FC"/>
                    </a:solidFill>
                  </a:tcPr>
                </a:tc>
                <a:tc>
                  <a:txBody>
                    <a:bodyPr/>
                    <a:lstStyle/>
                    <a:p>
                      <a:pPr>
                        <a:defRPr sz="1300">
                          <a:solidFill>
                            <a:srgbClr val="1A1A1A"/>
                          </a:solidFill>
                        </a:defRPr>
                      </a:pPr>
                      <a:r>
                        <a:t>4,018,537</a:t>
                      </a:r>
                    </a:p>
                  </a:txBody>
                  <a:tcPr>
                    <a:solidFill>
                      <a:srgbClr val="F5F8FC"/>
                    </a:solidFill>
                  </a:tcPr>
                </a:tc>
                <a:tc>
                  <a:txBody>
                    <a:bodyPr/>
                    <a:lstStyle/>
                    <a:p>
                      <a:pPr>
                        <a:defRPr sz="1300">
                          <a:solidFill>
                            <a:srgbClr val="1A1A1A"/>
                          </a:solidFill>
                        </a:defRPr>
                      </a:pPr>
                      <a:r>
                        <a:t>21.2%</a:t>
                      </a:r>
                    </a:p>
                  </a:txBody>
                  <a:tcPr>
                    <a:solidFill>
                      <a:srgbClr val="F5F8FC"/>
                    </a:solidFill>
                  </a:tcPr>
                </a:tc>
                <a:extLst>
                  <a:ext uri="{0D108BD9-81ED-4DB2-BD59-A6C34878D82A}">
                    <a16:rowId xmlns:a16="http://schemas.microsoft.com/office/drawing/2014/main" val="10002"/>
                  </a:ext>
                </a:extLst>
              </a:tr>
              <a:tr h="320040">
                <a:tc>
                  <a:txBody>
                    <a:bodyPr/>
                    <a:lstStyle/>
                    <a:p>
                      <a:pPr>
                        <a:defRPr sz="1300">
                          <a:solidFill>
                            <a:srgbClr val="1A1A1A"/>
                          </a:solidFill>
                        </a:defRPr>
                      </a:pPr>
                      <a:r>
                        <a:t>3</a:t>
                      </a:r>
                    </a:p>
                  </a:txBody>
                  <a:tcPr/>
                </a:tc>
                <a:tc>
                  <a:txBody>
                    <a:bodyPr/>
                    <a:lstStyle/>
                    <a:p>
                      <a:pPr>
                        <a:defRPr sz="1300">
                          <a:solidFill>
                            <a:srgbClr val="1A1A1A"/>
                          </a:solidFill>
                        </a:defRPr>
                      </a:pPr>
                      <a:r>
                        <a:t>China</a:t>
                      </a:r>
                    </a:p>
                  </a:txBody>
                  <a:tcPr/>
                </a:tc>
                <a:tc>
                  <a:txBody>
                    <a:bodyPr/>
                    <a:lstStyle/>
                    <a:p>
                      <a:pPr>
                        <a:defRPr sz="1300">
                          <a:solidFill>
                            <a:srgbClr val="1A1A1A"/>
                          </a:solidFill>
                        </a:defRPr>
                      </a:pPr>
                      <a:r>
                        <a:t>3,357,157</a:t>
                      </a:r>
                    </a:p>
                  </a:txBody>
                  <a:tcPr/>
                </a:tc>
                <a:tc>
                  <a:txBody>
                    <a:bodyPr/>
                    <a:lstStyle/>
                    <a:p>
                      <a:pPr>
                        <a:defRPr sz="1300">
                          <a:solidFill>
                            <a:srgbClr val="1A1A1A"/>
                          </a:solidFill>
                        </a:defRPr>
                      </a:pPr>
                      <a:r>
                        <a:t>17.7%</a:t>
                      </a:r>
                    </a:p>
                  </a:txBody>
                  <a:tcPr/>
                </a:tc>
                <a:extLst>
                  <a:ext uri="{0D108BD9-81ED-4DB2-BD59-A6C34878D82A}">
                    <a16:rowId xmlns:a16="http://schemas.microsoft.com/office/drawing/2014/main" val="10003"/>
                  </a:ext>
                </a:extLst>
              </a:tr>
              <a:tr h="320040">
                <a:tc>
                  <a:txBody>
                    <a:bodyPr/>
                    <a:lstStyle/>
                    <a:p>
                      <a:pPr>
                        <a:defRPr sz="1300">
                          <a:solidFill>
                            <a:srgbClr val="1A1A1A"/>
                          </a:solidFill>
                        </a:defRPr>
                      </a:pPr>
                      <a:r>
                        <a:t>4</a:t>
                      </a:r>
                    </a:p>
                  </a:txBody>
                  <a:tcPr>
                    <a:solidFill>
                      <a:srgbClr val="F5F8FC"/>
                    </a:solidFill>
                  </a:tcPr>
                </a:tc>
                <a:tc>
                  <a:txBody>
                    <a:bodyPr/>
                    <a:lstStyle/>
                    <a:p>
                      <a:pPr>
                        <a:defRPr sz="1300">
                          <a:solidFill>
                            <a:srgbClr val="1A1A1A"/>
                          </a:solidFill>
                        </a:defRPr>
                      </a:pPr>
                      <a:r>
                        <a:t>Canada</a:t>
                      </a:r>
                    </a:p>
                  </a:txBody>
                  <a:tcPr>
                    <a:solidFill>
                      <a:srgbClr val="F5F8FC"/>
                    </a:solidFill>
                  </a:tcPr>
                </a:tc>
                <a:tc>
                  <a:txBody>
                    <a:bodyPr/>
                    <a:lstStyle/>
                    <a:p>
                      <a:pPr>
                        <a:defRPr sz="1300">
                          <a:solidFill>
                            <a:srgbClr val="1A1A1A"/>
                          </a:solidFill>
                        </a:defRPr>
                      </a:pPr>
                      <a:r>
                        <a:t>530,725</a:t>
                      </a:r>
                    </a:p>
                  </a:txBody>
                  <a:tcPr>
                    <a:solidFill>
                      <a:srgbClr val="F5F8FC"/>
                    </a:solidFill>
                  </a:tcPr>
                </a:tc>
                <a:tc>
                  <a:txBody>
                    <a:bodyPr/>
                    <a:lstStyle/>
                    <a:p>
                      <a:pPr>
                        <a:defRPr sz="1300">
                          <a:solidFill>
                            <a:srgbClr val="1A1A1A"/>
                          </a:solidFill>
                        </a:defRPr>
                      </a:pPr>
                      <a:r>
                        <a:t>2.8%</a:t>
                      </a:r>
                    </a:p>
                  </a:txBody>
                  <a:tcPr>
                    <a:solidFill>
                      <a:srgbClr val="F5F8FC"/>
                    </a:solidFill>
                  </a:tcPr>
                </a:tc>
                <a:extLst>
                  <a:ext uri="{0D108BD9-81ED-4DB2-BD59-A6C34878D82A}">
                    <a16:rowId xmlns:a16="http://schemas.microsoft.com/office/drawing/2014/main" val="10004"/>
                  </a:ext>
                </a:extLst>
              </a:tr>
              <a:tr h="320040">
                <a:tc>
                  <a:txBody>
                    <a:bodyPr/>
                    <a:lstStyle/>
                    <a:p>
                      <a:pPr>
                        <a:defRPr sz="1300">
                          <a:solidFill>
                            <a:srgbClr val="1A1A1A"/>
                          </a:solidFill>
                        </a:defRPr>
                      </a:pPr>
                      <a:r>
                        <a:t>5</a:t>
                      </a:r>
                    </a:p>
                  </a:txBody>
                  <a:tcPr/>
                </a:tc>
                <a:tc>
                  <a:txBody>
                    <a:bodyPr/>
                    <a:lstStyle/>
                    <a:p>
                      <a:pPr>
                        <a:defRPr sz="1300">
                          <a:solidFill>
                            <a:srgbClr val="1A1A1A"/>
                          </a:solidFill>
                        </a:defRPr>
                      </a:pPr>
                      <a:r>
                        <a:t>Germany</a:t>
                      </a:r>
                    </a:p>
                  </a:txBody>
                  <a:tcPr/>
                </a:tc>
                <a:tc>
                  <a:txBody>
                    <a:bodyPr/>
                    <a:lstStyle/>
                    <a:p>
                      <a:pPr>
                        <a:defRPr sz="1300">
                          <a:solidFill>
                            <a:srgbClr val="1A1A1A"/>
                          </a:solidFill>
                        </a:defRPr>
                      </a:pPr>
                      <a:r>
                        <a:t>510,489</a:t>
                      </a:r>
                    </a:p>
                  </a:txBody>
                  <a:tcPr/>
                </a:tc>
                <a:tc>
                  <a:txBody>
                    <a:bodyPr/>
                    <a:lstStyle/>
                    <a:p>
                      <a:pPr>
                        <a:defRPr sz="1300">
                          <a:solidFill>
                            <a:srgbClr val="1A1A1A"/>
                          </a:solidFill>
                        </a:defRPr>
                      </a:pPr>
                      <a:r>
                        <a:t>2.7%</a:t>
                      </a:r>
                    </a:p>
                  </a:txBody>
                  <a:tcPr/>
                </a:tc>
                <a:extLst>
                  <a:ext uri="{0D108BD9-81ED-4DB2-BD59-A6C34878D82A}">
                    <a16:rowId xmlns:a16="http://schemas.microsoft.com/office/drawing/2014/main" val="10005"/>
                  </a:ext>
                </a:extLst>
              </a:tr>
              <a:tr h="320040">
                <a:tc>
                  <a:txBody>
                    <a:bodyPr/>
                    <a:lstStyle/>
                    <a:p>
                      <a:pPr>
                        <a:defRPr sz="1300">
                          <a:solidFill>
                            <a:srgbClr val="1A1A1A"/>
                          </a:solidFill>
                        </a:defRPr>
                      </a:pPr>
                      <a:r>
                        <a:t>6</a:t>
                      </a:r>
                    </a:p>
                  </a:txBody>
                  <a:tcPr>
                    <a:solidFill>
                      <a:srgbClr val="F5F8FC"/>
                    </a:solidFill>
                  </a:tcPr>
                </a:tc>
                <a:tc>
                  <a:txBody>
                    <a:bodyPr/>
                    <a:lstStyle/>
                    <a:p>
                      <a:pPr>
                        <a:defRPr sz="1300">
                          <a:solidFill>
                            <a:srgbClr val="1A1A1A"/>
                          </a:solidFill>
                        </a:defRPr>
                      </a:pPr>
                      <a:r>
                        <a:t>Australia</a:t>
                      </a:r>
                    </a:p>
                  </a:txBody>
                  <a:tcPr>
                    <a:solidFill>
                      <a:srgbClr val="F5F8FC"/>
                    </a:solidFill>
                  </a:tcPr>
                </a:tc>
                <a:tc>
                  <a:txBody>
                    <a:bodyPr/>
                    <a:lstStyle/>
                    <a:p>
                      <a:pPr>
                        <a:defRPr sz="1300">
                          <a:solidFill>
                            <a:srgbClr val="1A1A1A"/>
                          </a:solidFill>
                        </a:defRPr>
                      </a:pPr>
                      <a:r>
                        <a:t>424,457</a:t>
                      </a:r>
                    </a:p>
                  </a:txBody>
                  <a:tcPr>
                    <a:solidFill>
                      <a:srgbClr val="F5F8FC"/>
                    </a:solidFill>
                  </a:tcPr>
                </a:tc>
                <a:tc>
                  <a:txBody>
                    <a:bodyPr/>
                    <a:lstStyle/>
                    <a:p>
                      <a:pPr>
                        <a:defRPr sz="1300">
                          <a:solidFill>
                            <a:srgbClr val="1A1A1A"/>
                          </a:solidFill>
                        </a:defRPr>
                      </a:pPr>
                      <a:r>
                        <a:t>2.2%</a:t>
                      </a:r>
                    </a:p>
                  </a:txBody>
                  <a:tcPr>
                    <a:solidFill>
                      <a:srgbClr val="F5F8FC"/>
                    </a:solidFill>
                  </a:tcPr>
                </a:tc>
                <a:extLst>
                  <a:ext uri="{0D108BD9-81ED-4DB2-BD59-A6C34878D82A}">
                    <a16:rowId xmlns:a16="http://schemas.microsoft.com/office/drawing/2014/main" val="10006"/>
                  </a:ext>
                </a:extLst>
              </a:tr>
              <a:tr h="320040">
                <a:tc>
                  <a:txBody>
                    <a:bodyPr/>
                    <a:lstStyle/>
                    <a:p>
                      <a:pPr>
                        <a:defRPr sz="1300">
                          <a:solidFill>
                            <a:srgbClr val="1A1A1A"/>
                          </a:solidFill>
                        </a:defRPr>
                      </a:pPr>
                      <a:r>
                        <a:t>7</a:t>
                      </a:r>
                    </a:p>
                  </a:txBody>
                  <a:tcPr/>
                </a:tc>
                <a:tc>
                  <a:txBody>
                    <a:bodyPr/>
                    <a:lstStyle/>
                    <a:p>
                      <a:pPr>
                        <a:defRPr sz="1300">
                          <a:solidFill>
                            <a:srgbClr val="1A1A1A"/>
                          </a:solidFill>
                        </a:defRPr>
                      </a:pPr>
                      <a:r>
                        <a:t>Denmark</a:t>
                      </a:r>
                    </a:p>
                  </a:txBody>
                  <a:tcPr/>
                </a:tc>
                <a:tc>
                  <a:txBody>
                    <a:bodyPr/>
                    <a:lstStyle/>
                    <a:p>
                      <a:pPr>
                        <a:defRPr sz="1300">
                          <a:solidFill>
                            <a:srgbClr val="1A1A1A"/>
                          </a:solidFill>
                        </a:defRPr>
                      </a:pPr>
                      <a:r>
                        <a:t>403,788</a:t>
                      </a:r>
                    </a:p>
                  </a:txBody>
                  <a:tcPr/>
                </a:tc>
                <a:tc>
                  <a:txBody>
                    <a:bodyPr/>
                    <a:lstStyle/>
                    <a:p>
                      <a:pPr>
                        <a:defRPr sz="1300">
                          <a:solidFill>
                            <a:srgbClr val="1A1A1A"/>
                          </a:solidFill>
                        </a:defRPr>
                      </a:pPr>
                      <a:r>
                        <a:t>2.1%</a:t>
                      </a:r>
                    </a:p>
                  </a:txBody>
                  <a:tcPr/>
                </a:tc>
                <a:extLst>
                  <a:ext uri="{0D108BD9-81ED-4DB2-BD59-A6C34878D82A}">
                    <a16:rowId xmlns:a16="http://schemas.microsoft.com/office/drawing/2014/main" val="10007"/>
                  </a:ext>
                </a:extLst>
              </a:tr>
              <a:tr h="320040">
                <a:tc>
                  <a:txBody>
                    <a:bodyPr/>
                    <a:lstStyle/>
                    <a:p>
                      <a:pPr>
                        <a:defRPr sz="1300">
                          <a:solidFill>
                            <a:srgbClr val="1A1A1A"/>
                          </a:solidFill>
                        </a:defRPr>
                      </a:pPr>
                      <a:r>
                        <a:t>8</a:t>
                      </a:r>
                    </a:p>
                  </a:txBody>
                  <a:tcPr>
                    <a:solidFill>
                      <a:srgbClr val="F5F8FC"/>
                    </a:solidFill>
                  </a:tcPr>
                </a:tc>
                <a:tc>
                  <a:txBody>
                    <a:bodyPr/>
                    <a:lstStyle/>
                    <a:p>
                      <a:pPr>
                        <a:defRPr sz="1300">
                          <a:solidFill>
                            <a:srgbClr val="1A1A1A"/>
                          </a:solidFill>
                        </a:defRPr>
                      </a:pPr>
                      <a:r>
                        <a:t>France</a:t>
                      </a:r>
                    </a:p>
                  </a:txBody>
                  <a:tcPr>
                    <a:solidFill>
                      <a:srgbClr val="F5F8FC"/>
                    </a:solidFill>
                  </a:tcPr>
                </a:tc>
                <a:tc>
                  <a:txBody>
                    <a:bodyPr/>
                    <a:lstStyle/>
                    <a:p>
                      <a:pPr>
                        <a:defRPr sz="1300">
                          <a:solidFill>
                            <a:srgbClr val="1A1A1A"/>
                          </a:solidFill>
                        </a:defRPr>
                      </a:pPr>
                      <a:r>
                        <a:t>388,062</a:t>
                      </a:r>
                    </a:p>
                  </a:txBody>
                  <a:tcPr>
                    <a:solidFill>
                      <a:srgbClr val="F5F8FC"/>
                    </a:solidFill>
                  </a:tcPr>
                </a:tc>
                <a:tc>
                  <a:txBody>
                    <a:bodyPr/>
                    <a:lstStyle/>
                    <a:p>
                      <a:pPr>
                        <a:defRPr sz="1300">
                          <a:solidFill>
                            <a:srgbClr val="1A1A1A"/>
                          </a:solidFill>
                        </a:defRPr>
                      </a:pPr>
                      <a:r>
                        <a:t>2.0%</a:t>
                      </a:r>
                    </a:p>
                  </a:txBody>
                  <a:tcPr>
                    <a:solidFill>
                      <a:srgbClr val="F5F8FC"/>
                    </a:solidFill>
                  </a:tcPr>
                </a:tc>
                <a:extLst>
                  <a:ext uri="{0D108BD9-81ED-4DB2-BD59-A6C34878D82A}">
                    <a16:rowId xmlns:a16="http://schemas.microsoft.com/office/drawing/2014/main" val="10008"/>
                  </a:ext>
                </a:extLst>
              </a:tr>
              <a:tr h="320040">
                <a:tc>
                  <a:txBody>
                    <a:bodyPr/>
                    <a:lstStyle/>
                    <a:p>
                      <a:pPr>
                        <a:defRPr sz="1300">
                          <a:solidFill>
                            <a:srgbClr val="1A1A1A"/>
                          </a:solidFill>
                        </a:defRPr>
                      </a:pPr>
                      <a:r>
                        <a:t>9</a:t>
                      </a:r>
                    </a:p>
                  </a:txBody>
                  <a:tcPr/>
                </a:tc>
                <a:tc>
                  <a:txBody>
                    <a:bodyPr/>
                    <a:lstStyle/>
                    <a:p>
                      <a:pPr>
                        <a:defRPr sz="1300">
                          <a:solidFill>
                            <a:srgbClr val="1A1A1A"/>
                          </a:solidFill>
                        </a:defRPr>
                      </a:pPr>
                      <a:r>
                        <a:t>Japan</a:t>
                      </a:r>
                    </a:p>
                  </a:txBody>
                  <a:tcPr/>
                </a:tc>
                <a:tc>
                  <a:txBody>
                    <a:bodyPr/>
                    <a:lstStyle/>
                    <a:p>
                      <a:pPr>
                        <a:defRPr sz="1300">
                          <a:solidFill>
                            <a:srgbClr val="1A1A1A"/>
                          </a:solidFill>
                        </a:defRPr>
                      </a:pPr>
                      <a:r>
                        <a:t>380,094</a:t>
                      </a:r>
                    </a:p>
                  </a:txBody>
                  <a:tcPr/>
                </a:tc>
                <a:tc>
                  <a:txBody>
                    <a:bodyPr/>
                    <a:lstStyle/>
                    <a:p>
                      <a:pPr>
                        <a:defRPr sz="1300">
                          <a:solidFill>
                            <a:srgbClr val="1A1A1A"/>
                          </a:solidFill>
                        </a:defRPr>
                      </a:pPr>
                      <a:r>
                        <a:t>2.0%</a:t>
                      </a:r>
                    </a:p>
                  </a:txBody>
                  <a:tcPr/>
                </a:tc>
                <a:extLst>
                  <a:ext uri="{0D108BD9-81ED-4DB2-BD59-A6C34878D82A}">
                    <a16:rowId xmlns:a16="http://schemas.microsoft.com/office/drawing/2014/main" val="10009"/>
                  </a:ext>
                </a:extLst>
              </a:tr>
              <a:tr h="320040">
                <a:tc>
                  <a:txBody>
                    <a:bodyPr/>
                    <a:lstStyle/>
                    <a:p>
                      <a:pPr>
                        <a:defRPr sz="1300">
                          <a:solidFill>
                            <a:srgbClr val="1A1A1A"/>
                          </a:solidFill>
                        </a:defRPr>
                      </a:pPr>
                      <a:r>
                        <a:t>10</a:t>
                      </a:r>
                    </a:p>
                  </a:txBody>
                  <a:tcPr>
                    <a:solidFill>
                      <a:srgbClr val="F5F8FC"/>
                    </a:solidFill>
                  </a:tcPr>
                </a:tc>
                <a:tc>
                  <a:txBody>
                    <a:bodyPr/>
                    <a:lstStyle/>
                    <a:p>
                      <a:pPr>
                        <a:defRPr sz="1300">
                          <a:solidFill>
                            <a:srgbClr val="1A1A1A"/>
                          </a:solidFill>
                        </a:defRPr>
                      </a:pPr>
                      <a:r>
                        <a:t>Spain</a:t>
                      </a:r>
                    </a:p>
                  </a:txBody>
                  <a:tcPr>
                    <a:solidFill>
                      <a:srgbClr val="F5F8FC"/>
                    </a:solidFill>
                  </a:tcPr>
                </a:tc>
                <a:tc>
                  <a:txBody>
                    <a:bodyPr/>
                    <a:lstStyle/>
                    <a:p>
                      <a:pPr>
                        <a:defRPr sz="1300">
                          <a:solidFill>
                            <a:srgbClr val="1A1A1A"/>
                          </a:solidFill>
                        </a:defRPr>
                      </a:pPr>
                      <a:r>
                        <a:t>331,748</a:t>
                      </a:r>
                    </a:p>
                  </a:txBody>
                  <a:tcPr>
                    <a:solidFill>
                      <a:srgbClr val="F5F8FC"/>
                    </a:solidFill>
                  </a:tcPr>
                </a:tc>
                <a:tc>
                  <a:txBody>
                    <a:bodyPr/>
                    <a:lstStyle/>
                    <a:p>
                      <a:pPr>
                        <a:defRPr sz="1300">
                          <a:solidFill>
                            <a:srgbClr val="1A1A1A"/>
                          </a:solidFill>
                        </a:defRPr>
                      </a:pPr>
                      <a:r>
                        <a:t>1.8%</a:t>
                      </a:r>
                    </a:p>
                  </a:txBody>
                  <a:tcPr>
                    <a:solidFill>
                      <a:srgbClr val="F5F8FC"/>
                    </a:solidFill>
                  </a:tcPr>
                </a:tc>
                <a:extLst>
                  <a:ext uri="{0D108BD9-81ED-4DB2-BD59-A6C34878D82A}">
                    <a16:rowId xmlns:a16="http://schemas.microsoft.com/office/drawing/2014/main" val="10010"/>
                  </a:ext>
                </a:extLst>
              </a:tr>
            </a:tbl>
          </a:graphicData>
        </a:graphic>
      </p:graphicFrame>
      <p:sp>
        <p:nvSpPr>
          <p:cNvPr id="5" name="TextBox 4"/>
          <p:cNvSpPr txBox="1"/>
          <p:nvPr/>
        </p:nvSpPr>
        <p:spPr>
          <a:xfrm>
            <a:off x="6583680" y="1554480"/>
            <a:ext cx="5303520" cy="2729786"/>
          </a:xfrm>
          <a:prstGeom prst="rect">
            <a:avLst/>
          </a:prstGeom>
          <a:noFill/>
        </p:spPr>
        <p:txBody>
          <a:bodyPr wrap="square">
            <a:spAutoFit/>
          </a:bodyPr>
          <a:lstStyle/>
          <a:p>
            <a:pPr>
              <a:lnSpc>
                <a:spcPct val="130000"/>
              </a:lnSpc>
              <a:spcBef>
                <a:spcPts val="800"/>
              </a:spcBef>
              <a:defRPr sz="1600" b="1">
                <a:solidFill>
                  <a:srgbClr val="1A1A1A"/>
                </a:solidFill>
              </a:defRPr>
            </a:pPr>
            <a:r>
              <a:rPr dirty="0"/>
              <a:t>The United Kingdom, the United States, and China together account for 60.8 per cent of all country-attributed records. No other country reaches 3 per cent.</a:t>
            </a:r>
          </a:p>
          <a:p>
            <a:pPr>
              <a:lnSpc>
                <a:spcPct val="130000"/>
              </a:lnSpc>
              <a:spcBef>
                <a:spcPts val="800"/>
              </a:spcBef>
              <a:defRPr sz="1600" b="0">
                <a:solidFill>
                  <a:srgbClr val="1A1A1A"/>
                </a:solidFill>
              </a:defRPr>
            </a:pPr>
            <a:r>
              <a:rPr dirty="0"/>
              <a:t>This concentration is a critical consideration for any allocation formula. A formula based on raw record counts would channel most benefits to a small number of countries that already have substantial sequencing capacity, undermining the equity objectives of the Cali Fund.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The COVID-19 distortion</a:t>
            </a:r>
          </a:p>
          <a:p>
            <a:pPr>
              <a:spcBef>
                <a:spcPts val="400"/>
              </a:spcBef>
              <a:defRPr sz="1600">
                <a:solidFill>
                  <a:srgbClr val="666666"/>
                </a:solidFill>
              </a:defRPr>
            </a:pPr>
            <a:r>
              <a:t>Pandemic surveillance severely distorts temporal trends</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554480"/>
            <a:ext cx="10515600" cy="4453783"/>
          </a:xfrm>
          <a:prstGeom prst="rect">
            <a:avLst/>
          </a:prstGeom>
          <a:noFill/>
        </p:spPr>
        <p:txBody>
          <a:bodyPr wrap="square">
            <a:spAutoFit/>
          </a:bodyPr>
          <a:lstStyle/>
          <a:p>
            <a:pPr>
              <a:lnSpc>
                <a:spcPct val="130000"/>
              </a:lnSpc>
              <a:spcBef>
                <a:spcPts val="800"/>
              </a:spcBef>
              <a:defRPr sz="1700" b="0">
                <a:solidFill>
                  <a:srgbClr val="1A1A1A"/>
                </a:solidFill>
              </a:defRPr>
            </a:pPr>
            <a:r>
              <a:rPr dirty="0"/>
              <a:t>In 2021, UK records jumped from 165,918 to 1,593,869, nearly a tenfold increase driven by the COVID-19 Genomics UK (COG-UK) consortium. Similar surges occurred in the United States and other developed countries with large genomic surveillance </a:t>
            </a:r>
            <a:r>
              <a:rPr dirty="0" err="1"/>
              <a:t>programmes</a:t>
            </a:r>
            <a:r>
              <a:rPr dirty="0"/>
              <a:t>.</a:t>
            </a:r>
          </a:p>
          <a:p>
            <a:pPr>
              <a:lnSpc>
                <a:spcPct val="130000"/>
              </a:lnSpc>
              <a:spcBef>
                <a:spcPts val="800"/>
              </a:spcBef>
              <a:defRPr sz="1700" b="0">
                <a:solidFill>
                  <a:srgbClr val="1A1A1A"/>
                </a:solidFill>
              </a:defRPr>
            </a:pPr>
            <a:r>
              <a:rPr dirty="0"/>
              <a:t>This single event inflated the developed-country share by approximately 13 percentage points, from 70.0 per cent in 2020 to 83.3 per cent in 2021. The pandemic records are SARS-CoV-2 sequences, not biodiversity DSI, and they are not representative of the underlying trend.</a:t>
            </a:r>
          </a:p>
          <a:p>
            <a:pPr>
              <a:lnSpc>
                <a:spcPct val="130000"/>
              </a:lnSpc>
              <a:spcBef>
                <a:spcPts val="800"/>
              </a:spcBef>
              <a:defRPr sz="1700" b="0">
                <a:solidFill>
                  <a:srgbClr val="1A1A1A"/>
                </a:solidFill>
              </a:defRPr>
            </a:pPr>
            <a:r>
              <a:rPr dirty="0"/>
              <a:t>The decline from 2021 onwards reflects two forces: the winding down of pandemic surveillance in developed countries, and continued growth in developing-country sequencing, particularly from China. It is not yet clear whether the convergence visible in 2026 will be sustained once pandemic records are no longer distorting the baseline.</a:t>
            </a:r>
          </a:p>
          <a:p>
            <a:pPr>
              <a:lnSpc>
                <a:spcPct val="130000"/>
              </a:lnSpc>
              <a:spcBef>
                <a:spcPts val="800"/>
              </a:spcBef>
              <a:defRPr sz="1700" b="1">
                <a:solidFill>
                  <a:srgbClr val="1F4E79"/>
                </a:solidFill>
              </a:defRPr>
            </a:pPr>
            <a:r>
              <a:rPr dirty="0"/>
              <a:t>To assess genuine trends in biodiversity DSI, a sensitivity view excluding SARS-CoV-2 records would be needed. This should be a priority for future analysis.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Temporal trends: Three periods compared</a:t>
            </a:r>
          </a:p>
          <a:p>
            <a:pPr>
              <a:spcBef>
                <a:spcPts val="400"/>
              </a:spcBef>
              <a:defRPr sz="1600">
                <a:solidFill>
                  <a:srgbClr val="666666"/>
                </a:solidFill>
              </a:defRPr>
            </a:pPr>
            <a:r>
              <a:t>Pre-pandemic, pandemic, and post-pandemic annual averages</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554480"/>
          <a:ext cx="10241280" cy="192024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320040">
                <a:tc>
                  <a:txBody>
                    <a:bodyPr/>
                    <a:lstStyle/>
                    <a:p>
                      <a:pPr>
                        <a:defRPr sz="1400" b="1">
                          <a:solidFill>
                            <a:srgbClr val="FFFFFF"/>
                          </a:solidFill>
                        </a:defRPr>
                      </a:pPr>
                      <a:r>
                        <a:t>Group</a:t>
                      </a:r>
                    </a:p>
                  </a:txBody>
                  <a:tcPr>
                    <a:solidFill>
                      <a:srgbClr val="1F4E79"/>
                    </a:solidFill>
                  </a:tcPr>
                </a:tc>
                <a:tc>
                  <a:txBody>
                    <a:bodyPr/>
                    <a:lstStyle/>
                    <a:p>
                      <a:pPr>
                        <a:defRPr sz="1400" b="1">
                          <a:solidFill>
                            <a:srgbClr val="FFFFFF"/>
                          </a:solidFill>
                        </a:defRPr>
                      </a:pPr>
                      <a:r>
                        <a:t>2018-2020/yr</a:t>
                      </a:r>
                    </a:p>
                  </a:txBody>
                  <a:tcPr>
                    <a:solidFill>
                      <a:srgbClr val="1F4E79"/>
                    </a:solidFill>
                  </a:tcPr>
                </a:tc>
                <a:tc>
                  <a:txBody>
                    <a:bodyPr/>
                    <a:lstStyle/>
                    <a:p>
                      <a:pPr>
                        <a:defRPr sz="1400" b="1">
                          <a:solidFill>
                            <a:srgbClr val="FFFFFF"/>
                          </a:solidFill>
                        </a:defRPr>
                      </a:pPr>
                      <a:r>
                        <a:t>2021-2023/yr</a:t>
                      </a:r>
                    </a:p>
                  </a:txBody>
                  <a:tcPr>
                    <a:solidFill>
                      <a:srgbClr val="1F4E79"/>
                    </a:solidFill>
                  </a:tcPr>
                </a:tc>
                <a:tc>
                  <a:txBody>
                    <a:bodyPr/>
                    <a:lstStyle/>
                    <a:p>
                      <a:pPr>
                        <a:defRPr sz="1400" b="1">
                          <a:solidFill>
                            <a:srgbClr val="FFFFFF"/>
                          </a:solidFill>
                        </a:defRPr>
                      </a:pPr>
                      <a:r>
                        <a:t>Change</a:t>
                      </a:r>
                    </a:p>
                  </a:txBody>
                  <a:tcPr>
                    <a:solidFill>
                      <a:srgbClr val="1F4E79"/>
                    </a:solidFill>
                  </a:tcPr>
                </a:tc>
                <a:tc>
                  <a:txBody>
                    <a:bodyPr/>
                    <a:lstStyle/>
                    <a:p>
                      <a:pPr>
                        <a:defRPr sz="1400" b="1">
                          <a:solidFill>
                            <a:srgbClr val="FFFFFF"/>
                          </a:solidFill>
                        </a:defRPr>
                      </a:pPr>
                      <a:r>
                        <a:t>2024-2026/yr</a:t>
                      </a:r>
                    </a:p>
                  </a:txBody>
                  <a:tcPr>
                    <a:solidFill>
                      <a:srgbClr val="1F4E79"/>
                    </a:solidFill>
                  </a:tcPr>
                </a:tc>
                <a:tc>
                  <a:txBody>
                    <a:bodyPr/>
                    <a:lstStyle/>
                    <a:p>
                      <a:pPr>
                        <a:defRPr sz="1400" b="1">
                          <a:solidFill>
                            <a:srgbClr val="FFFFFF"/>
                          </a:solidFill>
                        </a:defRPr>
                      </a:pPr>
                      <a:r>
                        <a:t>Change</a:t>
                      </a:r>
                    </a:p>
                  </a:txBody>
                  <a:tcPr>
                    <a:solidFill>
                      <a:srgbClr val="1F4E79"/>
                    </a:solidFill>
                  </a:tcPr>
                </a:tc>
                <a:extLst>
                  <a:ext uri="{0D108BD9-81ED-4DB2-BD59-A6C34878D82A}">
                    <a16:rowId xmlns:a16="http://schemas.microsoft.com/office/drawing/2014/main" val="10000"/>
                  </a:ext>
                </a:extLst>
              </a:tr>
              <a:tr h="320040">
                <a:tc>
                  <a:txBody>
                    <a:bodyPr/>
                    <a:lstStyle/>
                    <a:p>
                      <a:pPr>
                        <a:defRPr sz="1300">
                          <a:solidFill>
                            <a:srgbClr val="1A1A1A"/>
                          </a:solidFill>
                        </a:defRPr>
                      </a:pPr>
                      <a:r>
                        <a:t>Developed</a:t>
                      </a:r>
                    </a:p>
                  </a:txBody>
                  <a:tcPr/>
                </a:tc>
                <a:tc>
                  <a:txBody>
                    <a:bodyPr/>
                    <a:lstStyle/>
                    <a:p>
                      <a:pPr>
                        <a:defRPr sz="1300">
                          <a:solidFill>
                            <a:srgbClr val="1A1A1A"/>
                          </a:solidFill>
                        </a:defRPr>
                      </a:pPr>
                      <a:r>
                        <a:t>577,721</a:t>
                      </a:r>
                    </a:p>
                  </a:txBody>
                  <a:tcPr/>
                </a:tc>
                <a:tc>
                  <a:txBody>
                    <a:bodyPr/>
                    <a:lstStyle/>
                    <a:p>
                      <a:pPr>
                        <a:defRPr sz="1300">
                          <a:solidFill>
                            <a:srgbClr val="1A1A1A"/>
                          </a:solidFill>
                        </a:defRPr>
                      </a:pPr>
                      <a:r>
                        <a:t>1,985,213</a:t>
                      </a:r>
                    </a:p>
                  </a:txBody>
                  <a:tcPr/>
                </a:tc>
                <a:tc>
                  <a:txBody>
                    <a:bodyPr/>
                    <a:lstStyle/>
                    <a:p>
                      <a:pPr>
                        <a:defRPr sz="1300">
                          <a:solidFill>
                            <a:srgbClr val="1A1A1A"/>
                          </a:solidFill>
                        </a:defRPr>
                      </a:pPr>
                      <a:r>
                        <a:t>+244%</a:t>
                      </a:r>
                    </a:p>
                  </a:txBody>
                  <a:tcPr/>
                </a:tc>
                <a:tc>
                  <a:txBody>
                    <a:bodyPr/>
                    <a:lstStyle/>
                    <a:p>
                      <a:pPr>
                        <a:defRPr sz="1300">
                          <a:solidFill>
                            <a:srgbClr val="1A1A1A"/>
                          </a:solidFill>
                        </a:defRPr>
                      </a:pPr>
                      <a:r>
                        <a:t>865,857</a:t>
                      </a:r>
                    </a:p>
                  </a:txBody>
                  <a:tcPr/>
                </a:tc>
                <a:tc>
                  <a:txBody>
                    <a:bodyPr/>
                    <a:lstStyle/>
                    <a:p>
                      <a:pPr>
                        <a:defRPr sz="1300">
                          <a:solidFill>
                            <a:srgbClr val="1A1A1A"/>
                          </a:solidFill>
                        </a:defRPr>
                      </a:pPr>
                      <a:r>
                        <a:t>-56%</a:t>
                      </a:r>
                    </a:p>
                  </a:txBody>
                  <a:tcPr/>
                </a:tc>
                <a:extLst>
                  <a:ext uri="{0D108BD9-81ED-4DB2-BD59-A6C34878D82A}">
                    <a16:rowId xmlns:a16="http://schemas.microsoft.com/office/drawing/2014/main" val="10001"/>
                  </a:ext>
                </a:extLst>
              </a:tr>
              <a:tr h="320040">
                <a:tc>
                  <a:txBody>
                    <a:bodyPr/>
                    <a:lstStyle/>
                    <a:p>
                      <a:pPr>
                        <a:defRPr sz="1300">
                          <a:solidFill>
                            <a:srgbClr val="1A1A1A"/>
                          </a:solidFill>
                        </a:defRPr>
                      </a:pPr>
                      <a:r>
                        <a:t>Developing</a:t>
                      </a:r>
                    </a:p>
                  </a:txBody>
                  <a:tcPr>
                    <a:solidFill>
                      <a:srgbClr val="F5F8FC"/>
                    </a:solidFill>
                  </a:tcPr>
                </a:tc>
                <a:tc>
                  <a:txBody>
                    <a:bodyPr/>
                    <a:lstStyle/>
                    <a:p>
                      <a:pPr>
                        <a:defRPr sz="1300">
                          <a:solidFill>
                            <a:srgbClr val="1A1A1A"/>
                          </a:solidFill>
                        </a:defRPr>
                      </a:pPr>
                      <a:r>
                        <a:t>229,488</a:t>
                      </a:r>
                    </a:p>
                  </a:txBody>
                  <a:tcPr>
                    <a:solidFill>
                      <a:srgbClr val="F5F8FC"/>
                    </a:solidFill>
                  </a:tcPr>
                </a:tc>
                <a:tc>
                  <a:txBody>
                    <a:bodyPr/>
                    <a:lstStyle/>
                    <a:p>
                      <a:pPr>
                        <a:defRPr sz="1300">
                          <a:solidFill>
                            <a:srgbClr val="1A1A1A"/>
                          </a:solidFill>
                        </a:defRPr>
                      </a:pPr>
                      <a:r>
                        <a:t>556,709</a:t>
                      </a:r>
                    </a:p>
                  </a:txBody>
                  <a:tcPr>
                    <a:solidFill>
                      <a:srgbClr val="F5F8FC"/>
                    </a:solidFill>
                  </a:tcPr>
                </a:tc>
                <a:tc>
                  <a:txBody>
                    <a:bodyPr/>
                    <a:lstStyle/>
                    <a:p>
                      <a:pPr>
                        <a:defRPr sz="1300">
                          <a:solidFill>
                            <a:srgbClr val="1A1A1A"/>
                          </a:solidFill>
                        </a:defRPr>
                      </a:pPr>
                      <a:r>
                        <a:t>+143%</a:t>
                      </a:r>
                    </a:p>
                  </a:txBody>
                  <a:tcPr>
                    <a:solidFill>
                      <a:srgbClr val="F5F8FC"/>
                    </a:solidFill>
                  </a:tcPr>
                </a:tc>
                <a:tc>
                  <a:txBody>
                    <a:bodyPr/>
                    <a:lstStyle/>
                    <a:p>
                      <a:pPr>
                        <a:defRPr sz="1300">
                          <a:solidFill>
                            <a:srgbClr val="1A1A1A"/>
                          </a:solidFill>
                        </a:defRPr>
                      </a:pPr>
                      <a:r>
                        <a:t>709,245</a:t>
                      </a:r>
                    </a:p>
                  </a:txBody>
                  <a:tcPr>
                    <a:solidFill>
                      <a:srgbClr val="F5F8FC"/>
                    </a:solidFill>
                  </a:tcPr>
                </a:tc>
                <a:tc>
                  <a:txBody>
                    <a:bodyPr/>
                    <a:lstStyle/>
                    <a:p>
                      <a:pPr>
                        <a:defRPr sz="1300">
                          <a:solidFill>
                            <a:srgbClr val="1A1A1A"/>
                          </a:solidFill>
                        </a:defRPr>
                      </a:pPr>
                      <a:r>
                        <a:t>+27%</a:t>
                      </a:r>
                    </a:p>
                  </a:txBody>
                  <a:tcPr>
                    <a:solidFill>
                      <a:srgbClr val="F5F8FC"/>
                    </a:solidFill>
                  </a:tcPr>
                </a:tc>
                <a:extLst>
                  <a:ext uri="{0D108BD9-81ED-4DB2-BD59-A6C34878D82A}">
                    <a16:rowId xmlns:a16="http://schemas.microsoft.com/office/drawing/2014/main" val="10002"/>
                  </a:ext>
                </a:extLst>
              </a:tr>
              <a:tr h="320040">
                <a:tc>
                  <a:txBody>
                    <a:bodyPr/>
                    <a:lstStyle/>
                    <a:p>
                      <a:pPr>
                        <a:defRPr sz="1300">
                          <a:solidFill>
                            <a:srgbClr val="1A1A1A"/>
                          </a:solidFill>
                        </a:defRPr>
                      </a:pPr>
                      <a:r>
                        <a:t>LDCs</a:t>
                      </a:r>
                    </a:p>
                  </a:txBody>
                  <a:tcPr/>
                </a:tc>
                <a:tc>
                  <a:txBody>
                    <a:bodyPr/>
                    <a:lstStyle/>
                    <a:p>
                      <a:pPr>
                        <a:defRPr sz="1300">
                          <a:solidFill>
                            <a:srgbClr val="1A1A1A"/>
                          </a:solidFill>
                        </a:defRPr>
                      </a:pPr>
                      <a:r>
                        <a:t>10,796</a:t>
                      </a:r>
                    </a:p>
                  </a:txBody>
                  <a:tcPr/>
                </a:tc>
                <a:tc>
                  <a:txBody>
                    <a:bodyPr/>
                    <a:lstStyle/>
                    <a:p>
                      <a:pPr>
                        <a:defRPr sz="1300">
                          <a:solidFill>
                            <a:srgbClr val="1A1A1A"/>
                          </a:solidFill>
                        </a:defRPr>
                      </a:pPr>
                      <a:r>
                        <a:t>57,817</a:t>
                      </a:r>
                    </a:p>
                  </a:txBody>
                  <a:tcPr/>
                </a:tc>
                <a:tc>
                  <a:txBody>
                    <a:bodyPr/>
                    <a:lstStyle/>
                    <a:p>
                      <a:pPr>
                        <a:defRPr sz="1300">
                          <a:solidFill>
                            <a:srgbClr val="1A1A1A"/>
                          </a:solidFill>
                        </a:defRPr>
                      </a:pPr>
                      <a:r>
                        <a:t>+436%</a:t>
                      </a:r>
                    </a:p>
                  </a:txBody>
                  <a:tcPr/>
                </a:tc>
                <a:tc>
                  <a:txBody>
                    <a:bodyPr/>
                    <a:lstStyle/>
                    <a:p>
                      <a:pPr>
                        <a:defRPr sz="1300">
                          <a:solidFill>
                            <a:srgbClr val="1A1A1A"/>
                          </a:solidFill>
                        </a:defRPr>
                      </a:pPr>
                      <a:r>
                        <a:t>22,010</a:t>
                      </a:r>
                    </a:p>
                  </a:txBody>
                  <a:tcPr/>
                </a:tc>
                <a:tc>
                  <a:txBody>
                    <a:bodyPr/>
                    <a:lstStyle/>
                    <a:p>
                      <a:pPr>
                        <a:defRPr sz="1300">
                          <a:solidFill>
                            <a:srgbClr val="1A1A1A"/>
                          </a:solidFill>
                        </a:defRPr>
                      </a:pPr>
                      <a:r>
                        <a:t>-62%</a:t>
                      </a:r>
                    </a:p>
                  </a:txBody>
                  <a:tcPr/>
                </a:tc>
                <a:extLst>
                  <a:ext uri="{0D108BD9-81ED-4DB2-BD59-A6C34878D82A}">
                    <a16:rowId xmlns:a16="http://schemas.microsoft.com/office/drawing/2014/main" val="10003"/>
                  </a:ext>
                </a:extLst>
              </a:tr>
              <a:tr h="320040">
                <a:tc>
                  <a:txBody>
                    <a:bodyPr/>
                    <a:lstStyle/>
                    <a:p>
                      <a:pPr>
                        <a:defRPr sz="1300">
                          <a:solidFill>
                            <a:srgbClr val="1A1A1A"/>
                          </a:solidFill>
                        </a:defRPr>
                      </a:pPr>
                      <a:r>
                        <a:t>SIDS</a:t>
                      </a:r>
                    </a:p>
                  </a:txBody>
                  <a:tcPr>
                    <a:solidFill>
                      <a:srgbClr val="F5F8FC"/>
                    </a:solidFill>
                  </a:tcPr>
                </a:tc>
                <a:tc>
                  <a:txBody>
                    <a:bodyPr/>
                    <a:lstStyle/>
                    <a:p>
                      <a:pPr>
                        <a:defRPr sz="1300">
                          <a:solidFill>
                            <a:srgbClr val="1A1A1A"/>
                          </a:solidFill>
                        </a:defRPr>
                      </a:pPr>
                      <a:r>
                        <a:t>9,618</a:t>
                      </a:r>
                    </a:p>
                  </a:txBody>
                  <a:tcPr>
                    <a:solidFill>
                      <a:srgbClr val="F5F8FC"/>
                    </a:solidFill>
                  </a:tcPr>
                </a:tc>
                <a:tc>
                  <a:txBody>
                    <a:bodyPr/>
                    <a:lstStyle/>
                    <a:p>
                      <a:pPr>
                        <a:defRPr sz="1300">
                          <a:solidFill>
                            <a:srgbClr val="1A1A1A"/>
                          </a:solidFill>
                        </a:defRPr>
                      </a:pPr>
                      <a:r>
                        <a:t>24,792</a:t>
                      </a:r>
                    </a:p>
                  </a:txBody>
                  <a:tcPr>
                    <a:solidFill>
                      <a:srgbClr val="F5F8FC"/>
                    </a:solidFill>
                  </a:tcPr>
                </a:tc>
                <a:tc>
                  <a:txBody>
                    <a:bodyPr/>
                    <a:lstStyle/>
                    <a:p>
                      <a:pPr>
                        <a:defRPr sz="1300">
                          <a:solidFill>
                            <a:srgbClr val="1A1A1A"/>
                          </a:solidFill>
                        </a:defRPr>
                      </a:pPr>
                      <a:r>
                        <a:t>+158%</a:t>
                      </a:r>
                    </a:p>
                  </a:txBody>
                  <a:tcPr>
                    <a:solidFill>
                      <a:srgbClr val="F5F8FC"/>
                    </a:solidFill>
                  </a:tcPr>
                </a:tc>
                <a:tc>
                  <a:txBody>
                    <a:bodyPr/>
                    <a:lstStyle/>
                    <a:p>
                      <a:pPr>
                        <a:defRPr sz="1300">
                          <a:solidFill>
                            <a:srgbClr val="1A1A1A"/>
                          </a:solidFill>
                        </a:defRPr>
                      </a:pPr>
                      <a:r>
                        <a:t>20,408</a:t>
                      </a:r>
                    </a:p>
                  </a:txBody>
                  <a:tcPr>
                    <a:solidFill>
                      <a:srgbClr val="F5F8FC"/>
                    </a:solidFill>
                  </a:tcPr>
                </a:tc>
                <a:tc>
                  <a:txBody>
                    <a:bodyPr/>
                    <a:lstStyle/>
                    <a:p>
                      <a:pPr>
                        <a:defRPr sz="1300">
                          <a:solidFill>
                            <a:srgbClr val="1A1A1A"/>
                          </a:solidFill>
                        </a:defRPr>
                      </a:pPr>
                      <a:r>
                        <a:t>-18%</a:t>
                      </a:r>
                    </a:p>
                  </a:txBody>
                  <a:tcPr>
                    <a:solidFill>
                      <a:srgbClr val="F5F8FC"/>
                    </a:solidFill>
                  </a:tcPr>
                </a:tc>
                <a:extLst>
                  <a:ext uri="{0D108BD9-81ED-4DB2-BD59-A6C34878D82A}">
                    <a16:rowId xmlns:a16="http://schemas.microsoft.com/office/drawing/2014/main" val="10004"/>
                  </a:ext>
                </a:extLst>
              </a:tr>
              <a:tr h="320040">
                <a:tc>
                  <a:txBody>
                    <a:bodyPr/>
                    <a:lstStyle/>
                    <a:p>
                      <a:pPr>
                        <a:defRPr sz="1300">
                          <a:solidFill>
                            <a:srgbClr val="1A1A1A"/>
                          </a:solidFill>
                        </a:defRPr>
                      </a:pPr>
                      <a:r>
                        <a:t>LLDCs</a:t>
                      </a:r>
                    </a:p>
                  </a:txBody>
                  <a:tcPr/>
                </a:tc>
                <a:tc>
                  <a:txBody>
                    <a:bodyPr/>
                    <a:lstStyle/>
                    <a:p>
                      <a:pPr>
                        <a:defRPr sz="1300">
                          <a:solidFill>
                            <a:srgbClr val="1A1A1A"/>
                          </a:solidFill>
                        </a:defRPr>
                      </a:pPr>
                      <a:r>
                        <a:t>7,292</a:t>
                      </a:r>
                    </a:p>
                  </a:txBody>
                  <a:tcPr/>
                </a:tc>
                <a:tc>
                  <a:txBody>
                    <a:bodyPr/>
                    <a:lstStyle/>
                    <a:p>
                      <a:pPr>
                        <a:defRPr sz="1300">
                          <a:solidFill>
                            <a:srgbClr val="1A1A1A"/>
                          </a:solidFill>
                        </a:defRPr>
                      </a:pPr>
                      <a:r>
                        <a:t>19,763</a:t>
                      </a:r>
                    </a:p>
                  </a:txBody>
                  <a:tcPr/>
                </a:tc>
                <a:tc>
                  <a:txBody>
                    <a:bodyPr/>
                    <a:lstStyle/>
                    <a:p>
                      <a:pPr>
                        <a:defRPr sz="1300">
                          <a:solidFill>
                            <a:srgbClr val="1A1A1A"/>
                          </a:solidFill>
                        </a:defRPr>
                      </a:pPr>
                      <a:r>
                        <a:t>+171%</a:t>
                      </a:r>
                    </a:p>
                  </a:txBody>
                  <a:tcPr/>
                </a:tc>
                <a:tc>
                  <a:txBody>
                    <a:bodyPr/>
                    <a:lstStyle/>
                    <a:p>
                      <a:pPr>
                        <a:defRPr sz="1300">
                          <a:solidFill>
                            <a:srgbClr val="1A1A1A"/>
                          </a:solidFill>
                        </a:defRPr>
                      </a:pPr>
                      <a:r>
                        <a:t>14,088</a:t>
                      </a:r>
                    </a:p>
                  </a:txBody>
                  <a:tcPr/>
                </a:tc>
                <a:tc>
                  <a:txBody>
                    <a:bodyPr/>
                    <a:lstStyle/>
                    <a:p>
                      <a:pPr>
                        <a:defRPr sz="1300">
                          <a:solidFill>
                            <a:srgbClr val="1A1A1A"/>
                          </a:solidFill>
                        </a:defRPr>
                      </a:pPr>
                      <a:r>
                        <a:t>-29%</a:t>
                      </a:r>
                    </a:p>
                  </a:txBody>
                  <a:tcPr/>
                </a:tc>
                <a:extLst>
                  <a:ext uri="{0D108BD9-81ED-4DB2-BD59-A6C34878D82A}">
                    <a16:rowId xmlns:a16="http://schemas.microsoft.com/office/drawing/2014/main" val="10005"/>
                  </a:ext>
                </a:extLst>
              </a:tr>
            </a:tbl>
          </a:graphicData>
        </a:graphic>
      </p:graphicFrame>
      <p:sp>
        <p:nvSpPr>
          <p:cNvPr id="5" name="TextBox 4"/>
          <p:cNvSpPr txBox="1"/>
          <p:nvPr/>
        </p:nvSpPr>
        <p:spPr>
          <a:xfrm>
            <a:off x="731520" y="3840480"/>
            <a:ext cx="10515600" cy="2011680"/>
          </a:xfrm>
          <a:prstGeom prst="rect">
            <a:avLst/>
          </a:prstGeom>
          <a:noFill/>
        </p:spPr>
        <p:txBody>
          <a:bodyPr wrap="square">
            <a:spAutoFit/>
          </a:bodyPr>
          <a:lstStyle/>
          <a:p>
            <a:pPr>
              <a:lnSpc>
                <a:spcPct val="130000"/>
              </a:lnSpc>
              <a:spcBef>
                <a:spcPts val="800"/>
              </a:spcBef>
              <a:defRPr sz="1600" b="0">
                <a:solidFill>
                  <a:srgbClr val="1A1A1A"/>
                </a:solidFill>
              </a:defRPr>
            </a:pPr>
            <a:r>
              <a:rPr dirty="0"/>
              <a:t>The pandemic period saw dramatic growth across all groups, but the growth was far larger for developed countries (+244 per cent) than for developing countries (+143 per cent). This widened the absolute gap even as it temporarily increased the developed-country share.</a:t>
            </a:r>
          </a:p>
          <a:p>
            <a:pPr>
              <a:lnSpc>
                <a:spcPct val="130000"/>
              </a:lnSpc>
              <a:spcBef>
                <a:spcPts val="800"/>
              </a:spcBef>
              <a:defRPr sz="1600" b="0">
                <a:solidFill>
                  <a:srgbClr val="1A1A1A"/>
                </a:solidFill>
              </a:defRPr>
            </a:pPr>
            <a:r>
              <a:rPr dirty="0"/>
              <a:t>In the post-pandemic period, developed-country records declined by 56 per cent from their pandemic peak, while developing-country records continued to grow, by 27 per cent. For the first time in the period studied, developing countries are generating more records per year than developed countries, though the 2026 figure is based on partial-year data.</a:t>
            </a:r>
          </a:p>
          <a:p>
            <a:pPr>
              <a:lnSpc>
                <a:spcPct val="130000"/>
              </a:lnSpc>
              <a:spcBef>
                <a:spcPts val="800"/>
              </a:spcBef>
              <a:defRPr sz="1600" b="0">
                <a:solidFill>
                  <a:srgbClr val="1A1A1A"/>
                </a:solidFill>
              </a:defRPr>
            </a:pPr>
            <a:r>
              <a:rPr dirty="0"/>
              <a:t>All vulnerable country groups saw their records decline from pandemic peaks, suggesting that pandemic-era growth was project-specific and temporary.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Can INSDC data support allocation?</a:t>
            </a:r>
          </a:p>
          <a:p>
            <a:pPr>
              <a:spcBef>
                <a:spcPts val="400"/>
              </a:spcBef>
              <a:defRPr sz="1600">
                <a:solidFill>
                  <a:srgbClr val="666666"/>
                </a:solidFill>
              </a:defRPr>
            </a:pPr>
            <a:r>
              <a:t>Four problems stand out</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554480"/>
            <a:ext cx="10515600" cy="3106300"/>
          </a:xfrm>
          <a:prstGeom prst="rect">
            <a:avLst/>
          </a:prstGeom>
          <a:noFill/>
        </p:spPr>
        <p:txBody>
          <a:bodyPr wrap="square">
            <a:spAutoFit/>
          </a:bodyPr>
          <a:lstStyle/>
          <a:p>
            <a:pPr>
              <a:lnSpc>
                <a:spcPct val="130000"/>
              </a:lnSpc>
              <a:spcBef>
                <a:spcPts val="800"/>
              </a:spcBef>
              <a:defRPr sz="1800" b="1">
                <a:solidFill>
                  <a:srgbClr val="1F4E79"/>
                </a:solidFill>
              </a:defRPr>
            </a:pPr>
            <a:r>
              <a:rPr dirty="0"/>
              <a:t>1.  Incompleteness</a:t>
            </a:r>
          </a:p>
          <a:p>
            <a:pPr lvl="1">
              <a:lnSpc>
                <a:spcPct val="130000"/>
              </a:lnSpc>
              <a:spcBef>
                <a:spcPts val="400"/>
              </a:spcBef>
              <a:defRPr sz="1600" b="0">
                <a:solidFill>
                  <a:srgbClr val="1A1A1A"/>
                </a:solidFill>
              </a:defRPr>
            </a:pPr>
            <a:r>
              <a:rPr dirty="0"/>
              <a:t>37.5 per cent of records cannot be attributed to any country, and 21.5 per cent have no date. The excluded fraction is not random.</a:t>
            </a:r>
          </a:p>
          <a:p>
            <a:pPr>
              <a:lnSpc>
                <a:spcPct val="130000"/>
              </a:lnSpc>
              <a:spcBef>
                <a:spcPts val="800"/>
              </a:spcBef>
              <a:defRPr sz="1800" b="1">
                <a:solidFill>
                  <a:srgbClr val="1F4E79"/>
                </a:solidFill>
              </a:defRPr>
            </a:pPr>
            <a:r>
              <a:rPr dirty="0"/>
              <a:t>2.  Concentration</a:t>
            </a:r>
          </a:p>
          <a:p>
            <a:pPr lvl="1">
              <a:lnSpc>
                <a:spcPct val="130000"/>
              </a:lnSpc>
              <a:spcBef>
                <a:spcPts val="400"/>
              </a:spcBef>
              <a:defRPr sz="1600" b="0">
                <a:solidFill>
                  <a:srgbClr val="1A1A1A"/>
                </a:solidFill>
              </a:defRPr>
            </a:pPr>
            <a:r>
              <a:rPr dirty="0"/>
              <a:t>Three countries account for 60.8 per cent of records. A formula based on raw counts would channel benefits to countries that already have substantial sequencing capacity.</a:t>
            </a:r>
          </a:p>
          <a:p>
            <a:pPr>
              <a:lnSpc>
                <a:spcPct val="130000"/>
              </a:lnSpc>
              <a:spcBef>
                <a:spcPts val="800"/>
              </a:spcBef>
              <a:defRPr sz="1800" b="1">
                <a:solidFill>
                  <a:srgbClr val="1F4E79"/>
                </a:solidFill>
              </a:defRPr>
            </a:pPr>
            <a:r>
              <a:rPr dirty="0"/>
              <a:t>3.  Distortion</a:t>
            </a:r>
          </a:p>
          <a:p>
            <a:pPr lvl="1">
              <a:lnSpc>
                <a:spcPct val="130000"/>
              </a:lnSpc>
              <a:spcBef>
                <a:spcPts val="400"/>
              </a:spcBef>
              <a:defRPr sz="1600" b="0">
                <a:solidFill>
                  <a:srgbClr val="1A1A1A"/>
                </a:solidFill>
              </a:defRPr>
            </a:pPr>
            <a:r>
              <a:rPr dirty="0"/>
              <a:t>COVID-19 pandemic records severely distort temporal trends.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Conclusion and policy implications</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554480"/>
            <a:ext cx="10515600" cy="3927485"/>
          </a:xfrm>
          <a:prstGeom prst="rect">
            <a:avLst/>
          </a:prstGeom>
          <a:noFill/>
        </p:spPr>
        <p:txBody>
          <a:bodyPr wrap="square">
            <a:spAutoFit/>
          </a:bodyPr>
          <a:lstStyle/>
          <a:p>
            <a:pPr>
              <a:lnSpc>
                <a:spcPct val="130000"/>
              </a:lnSpc>
              <a:spcBef>
                <a:spcPts val="800"/>
              </a:spcBef>
              <a:defRPr sz="2000" b="1">
                <a:solidFill>
                  <a:srgbClr val="1F4E79"/>
                </a:solidFill>
              </a:defRPr>
            </a:pPr>
            <a:r>
              <a:rPr dirty="0"/>
              <a:t>INSDC provenance data should inform, but not determine, Cali Fund allocation decisions.</a:t>
            </a:r>
          </a:p>
          <a:p>
            <a:pPr>
              <a:lnSpc>
                <a:spcPct val="130000"/>
              </a:lnSpc>
              <a:spcBef>
                <a:spcPts val="800"/>
              </a:spcBef>
              <a:defRPr sz="1700" b="0">
                <a:solidFill>
                  <a:srgbClr val="1A1A1A"/>
                </a:solidFill>
              </a:defRPr>
            </a:pPr>
            <a:r>
              <a:rPr dirty="0"/>
              <a:t>The data are useful for identifying broad patterns of inequality, for monitoring trends over time, and for highlighting the specific needs of regions and country groups. They are not suitable as a direct input to an allocation formula because they are too incomplete, too concentrated, and too distorted by external events.</a:t>
            </a:r>
          </a:p>
          <a:p>
            <a:pPr>
              <a:lnSpc>
                <a:spcPct val="130000"/>
              </a:lnSpc>
              <a:spcBef>
                <a:spcPts val="800"/>
              </a:spcBef>
              <a:defRPr sz="1700" b="1">
                <a:solidFill>
                  <a:srgbClr val="1A1A1A"/>
                </a:solidFill>
              </a:defRPr>
            </a:pPr>
            <a:r>
              <a:rPr dirty="0"/>
              <a:t>A more robust approach might combine INSDC data with other indicators:</a:t>
            </a:r>
          </a:p>
          <a:p>
            <a:pPr lvl="1">
              <a:lnSpc>
                <a:spcPct val="130000"/>
              </a:lnSpc>
              <a:spcBef>
                <a:spcPts val="400"/>
              </a:spcBef>
              <a:defRPr sz="1600" b="0">
                <a:solidFill>
                  <a:srgbClr val="666666"/>
                </a:solidFill>
              </a:defRPr>
            </a:pPr>
            <a:r>
              <a:rPr dirty="0"/>
              <a:t>Biodiversity richness (for example, species counts from GBIF)</a:t>
            </a:r>
          </a:p>
          <a:p>
            <a:pPr lvl="1">
              <a:lnSpc>
                <a:spcPct val="130000"/>
              </a:lnSpc>
              <a:spcBef>
                <a:spcPts val="400"/>
              </a:spcBef>
              <a:defRPr sz="1600" b="0">
                <a:solidFill>
                  <a:srgbClr val="666666"/>
                </a:solidFill>
              </a:defRPr>
            </a:pPr>
            <a:r>
              <a:rPr dirty="0"/>
              <a:t>Sequencing capacity (for example, number of sequencing facilities per country)</a:t>
            </a:r>
          </a:p>
          <a:p>
            <a:pPr lvl="1">
              <a:lnSpc>
                <a:spcPct val="130000"/>
              </a:lnSpc>
              <a:spcBef>
                <a:spcPts val="400"/>
              </a:spcBef>
              <a:defRPr sz="1600" b="0">
                <a:solidFill>
                  <a:srgbClr val="666666"/>
                </a:solidFill>
              </a:defRPr>
            </a:pPr>
            <a:r>
              <a:rPr dirty="0"/>
              <a:t>Economic need (for example, </a:t>
            </a:r>
            <a:r>
              <a:rPr lang="en-GB" dirty="0"/>
              <a:t>inverted UN Scale of Assessment or inverted GNI</a:t>
            </a:r>
            <a:r>
              <a:rPr dirty="0"/>
              <a:t> or LDC/SIDS/LLDC status)</a:t>
            </a:r>
          </a:p>
          <a:p>
            <a:pPr>
              <a:lnSpc>
                <a:spcPct val="130000"/>
              </a:lnSpc>
              <a:spcBef>
                <a:spcPts val="800"/>
              </a:spcBef>
              <a:defRPr sz="1700" b="1">
                <a:solidFill>
                  <a:srgbClr val="1F4E79"/>
                </a:solidFill>
              </a:defRPr>
            </a:pPr>
            <a:r>
              <a:rPr dirty="0"/>
              <a:t>The Cali Fund allocation methodology should be a matter for Parties to negotiate, informed by evidence but not determined by it.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10515600" cy="822960"/>
          </a:xfrm>
          <a:prstGeom prst="rect">
            <a:avLst/>
          </a:prstGeom>
          <a:noFill/>
        </p:spPr>
        <p:txBody>
          <a:bodyPr wrap="square">
            <a:spAutoFit/>
          </a:bodyPr>
          <a:lstStyle/>
          <a:p>
            <a:pPr>
              <a:defRPr sz="2800" b="1">
                <a:solidFill>
                  <a:srgbClr val="1F4E79"/>
                </a:solidFill>
              </a:defRPr>
            </a:pPr>
            <a:r>
              <a:t>Limitations</a:t>
            </a:r>
          </a:p>
        </p:txBody>
      </p:sp>
      <p:sp>
        <p:nvSpPr>
          <p:cNvPr id="3" name="Rectangle 2"/>
          <p:cNvSpPr/>
          <p:nvPr/>
        </p:nvSpPr>
        <p:spPr>
          <a:xfrm>
            <a:off x="731520" y="1234440"/>
            <a:ext cx="731520" cy="50800"/>
          </a:xfrm>
          <a:prstGeom prst="rect">
            <a:avLst/>
          </a:prstGeom>
          <a:solidFill>
            <a:srgbClr val="4E7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554480"/>
            <a:ext cx="10515600" cy="5169364"/>
          </a:xfrm>
          <a:prstGeom prst="rect">
            <a:avLst/>
          </a:prstGeom>
          <a:noFill/>
        </p:spPr>
        <p:txBody>
          <a:bodyPr wrap="square">
            <a:spAutoFit/>
          </a:bodyPr>
          <a:lstStyle/>
          <a:p>
            <a:pPr>
              <a:lnSpc>
                <a:spcPct val="130000"/>
              </a:lnSpc>
              <a:spcBef>
                <a:spcPts val="800"/>
              </a:spcBef>
              <a:defRPr sz="1800" b="0">
                <a:solidFill>
                  <a:srgbClr val="1A1A1A"/>
                </a:solidFill>
              </a:defRPr>
            </a:pPr>
            <a:r>
              <a:rPr lang="en-GB" sz="1600" dirty="0"/>
              <a:t>Rapid assessment: This analysis was conducted to provide the best information possible in the time available. It has not been peer reviewed.</a:t>
            </a:r>
          </a:p>
          <a:p>
            <a:pPr>
              <a:lnSpc>
                <a:spcPct val="130000"/>
              </a:lnSpc>
              <a:spcBef>
                <a:spcPts val="800"/>
              </a:spcBef>
              <a:defRPr sz="1700" b="0">
                <a:solidFill>
                  <a:srgbClr val="1A1A1A"/>
                </a:solidFill>
              </a:defRPr>
            </a:pPr>
            <a:r>
              <a:rPr sz="1600" dirty="0"/>
              <a:t>Snapshot: All counts are a point-in-time snapshot taken on 13 October 2026. The database grows daily.</a:t>
            </a:r>
          </a:p>
          <a:p>
            <a:pPr>
              <a:lnSpc>
                <a:spcPct val="130000"/>
              </a:lnSpc>
              <a:spcBef>
                <a:spcPts val="800"/>
              </a:spcBef>
              <a:defRPr sz="1700" b="0">
                <a:solidFill>
                  <a:srgbClr val="1A1A1A"/>
                </a:solidFill>
              </a:defRPr>
            </a:pPr>
            <a:r>
              <a:rPr sz="1600" dirty="0"/>
              <a:t>Partial year: 2026 covers January to October only.</a:t>
            </a:r>
          </a:p>
          <a:p>
            <a:pPr>
              <a:lnSpc>
                <a:spcPct val="130000"/>
              </a:lnSpc>
              <a:spcBef>
                <a:spcPts val="800"/>
              </a:spcBef>
              <a:defRPr sz="1700" b="0">
                <a:solidFill>
                  <a:srgbClr val="1A1A1A"/>
                </a:solidFill>
              </a:defRPr>
            </a:pPr>
            <a:r>
              <a:rPr sz="1600" dirty="0"/>
              <a:t>Undated records: 21.5 per cent have no public release date. Annual counts are partial censuses.</a:t>
            </a:r>
          </a:p>
          <a:p>
            <a:pPr>
              <a:lnSpc>
                <a:spcPct val="130000"/>
              </a:lnSpc>
              <a:spcBef>
                <a:spcPts val="800"/>
              </a:spcBef>
              <a:defRPr sz="1700" b="0">
                <a:solidFill>
                  <a:srgbClr val="1A1A1A"/>
                </a:solidFill>
              </a:defRPr>
            </a:pPr>
            <a:r>
              <a:rPr sz="1600" dirty="0"/>
              <a:t>Data quality: The country field is submitter-populated and not </a:t>
            </a:r>
            <a:r>
              <a:rPr sz="1600" dirty="0" err="1"/>
              <a:t>standardised</a:t>
            </a:r>
            <a:r>
              <a:rPr sz="1600" dirty="0"/>
              <a:t>.</a:t>
            </a:r>
          </a:p>
          <a:p>
            <a:pPr>
              <a:lnSpc>
                <a:spcPct val="130000"/>
              </a:lnSpc>
              <a:spcBef>
                <a:spcPts val="800"/>
              </a:spcBef>
              <a:defRPr sz="1700" b="0">
                <a:solidFill>
                  <a:srgbClr val="1A1A1A"/>
                </a:solidFill>
              </a:defRPr>
            </a:pPr>
            <a:r>
              <a:rPr sz="1600" dirty="0"/>
              <a:t>Metagenomes: Environmental metagenomes (27.7 per cent) are included and inflate counts for some countries.</a:t>
            </a:r>
          </a:p>
          <a:p>
            <a:pPr>
              <a:lnSpc>
                <a:spcPct val="130000"/>
              </a:lnSpc>
              <a:spcBef>
                <a:spcPts val="800"/>
              </a:spcBef>
              <a:defRPr sz="1700" b="0">
                <a:solidFill>
                  <a:srgbClr val="1A1A1A"/>
                </a:solidFill>
              </a:defRPr>
            </a:pPr>
            <a:r>
              <a:rPr sz="1600" dirty="0"/>
              <a:t>Collection versus contribution: The country field records collection locality, not the sequencing institution.</a:t>
            </a:r>
          </a:p>
          <a:p>
            <a:pPr>
              <a:lnSpc>
                <a:spcPct val="130000"/>
              </a:lnSpc>
              <a:spcBef>
                <a:spcPts val="800"/>
              </a:spcBef>
              <a:defRPr sz="1600" b="0">
                <a:solidFill>
                  <a:srgbClr val="1A1A1A"/>
                </a:solidFill>
              </a:defRPr>
            </a:pPr>
            <a:r>
              <a:rPr sz="1600" dirty="0"/>
              <a:t>Token-matching collisions: The ENA search engine indexes the country field as a text field and cannot distinguish the country portion from the locality portion. Twenty collision exclusions were applied, but individual country counts may contain small errors from undiscovered collisions where a country name appears as a locality in another country’s records.</a:t>
            </a:r>
            <a:endParaRPr lang="en-GB" sz="1600" dirty="0"/>
          </a:p>
          <a:p>
            <a:pPr>
              <a:lnSpc>
                <a:spcPct val="130000"/>
              </a:lnSpc>
              <a:spcBef>
                <a:spcPts val="800"/>
              </a:spcBef>
              <a:defRPr sz="1600" b="0">
                <a:solidFill>
                  <a:srgbClr val="1A1A1A"/>
                </a:solidFill>
              </a:defRPr>
            </a:pPr>
            <a:r>
              <a:rPr lang="en-GB" sz="1600" dirty="0"/>
              <a:t>COVID-19 Distortion: SARS-CoV-2 samples bias the dataset </a:t>
            </a:r>
          </a:p>
          <a:p>
            <a:pPr>
              <a:lnSpc>
                <a:spcPct val="130000"/>
              </a:lnSpc>
              <a:spcBef>
                <a:spcPts val="800"/>
              </a:spcBef>
              <a:defRPr sz="1600" b="0">
                <a:solidFill>
                  <a:srgbClr val="1A1A1A"/>
                </a:solidFill>
              </a:defRPr>
            </a:pPr>
            <a:endParaRPr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F4E79"/>
        </a:solidFill>
        <a:effectLst/>
      </p:bgPr>
    </p:bg>
    <p:spTree>
      <p:nvGrpSpPr>
        <p:cNvPr id="1" name=""/>
        <p:cNvGrpSpPr/>
        <p:nvPr/>
      </p:nvGrpSpPr>
      <p:grpSpPr>
        <a:xfrm>
          <a:off x="0" y="0"/>
          <a:ext cx="0" cy="0"/>
          <a:chOff x="0" y="0"/>
          <a:chExt cx="0" cy="0"/>
        </a:xfrm>
      </p:grpSpPr>
      <p:sp>
        <p:nvSpPr>
          <p:cNvPr id="2" name="TextBox 1"/>
          <p:cNvSpPr txBox="1"/>
          <p:nvPr/>
        </p:nvSpPr>
        <p:spPr>
          <a:xfrm>
            <a:off x="914400" y="1828800"/>
            <a:ext cx="10058400" cy="1190069"/>
          </a:xfrm>
          <a:prstGeom prst="rect">
            <a:avLst/>
          </a:prstGeom>
          <a:noFill/>
        </p:spPr>
        <p:txBody>
          <a:bodyPr wrap="square">
            <a:spAutoFit/>
          </a:bodyPr>
          <a:lstStyle/>
          <a:p>
            <a:pPr>
              <a:defRPr sz="3600" b="1">
                <a:solidFill>
                  <a:srgbClr val="FFFFFF"/>
                </a:solidFill>
              </a:defRPr>
            </a:pPr>
            <a:r>
              <a:rPr dirty="0"/>
              <a:t>Thank you</a:t>
            </a:r>
          </a:p>
          <a:p>
            <a:pPr>
              <a:spcBef>
                <a:spcPts val="1600"/>
              </a:spcBef>
              <a:defRPr sz="2200">
                <a:solidFill>
                  <a:srgbClr val="A8C7E8"/>
                </a:solidFill>
              </a:defRPr>
            </a:pPr>
            <a:r>
              <a:rPr dirty="0"/>
              <a:t>Questions and discussion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30</TotalTime>
  <Words>3576</Words>
  <Application>Microsoft Macintosh PowerPoint</Application>
  <PresentationFormat>Widescreen</PresentationFormat>
  <Paragraphs>391</Paragraphs>
  <Slides>25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Jasmine Kindness</cp:lastModifiedBy>
  <cp:revision>11</cp:revision>
  <dcterms:created xsi:type="dcterms:W3CDTF">2013-01-27T09:14:16Z</dcterms:created>
  <dcterms:modified xsi:type="dcterms:W3CDTF">2026-10-16T13:18:12Z</dcterms:modified>
  <cp:category/>
</cp:coreProperties>
</file>