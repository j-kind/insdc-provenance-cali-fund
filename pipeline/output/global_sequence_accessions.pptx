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1828800"/>
            <a:ext cx="10058400" cy="3200400"/>
          </a:xfrm>
          <a:prstGeom prst="rect">
            <a:avLst/>
          </a:prstGeom>
          <a:noFill/>
        </p:spPr>
        <p:txBody>
          <a:bodyPr wrap="square">
            <a:spAutoFit/>
          </a:bodyPr>
          <a:lstStyle/>
          <a:p>
            <a:pPr>
              <a:defRPr sz="3600" b="1">
                <a:solidFill>
                  <a:srgbClr val="FFFFFF"/>
                </a:solidFill>
              </a:defRPr>
            </a:pPr>
            <a:r>
              <a:t>Global Variation in Sequence Accessions Over Time</a:t>
            </a:r>
          </a:p>
          <a:p>
            <a:pPr>
              <a:spcBef>
                <a:spcPts val="1600"/>
              </a:spcBef>
              <a:defRPr sz="2200">
                <a:solidFill>
                  <a:srgbClr val="A8C7E8"/>
                </a:solidFill>
              </a:defRPr>
            </a:pPr>
            <a:r>
              <a:t>Implications for the Cali Fund and DSI Benefit-Sharing</a:t>
            </a:r>
          </a:p>
          <a:p>
            <a:pPr>
              <a:spcBef>
                <a:spcPts val="2400"/>
              </a:spcBef>
              <a:defRPr sz="1800">
                <a:solidFill>
                  <a:srgbClr val="7BA8D4"/>
                </a:solidFill>
              </a:defRPr>
            </a:pPr>
            <a:r>
              <a:t>13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Why this matters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800" b="0">
                <a:solidFill>
                  <a:srgbClr val="1A1A1A"/>
                </a:solidFill>
              </a:defRPr>
            </a:pPr>
            <a:r>
              <a:t>The multilateral mechanism for benefit-sharing from digital sequence information (DSI), agreed at COP16 in Cali, includes a fund to which users of DSI are expected to contribute.</a:t>
            </a:r>
          </a:p>
          <a:p>
            <a:pPr>
              <a:lnSpc>
                <a:spcPct val="130000"/>
              </a:lnSpc>
              <a:spcBef>
                <a:spcPts val="800"/>
              </a:spcBef>
              <a:defRPr sz="1800" b="0">
                <a:solidFill>
                  <a:srgbClr val="1A1A1A"/>
                </a:solidFill>
              </a:defRPr>
            </a:pPr>
            <a:r>
              <a:t>A central question is how to allocate those funds among eligible countries. One proposed basis is the geographic distribution of sequence records in public databases: countries that are the source of many sequenced organisms might be considered to have contributed more to the global commons.</a:t>
            </a:r>
          </a:p>
          <a:p>
            <a:pPr>
              <a:lnSpc>
                <a:spcPct val="130000"/>
              </a:lnSpc>
              <a:spcBef>
                <a:spcPts val="800"/>
              </a:spcBef>
              <a:defRPr sz="1800" b="0">
                <a:solidFill>
                  <a:srgbClr val="1A1A1A"/>
                </a:solidFill>
              </a:defRPr>
            </a:pPr>
            <a:r>
              <a:t>This report tests whether INSDC provenance data are fit for that purpose. It does not prescribe a formula. Rather, it examines whether the data are complete enough, fair enough, and stable enough to support an allocation methodology.</a:t>
            </a:r>
          </a:p>
          <a:p>
            <a:pPr>
              <a:lnSpc>
                <a:spcPct val="130000"/>
              </a:lnSpc>
              <a:spcBef>
                <a:spcPts val="800"/>
              </a:spcBef>
              <a:defRPr sz="1400" b="0">
                <a:solidFill>
                  <a:srgbClr val="999999"/>
                </a:solidFill>
              </a:defRPr>
            </a:pPr>
            <a:r>
              <a:t>INSDC: International Nucleotide Sequence Database Collaboration, comprising ENA (Europe), DDBJ (Japan), and NCBI (USA). The three databases exchange data daily.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Data source and scope</a:t>
            </a:r>
          </a:p>
          <a:p>
            <a:pPr>
              <a:spcBef>
                <a:spcPts val="400"/>
              </a:spcBef>
              <a:defRPr sz="1600">
                <a:solidFill>
                  <a:srgbClr val="666666"/>
                </a:solidFill>
              </a:defRPr>
            </a:pPr>
            <a:r>
              <a:t>What was counted and what was excluded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All counts were obtained from the European Nucleotide Archive (ENA) Portal API, which provides programmatic access to metadata for biological samples deposited in INSDC databases. ENA is the European partner of INSDC, which also includes DDBJ and NCBI. The three databases exchange data daily, so counts from ENA are representative of global holdings.</a:t>
            </a:r>
          </a:p>
          <a:p>
            <a:pPr>
              <a:lnSpc>
                <a:spcPct val="130000"/>
              </a:lnSpc>
              <a:spcBef>
                <a:spcPts val="800"/>
              </a:spcBef>
              <a:defRPr sz="1700" b="0">
                <a:solidFill>
                  <a:srgbClr val="1A1A1A"/>
                </a:solidFill>
              </a:defRPr>
            </a:pPr>
            <a:r>
              <a:t>The analysis uses the sample record type, corresponding to one record per biological sample deposited. This is the appropriate unit for provenance questions because a single sample may generate multiple sequencing runs, and counting runs would inflate the numbers.</a:t>
            </a:r>
          </a:p>
          <a:p>
            <a:pPr>
              <a:lnSpc>
                <a:spcPct val="130000"/>
              </a:lnSpc>
              <a:spcBef>
                <a:spcPts val="800"/>
              </a:spcBef>
              <a:defRPr sz="1700" b="1">
                <a:solidFill>
                  <a:srgbClr val="1A1A1A"/>
                </a:solidFill>
              </a:defRPr>
            </a:pPr>
            <a:r>
              <a:t>Three categories of records were excluded:</a:t>
            </a:r>
          </a:p>
          <a:p>
            <a:pPr lvl="1">
              <a:lnSpc>
                <a:spcPct val="130000"/>
              </a:lnSpc>
              <a:spcBef>
                <a:spcPts val="400"/>
              </a:spcBef>
              <a:defRPr sz="1600" b="0">
                <a:solidFill>
                  <a:srgbClr val="666666"/>
                </a:solidFill>
              </a:defRPr>
            </a:pPr>
            <a:r>
              <a:t>Human organism records, which are not relevant to biodiversity benefit-sharing</a:t>
            </a:r>
          </a:p>
          <a:p>
            <a:pPr lvl="1">
              <a:lnSpc>
                <a:spcPct val="130000"/>
              </a:lnSpc>
              <a:spcBef>
                <a:spcPts val="400"/>
              </a:spcBef>
              <a:defRPr sz="1600" b="0">
                <a:solidFill>
                  <a:srgbClr val="666666"/>
                </a:solidFill>
              </a:defRPr>
            </a:pPr>
            <a:r>
              <a:t>Human microbiome samples, where the host organism is a human</a:t>
            </a:r>
          </a:p>
          <a:p>
            <a:pPr lvl="1">
              <a:lnSpc>
                <a:spcPct val="130000"/>
              </a:lnSpc>
              <a:spcBef>
                <a:spcPts val="400"/>
              </a:spcBef>
              <a:defRPr sz="1600" b="0">
                <a:solidFill>
                  <a:srgbClr val="666666"/>
                </a:solidFill>
              </a:defRPr>
            </a:pPr>
            <a:r>
              <a:t>Synthetic constructs, which do not correspond to biological genetic resources</a:t>
            </a:r>
          </a:p>
          <a:p>
            <a:pPr>
              <a:lnSpc>
                <a:spcPct val="130000"/>
              </a:lnSpc>
              <a:spcBef>
                <a:spcPts val="800"/>
              </a:spcBef>
              <a:defRPr sz="1700" b="0">
                <a:solidFill>
                  <a:srgbClr val="1A1A1A"/>
                </a:solidFill>
              </a:defRPr>
            </a:pPr>
            <a:r>
              <a:t>After applying these filters, the total record count was 30,313,212. This figure was verified by an independent query to the ENA API on the same date and matches exactly.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Country attribution</a:t>
            </a:r>
          </a:p>
          <a:p>
            <a:pPr>
              <a:spcBef>
                <a:spcPts val="400"/>
              </a:spcBef>
              <a:defRPr sz="1600">
                <a:solidFill>
                  <a:srgbClr val="666666"/>
                </a:solidFill>
              </a:defRPr>
            </a:pPr>
            <a:r>
              <a:t>How records were assigned to countries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Each record has a country of collection recorded in a geographic location field. The analysis queried 378 distinct values: 296 from the INSDC controlled vocabulary plus 82 additional values identified through systematic sampling (alternative country names, locality names, placeholders).</a:t>
            </a:r>
          </a:p>
          <a:p>
            <a:pPr>
              <a:lnSpc>
                <a:spcPct val="130000"/>
              </a:lnSpc>
              <a:spcBef>
                <a:spcPts val="800"/>
              </a:spcBef>
              <a:defRPr sz="1700" b="0">
                <a:solidFill>
                  <a:srgbClr val="1A1A1A"/>
                </a:solidFill>
              </a:defRPr>
            </a:pPr>
            <a:r>
              <a:t>The database uses token-based matching: a query for a short country name matches any record where that name appears as a word anywhere in the field. This creates false matches, for example when querying Mexico and matching records from USA: New Mexico.</a:t>
            </a:r>
          </a:p>
          <a:p>
            <a:pPr>
              <a:lnSpc>
                <a:spcPct val="130000"/>
              </a:lnSpc>
              <a:spcBef>
                <a:spcPts val="800"/>
              </a:spcBef>
              <a:defRPr sz="1700" b="0">
                <a:solidFill>
                  <a:srgbClr val="1A1A1A"/>
                </a:solidFill>
              </a:defRPr>
            </a:pPr>
            <a:r>
              <a:t>Twenty collision exclusions were applied to prevent these false matches, covering cross-country pairs (Guinea matching Papua New Guinea), sub-national pairs (Mexico matching the US state of New Mexico), and ocean name overlaps (China matching South China Sea).</a:t>
            </a:r>
          </a:p>
          <a:p>
            <a:pPr>
              <a:lnSpc>
                <a:spcPct val="130000"/>
              </a:lnSpc>
              <a:spcBef>
                <a:spcPts val="800"/>
              </a:spcBef>
              <a:defRPr sz="1700" b="0">
                <a:solidFill>
                  <a:srgbClr val="1A1A1A"/>
                </a:solidFill>
              </a:defRPr>
            </a:pPr>
            <a:r>
              <a:t>Raw values were aggregated onto 267 sovereign countries using UN M.49 and World Bank income classifications. Historical names with multiple successor states (USSR, Yugoslavia) were set aside.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Temporal anchor</a:t>
            </a:r>
          </a:p>
          <a:p>
            <a:pPr>
              <a:spcBef>
                <a:spcPts val="400"/>
              </a:spcBef>
              <a:defRPr sz="1600">
                <a:solidFill>
                  <a:srgbClr val="666666"/>
                </a:solidFill>
              </a:defRPr>
            </a:pPr>
            <a:r>
              <a:t>How records were assigned to years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Each record was assigned to a year based on the date it was first made publicly available. This date is set by the database, not by the submitter, and is therefore a reliable indicator of when the record entered the public domain.</a:t>
            </a:r>
          </a:p>
          <a:p>
            <a:pPr>
              <a:lnSpc>
                <a:spcPct val="130000"/>
              </a:lnSpc>
              <a:spcBef>
                <a:spcPts val="800"/>
              </a:spcBef>
              <a:defRPr sz="1700" b="0">
                <a:solidFill>
                  <a:srgbClr val="1A1A1A"/>
                </a:solidFill>
              </a:defRPr>
            </a:pPr>
            <a:r>
              <a:t>Annual counts cover 2018 through 2026, with 2026 including only January to October because the snapshot was taken on 13 October 2026. A pre-2018 bucket captures older records, and an undated bucket captures records with no public release date.</a:t>
            </a:r>
          </a:p>
          <a:p>
            <a:pPr>
              <a:lnSpc>
                <a:spcPct val="130000"/>
              </a:lnSpc>
              <a:spcBef>
                <a:spcPts val="800"/>
              </a:spcBef>
              <a:defRPr sz="1700" b="0">
                <a:solidFill>
                  <a:srgbClr val="1A1A1A"/>
                </a:solidFill>
              </a:defRPr>
            </a:pPr>
            <a:r>
              <a:t>Approximately 21.5 per cent of records have no date recorded. These undated records are reported separately rather than being distributed across years. This means that annual counts are partial censuses, not complete enumerations.</a:t>
            </a:r>
          </a:p>
          <a:p>
            <a:pPr>
              <a:lnSpc>
                <a:spcPct val="130000"/>
              </a:lnSpc>
              <a:spcBef>
                <a:spcPts val="800"/>
              </a:spcBef>
              <a:defRPr sz="1700" b="0">
                <a:solidFill>
                  <a:srgbClr val="1A1A1A"/>
                </a:solidFill>
              </a:defRPr>
            </a:pPr>
            <a:r>
              <a:t>The dated share varies by country, which introduces temporal bias. Countries with poor date metadata will appear to have fewer records in annual counts relative to their true total.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What can be attributed to a country?</a:t>
            </a:r>
          </a:p>
          <a:p>
            <a:pPr>
              <a:spcBef>
                <a:spcPts val="400"/>
              </a:spcBef>
              <a:defRPr sz="1600">
                <a:solidFill>
                  <a:srgbClr val="666666"/>
                </a:solidFill>
              </a:defRPr>
            </a:pPr>
            <a:r>
              <a:t>Nearly two-thirds of records; the rest cannot be assigned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6858000" cy="1920240"/>
        </p:xfrm>
        <a:graphic>
          <a:graphicData uri="http://schemas.openxmlformats.org/drawingml/2006/table">
            <a:tbl>
              <a:tblPr firstRow="1" bandRow="1">
                <a:tableStyleId>{5C22544A-7EE6-4342-B048-85BDC9FD1C3A}</a:tableStyleId>
              </a:tblPr>
              <a:tblGrid>
                <a:gridCol w="2286000"/>
                <a:gridCol w="2286000"/>
                <a:gridCol w="2286000"/>
              </a:tblGrid>
              <a:tr h="320040">
                <a:tc>
                  <a:txBody>
                    <a:bodyPr/>
                    <a:lstStyle/>
                    <a:p>
                      <a:pPr>
                        <a:defRPr sz="1400" b="1">
                          <a:solidFill>
                            <a:srgbClr val="FFFFFF"/>
                          </a:solidFill>
                        </a:defRPr>
                      </a:pPr>
                      <a:r>
                        <a:t>Attribution status</a:t>
                      </a:r>
                    </a:p>
                  </a:txBody>
                  <a:tcPr>
                    <a:solidFill>
                      <a:srgbClr val="1F4E79"/>
                    </a:solidFill>
                  </a:tcPr>
                </a:tc>
                <a:tc>
                  <a:txBody>
                    <a:bodyPr/>
                    <a:lstStyle/>
                    <a:p>
                      <a:pPr>
                        <a:defRPr sz="1400" b="1">
                          <a:solidFill>
                            <a:srgbClr val="FFFFFF"/>
                          </a:solidFill>
                        </a:defRPr>
                      </a:pPr>
                      <a:r>
                        <a:t>Record count</a:t>
                      </a:r>
                    </a:p>
                  </a:txBody>
                  <a:tcPr>
                    <a:solidFill>
                      <a:srgbClr val="1F4E79"/>
                    </a:solidFill>
                  </a:tcPr>
                </a:tc>
                <a:tc>
                  <a:txBody>
                    <a:bodyPr/>
                    <a:lstStyle/>
                    <a:p>
                      <a:pPr>
                        <a:defRPr sz="1400" b="1">
                          <a:solidFill>
                            <a:srgbClr val="FFFFFF"/>
                          </a:solidFill>
                        </a:defRPr>
                      </a:pPr>
                      <a:r>
                        <a:t>Per cent of total</a:t>
                      </a:r>
                    </a:p>
                  </a:txBody>
                  <a:tcPr>
                    <a:solidFill>
                      <a:srgbClr val="1F4E79"/>
                    </a:solidFill>
                  </a:tcPr>
                </a:tc>
              </a:tr>
              <a:tr h="320040">
                <a:tc>
                  <a:txBody>
                    <a:bodyPr/>
                    <a:lstStyle/>
                    <a:p>
                      <a:pPr>
                        <a:defRPr sz="1300">
                          <a:solidFill>
                            <a:srgbClr val="1A1A1A"/>
                          </a:solidFill>
                        </a:defRPr>
                      </a:pPr>
                      <a:r>
                        <a:t>Attributed to a sovereign country</a:t>
                      </a:r>
                    </a:p>
                  </a:txBody>
                  <a:tcPr/>
                </a:tc>
                <a:tc>
                  <a:txBody>
                    <a:bodyPr/>
                    <a:lstStyle/>
                    <a:p>
                      <a:pPr>
                        <a:defRPr sz="1300">
                          <a:solidFill>
                            <a:srgbClr val="1A1A1A"/>
                          </a:solidFill>
                        </a:defRPr>
                      </a:pPr>
                      <a:r>
                        <a:t>18,987,186</a:t>
                      </a:r>
                    </a:p>
                  </a:txBody>
                  <a:tcPr/>
                </a:tc>
                <a:tc>
                  <a:txBody>
                    <a:bodyPr/>
                    <a:lstStyle/>
                    <a:p>
                      <a:pPr>
                        <a:defRPr sz="1300">
                          <a:solidFill>
                            <a:srgbClr val="1A1A1A"/>
                          </a:solidFill>
                        </a:defRPr>
                      </a:pPr>
                      <a:r>
                        <a:t>62.6%</a:t>
                      </a:r>
                    </a:p>
                  </a:txBody>
                  <a:tcPr/>
                </a:tc>
              </a:tr>
              <a:tr h="320040">
                <a:tc>
                  <a:txBody>
                    <a:bodyPr/>
                    <a:lstStyle/>
                    <a:p>
                      <a:pPr>
                        <a:defRPr sz="1300">
                          <a:solidFill>
                            <a:srgbClr val="1A1A1A"/>
                          </a:solidFill>
                        </a:defRPr>
                      </a:pPr>
                      <a:r>
                        <a:t>No country field present</a:t>
                      </a:r>
                    </a:p>
                  </a:txBody>
                  <a:tcPr>
                    <a:solidFill>
                      <a:srgbClr val="F5F8FC"/>
                    </a:solidFill>
                  </a:tcPr>
                </a:tc>
                <a:tc>
                  <a:txBody>
                    <a:bodyPr/>
                    <a:lstStyle/>
                    <a:p>
                      <a:pPr>
                        <a:defRPr sz="1300">
                          <a:solidFill>
                            <a:srgbClr val="1A1A1A"/>
                          </a:solidFill>
                        </a:defRPr>
                      </a:pPr>
                      <a:r>
                        <a:t>7,695,501</a:t>
                      </a:r>
                    </a:p>
                  </a:txBody>
                  <a:tcPr>
                    <a:solidFill>
                      <a:srgbClr val="F5F8FC"/>
                    </a:solidFill>
                  </a:tcPr>
                </a:tc>
                <a:tc>
                  <a:txBody>
                    <a:bodyPr/>
                    <a:lstStyle/>
                    <a:p>
                      <a:pPr>
                        <a:defRPr sz="1300">
                          <a:solidFill>
                            <a:srgbClr val="1A1A1A"/>
                          </a:solidFill>
                        </a:defRPr>
                      </a:pPr>
                      <a:r>
                        <a:t>25.4%</a:t>
                      </a:r>
                    </a:p>
                  </a:txBody>
                  <a:tcPr>
                    <a:solidFill>
                      <a:srgbClr val="F5F8FC"/>
                    </a:solidFill>
                  </a:tcPr>
                </a:tc>
              </a:tr>
              <a:tr h="320040">
                <a:tc>
                  <a:txBody>
                    <a:bodyPr/>
                    <a:lstStyle/>
                    <a:p>
                      <a:pPr>
                        <a:defRPr sz="1300">
                          <a:solidFill>
                            <a:srgbClr val="1A1A1A"/>
                          </a:solidFill>
                        </a:defRPr>
                      </a:pPr>
                      <a:r>
                        <a:t>Non-country value (oceans, placeholders)</a:t>
                      </a:r>
                    </a:p>
                  </a:txBody>
                  <a:tcPr/>
                </a:tc>
                <a:tc>
                  <a:txBody>
                    <a:bodyPr/>
                    <a:lstStyle/>
                    <a:p>
                      <a:pPr>
                        <a:defRPr sz="1300">
                          <a:solidFill>
                            <a:srgbClr val="1A1A1A"/>
                          </a:solidFill>
                        </a:defRPr>
                      </a:pPr>
                      <a:r>
                        <a:t>3,920,292</a:t>
                      </a:r>
                    </a:p>
                  </a:txBody>
                  <a:tcPr/>
                </a:tc>
                <a:tc>
                  <a:txBody>
                    <a:bodyPr/>
                    <a:lstStyle/>
                    <a:p>
                      <a:pPr>
                        <a:defRPr sz="1300">
                          <a:solidFill>
                            <a:srgbClr val="1A1A1A"/>
                          </a:solidFill>
                        </a:defRPr>
                      </a:pPr>
                      <a:r>
                        <a:t>12.9%</a:t>
                      </a:r>
                    </a:p>
                  </a:txBody>
                  <a:tcPr/>
                </a:tc>
              </a:tr>
              <a:tr h="320040">
                <a:tc>
                  <a:txBody>
                    <a:bodyPr/>
                    <a:lstStyle/>
                    <a:p>
                      <a:pPr>
                        <a:defRPr sz="1300">
                          <a:solidFill>
                            <a:srgbClr val="1A1A1A"/>
                          </a:solidFill>
                        </a:defRPr>
                      </a:pPr>
                      <a:r>
                        <a:t>Historical (multi-successor states)</a:t>
                      </a:r>
                    </a:p>
                  </a:txBody>
                  <a:tcPr>
                    <a:solidFill>
                      <a:srgbClr val="F5F8FC"/>
                    </a:solidFill>
                  </a:tcPr>
                </a:tc>
                <a:tc>
                  <a:txBody>
                    <a:bodyPr/>
                    <a:lstStyle/>
                    <a:p>
                      <a:pPr>
                        <a:defRPr sz="1300">
                          <a:solidFill>
                            <a:srgbClr val="1A1A1A"/>
                          </a:solidFill>
                        </a:defRPr>
                      </a:pPr>
                      <a:r>
                        <a:t>20,143</a:t>
                      </a:r>
                    </a:p>
                  </a:txBody>
                  <a:tcPr>
                    <a:solidFill>
                      <a:srgbClr val="F5F8FC"/>
                    </a:solidFill>
                  </a:tcPr>
                </a:tc>
                <a:tc>
                  <a:txBody>
                    <a:bodyPr/>
                    <a:lstStyle/>
                    <a:p>
                      <a:pPr>
                        <a:defRPr sz="1300">
                          <a:solidFill>
                            <a:srgbClr val="1A1A1A"/>
                          </a:solidFill>
                        </a:defRPr>
                      </a:pPr>
                      <a:r>
                        <a:t>0.1%</a:t>
                      </a:r>
                    </a:p>
                  </a:txBody>
                  <a:tcPr>
                    <a:solidFill>
                      <a:srgbClr val="F5F8FC"/>
                    </a:solidFill>
                  </a:tcPr>
                </a:tc>
              </a:tr>
              <a:tr h="320040">
                <a:tc>
                  <a:txBody>
                    <a:bodyPr/>
                    <a:lstStyle/>
                    <a:p>
                      <a:pPr>
                        <a:defRPr sz="1300">
                          <a:solidFill>
                            <a:srgbClr val="1A1A1A"/>
                          </a:solidFill>
                        </a:defRPr>
                      </a:pPr>
                      <a:r>
                        <a:t>Total</a:t>
                      </a:r>
                    </a:p>
                  </a:txBody>
                  <a:tcPr/>
                </a:tc>
                <a:tc>
                  <a:txBody>
                    <a:bodyPr/>
                    <a:lstStyle/>
                    <a:p>
                      <a:pPr>
                        <a:defRPr sz="1300">
                          <a:solidFill>
                            <a:srgbClr val="1A1A1A"/>
                          </a:solidFill>
                        </a:defRPr>
                      </a:pPr>
                      <a:r>
                        <a:t>30,313,212</a:t>
                      </a:r>
                    </a:p>
                  </a:txBody>
                  <a:tcPr/>
                </a:tc>
                <a:tc>
                  <a:txBody>
                    <a:bodyPr/>
                    <a:lstStyle/>
                    <a:p>
                      <a:pPr>
                        <a:defRPr sz="1300">
                          <a:solidFill>
                            <a:srgbClr val="1A1A1A"/>
                          </a:solidFill>
                        </a:defRPr>
                      </a:pPr>
                      <a:r>
                        <a:t>100%</a:t>
                      </a:r>
                    </a:p>
                  </a:txBody>
                  <a:tcPr/>
                </a:tc>
              </a:tr>
            </a:tbl>
          </a:graphicData>
        </a:graphic>
      </p:graphicFrame>
      <p:sp>
        <p:nvSpPr>
          <p:cNvPr id="5" name="TextBox 4"/>
          <p:cNvSpPr txBox="1"/>
          <p:nvPr/>
        </p:nvSpPr>
        <p:spPr>
          <a:xfrm>
            <a:off x="7955279" y="1554480"/>
            <a:ext cx="3931920" cy="4572000"/>
          </a:xfrm>
          <a:prstGeom prst="rect">
            <a:avLst/>
          </a:prstGeom>
          <a:noFill/>
        </p:spPr>
        <p:txBody>
          <a:bodyPr wrap="square">
            <a:spAutoFit/>
          </a:bodyPr>
          <a:lstStyle/>
          <a:p>
            <a:pPr>
              <a:lnSpc>
                <a:spcPct val="130000"/>
              </a:lnSpc>
              <a:spcBef>
                <a:spcPts val="800"/>
              </a:spcBef>
              <a:defRPr sz="1600" b="0">
                <a:solidFill>
                  <a:srgbClr val="1A1A1A"/>
                </a:solidFill>
              </a:defRPr>
            </a:pPr>
            <a:r>
              <a:t>38.3 per cent of all records cannot be attributed to any country. This is either because no country was recorded, the recorded value is a placeholder such as missing or NULL, or the value is a geographic feature such as an ocean rather than a political jurisdiction.</a:t>
            </a:r>
          </a:p>
          <a:p>
            <a:pPr>
              <a:lnSpc>
                <a:spcPct val="130000"/>
              </a:lnSpc>
              <a:spcBef>
                <a:spcPts val="800"/>
              </a:spcBef>
              <a:defRPr sz="1600" b="1">
                <a:solidFill>
                  <a:srgbClr val="1F4E79"/>
                </a:solidFill>
              </a:defRPr>
            </a:pPr>
            <a:r>
              <a:t>This is a critical finding for any proposal to use these data as an allocation basis: more than a third of records would be excluded from a country-level formula, and the excluded fraction is not randomly distributed.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Records without a country field over time</a:t>
            </a:r>
          </a:p>
          <a:p>
            <a:pPr>
              <a:spcBef>
                <a:spcPts val="400"/>
              </a:spcBef>
              <a:defRPr sz="1600">
                <a:solidFill>
                  <a:srgbClr val="666666"/>
                </a:solidFill>
              </a:defRPr>
            </a:pPr>
            <a:r>
              <a:t>Share of annual records with no country recorded,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art_no_country_trend.png"/>
          <p:cNvPicPr>
            <a:picLocks noChangeAspect="1"/>
          </p:cNvPicPr>
          <p:nvPr/>
        </p:nvPicPr>
        <p:blipFill>
          <a:blip r:embed="rId2"/>
          <a:stretch>
            <a:fillRect/>
          </a:stretch>
        </p:blipFill>
        <p:spPr>
          <a:xfrm>
            <a:off x="731520" y="1463040"/>
            <a:ext cx="7315200" cy="3952493"/>
          </a:xfrm>
          <a:prstGeom prst="rect">
            <a:avLst/>
          </a:prstGeom>
        </p:spPr>
      </p:pic>
      <p:sp>
        <p:nvSpPr>
          <p:cNvPr id="5" name="TextBox 4"/>
          <p:cNvSpPr txBox="1"/>
          <p:nvPr/>
        </p:nvSpPr>
        <p:spPr>
          <a:xfrm>
            <a:off x="8412480" y="1463040"/>
            <a:ext cx="3474720" cy="4572000"/>
          </a:xfrm>
          <a:prstGeom prst="rect">
            <a:avLst/>
          </a:prstGeom>
          <a:noFill/>
        </p:spPr>
        <p:txBody>
          <a:bodyPr wrap="square">
            <a:spAutoFit/>
          </a:bodyPr>
          <a:lstStyle/>
          <a:p>
            <a:pPr>
              <a:lnSpc>
                <a:spcPct val="125000"/>
              </a:lnSpc>
              <a:spcBef>
                <a:spcPts val="600"/>
              </a:spcBef>
              <a:defRPr sz="1600" b="1">
                <a:solidFill>
                  <a:srgbClr val="1F4E79"/>
                </a:solidFill>
              </a:defRPr>
            </a:pPr>
            <a:r>
              <a:t>What this shows</a:t>
            </a:r>
          </a:p>
          <a:p>
            <a:pPr>
              <a:lnSpc>
                <a:spcPct val="125000"/>
              </a:lnSpc>
              <a:spcBef>
                <a:spcPts val="600"/>
              </a:spcBef>
              <a:defRPr sz="1400" b="0">
                <a:solidFill>
                  <a:srgbClr val="1A1A1A"/>
                </a:solidFill>
              </a:defRPr>
            </a:pPr>
            <a:r>
              <a:t>The share of records with no country field has fallen dramatically, from 44.9 per cent in 2018 to 5.2 per cent in 2026.</a:t>
            </a:r>
          </a:p>
          <a:p>
            <a:pPr>
              <a:lnSpc>
                <a:spcPct val="125000"/>
              </a:lnSpc>
              <a:spcBef>
                <a:spcPts val="600"/>
              </a:spcBef>
              <a:defRPr sz="1400" b="0">
                <a:solidFill>
                  <a:srgbClr val="1A1A1A"/>
                </a:solidFill>
              </a:defRPr>
            </a:pPr>
            <a:r>
              <a:t>The sharpest drop occurred in 2021, when COVID-19 surveillance records flooded the database. These records typically included proper country metadata.</a:t>
            </a:r>
          </a:p>
          <a:p>
            <a:pPr>
              <a:lnSpc>
                <a:spcPct val="125000"/>
              </a:lnSpc>
              <a:spcBef>
                <a:spcPts val="600"/>
              </a:spcBef>
              <a:defRPr sz="1400" b="0">
                <a:solidFill>
                  <a:srgbClr val="1A1A1A"/>
                </a:solidFill>
              </a:defRPr>
            </a:pPr>
            <a:r>
              <a:t>The trend suggests improving data submission practices over time, which is encouraging for future use of these data.</a:t>
            </a:r>
          </a:p>
          <a:p>
            <a:pPr>
              <a:lnSpc>
                <a:spcPct val="125000"/>
              </a:lnSpc>
              <a:spcBef>
                <a:spcPts val="600"/>
              </a:spcBef>
              <a:defRPr sz="1400" b="1">
                <a:solidFill>
                  <a:srgbClr val="B07AA1"/>
                </a:solidFill>
              </a:defRPr>
            </a:pPr>
            <a:r>
              <a:t>However, the overall figure of 38.3 per cent without a country (across all years) reflects the historical backlog of poorly annotated records.</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 Percentage is unattributed records divided by total records for each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All-time sequence records by country</a:t>
            </a:r>
          </a:p>
          <a:p>
            <a:pPr>
              <a:spcBef>
                <a:spcPts val="400"/>
              </a:spcBef>
              <a:defRPr sz="1600">
                <a:solidFill>
                  <a:srgbClr val="666666"/>
                </a:solidFill>
              </a:defRPr>
            </a:pPr>
            <a:r>
              <a:t>Total non-human records attributed to each country, all years combined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eatmap_all_time.png"/>
          <p:cNvPicPr>
            <a:picLocks noChangeAspect="1"/>
          </p:cNvPicPr>
          <p:nvPr/>
        </p:nvPicPr>
        <p:blipFill>
          <a:blip r:embed="rId2"/>
          <a:stretch>
            <a:fillRect/>
          </a:stretch>
        </p:blipFill>
        <p:spPr>
          <a:xfrm>
            <a:off x="1371600" y="1463040"/>
            <a:ext cx="9418320" cy="4709160"/>
          </a:xfrm>
          <a:prstGeom prst="rect">
            <a:avLst/>
          </a:prstGeom>
        </p:spPr>
      </p:pic>
      <p:sp>
        <p:nvSpPr>
          <p:cNvPr id="5" name="TextBox 4"/>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Colour scale is logarithmic and identical on both maps: dark blue indicates the fewest records (around 2), white indicates approximately 4,000 records (the median country), and dark red indicates the most records (over 4 million). Using the same scale on both maps allows direct visual comparison: a country that appears lighter on the post-2023 map has fewer recent records than its all-time total.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Sequence records since 2023 by country</a:t>
            </a:r>
          </a:p>
          <a:p>
            <a:pPr>
              <a:spcBef>
                <a:spcPts val="400"/>
              </a:spcBef>
              <a:defRPr sz="1600">
                <a:solidFill>
                  <a:srgbClr val="666666"/>
                </a:solidFill>
              </a:defRPr>
            </a:pPr>
            <a:r>
              <a:t>Records with a first public release date in 2024, 2025, or 2026 (January to October)</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eatmap_post_2023.png"/>
          <p:cNvPicPr>
            <a:picLocks noChangeAspect="1"/>
          </p:cNvPicPr>
          <p:nvPr/>
        </p:nvPicPr>
        <p:blipFill>
          <a:blip r:embed="rId2"/>
          <a:stretch>
            <a:fillRect/>
          </a:stretch>
        </p:blipFill>
        <p:spPr>
          <a:xfrm>
            <a:off x="1371600" y="1463040"/>
            <a:ext cx="9418320" cy="4709160"/>
          </a:xfrm>
          <a:prstGeom prst="rect">
            <a:avLst/>
          </a:prstGeom>
        </p:spPr>
      </p:pic>
      <p:sp>
        <p:nvSpPr>
          <p:cNvPr id="5" name="TextBox 4"/>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Same colour scale as the all-time map above, allowing direct comparison. Countries that appear lighter on this map have fewer recent records than their all-time total. The dominance of the United Kingdom is greatly reduced because COVID-19 surveillance records were deposited primarily in 2021 to 2023. China and the United States remain dominant, while emerging activity is visible in Brazil, India, and several African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Developed versus developing countries</a:t>
            </a:r>
          </a:p>
          <a:p>
            <a:pPr>
              <a:spcBef>
                <a:spcPts val="400"/>
              </a:spcBef>
              <a:defRPr sz="1600">
                <a:solidFill>
                  <a:srgbClr val="666666"/>
                </a:solidFill>
              </a:defRPr>
            </a:pPr>
            <a:r>
              <a:t>The gap is narrowing, but from a very high level</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5943600" cy="1920240"/>
        </p:xfrm>
        <a:graphic>
          <a:graphicData uri="http://schemas.openxmlformats.org/drawingml/2006/table">
            <a:tbl>
              <a:tblPr firstRow="1" bandRow="1">
                <a:tableStyleId>{5C22544A-7EE6-4342-B048-85BDC9FD1C3A}</a:tableStyleId>
              </a:tblPr>
              <a:tblGrid>
                <a:gridCol w="1485900"/>
                <a:gridCol w="1485900"/>
                <a:gridCol w="1485900"/>
                <a:gridCol w="1485900"/>
              </a:tblGrid>
              <a:tr h="320040">
                <a:tc>
                  <a:txBody>
                    <a:bodyPr/>
                    <a:lstStyle/>
                    <a:p>
                      <a:pPr>
                        <a:defRPr sz="1400" b="1">
                          <a:solidFill>
                            <a:srgbClr val="FFFFFF"/>
                          </a:solidFill>
                        </a:defRPr>
                      </a:pPr>
                      <a:r>
                        <a:t>Year</a:t>
                      </a:r>
                    </a:p>
                  </a:txBody>
                  <a:tcPr>
                    <a:solidFill>
                      <a:srgbClr val="1F4E79"/>
                    </a:solidFill>
                  </a:tcPr>
                </a:tc>
                <a:tc>
                  <a:txBody>
                    <a:bodyPr/>
                    <a:lstStyle/>
                    <a:p>
                      <a:pPr>
                        <a:defRPr sz="1400" b="1">
                          <a:solidFill>
                            <a:srgbClr val="FFFFFF"/>
                          </a:solidFill>
                        </a:defRPr>
                      </a:pPr>
                      <a:r>
                        <a:t>Developed</a:t>
                      </a:r>
                    </a:p>
                  </a:txBody>
                  <a:tcPr>
                    <a:solidFill>
                      <a:srgbClr val="1F4E79"/>
                    </a:solidFill>
                  </a:tcPr>
                </a:tc>
                <a:tc>
                  <a:txBody>
                    <a:bodyPr/>
                    <a:lstStyle/>
                    <a:p>
                      <a:pPr>
                        <a:defRPr sz="1400" b="1">
                          <a:solidFill>
                            <a:srgbClr val="FFFFFF"/>
                          </a:solidFill>
                        </a:defRPr>
                      </a:pPr>
                      <a:r>
                        <a:t>Developing</a:t>
                      </a:r>
                    </a:p>
                  </a:txBody>
                  <a:tcPr>
                    <a:solidFill>
                      <a:srgbClr val="1F4E79"/>
                    </a:solidFill>
                  </a:tcPr>
                </a:tc>
                <a:tc>
                  <a:txBody>
                    <a:bodyPr/>
                    <a:lstStyle/>
                    <a:p>
                      <a:pPr>
                        <a:defRPr sz="1400" b="1">
                          <a:solidFill>
                            <a:srgbClr val="FFFFFF"/>
                          </a:solidFill>
                        </a:defRPr>
                      </a:pPr>
                      <a:r>
                        <a:t>Developed share</a:t>
                      </a:r>
                    </a:p>
                  </a:txBody>
                  <a:tcPr>
                    <a:solidFill>
                      <a:srgbClr val="1F4E79"/>
                    </a:solidFill>
                  </a:tcPr>
                </a:tc>
              </a:tr>
              <a:tr h="320040">
                <a:tc>
                  <a:txBody>
                    <a:bodyPr/>
                    <a:lstStyle/>
                    <a:p>
                      <a:pPr>
                        <a:defRPr sz="1300">
                          <a:solidFill>
                            <a:srgbClr val="1A1A1A"/>
                          </a:solidFill>
                        </a:defRPr>
                      </a:pPr>
                      <a:r>
                        <a:t>2018</a:t>
                      </a:r>
                    </a:p>
                  </a:txBody>
                  <a:tcPr/>
                </a:tc>
                <a:tc>
                  <a:txBody>
                    <a:bodyPr/>
                    <a:lstStyle/>
                    <a:p>
                      <a:pPr>
                        <a:defRPr sz="1300">
                          <a:solidFill>
                            <a:srgbClr val="1A1A1A"/>
                          </a:solidFill>
                        </a:defRPr>
                      </a:pPr>
                      <a:r>
                        <a:t>384,484</a:t>
                      </a:r>
                    </a:p>
                  </a:txBody>
                  <a:tcPr/>
                </a:tc>
                <a:tc>
                  <a:txBody>
                    <a:bodyPr/>
                    <a:lstStyle/>
                    <a:p>
                      <a:pPr>
                        <a:defRPr sz="1300">
                          <a:solidFill>
                            <a:srgbClr val="1A1A1A"/>
                          </a:solidFill>
                        </a:defRPr>
                      </a:pPr>
                      <a:r>
                        <a:t>133,652</a:t>
                      </a:r>
                    </a:p>
                  </a:txBody>
                  <a:tcPr/>
                </a:tc>
                <a:tc>
                  <a:txBody>
                    <a:bodyPr/>
                    <a:lstStyle/>
                    <a:p>
                      <a:pPr>
                        <a:defRPr sz="1300">
                          <a:solidFill>
                            <a:srgbClr val="1A1A1A"/>
                          </a:solidFill>
                        </a:defRPr>
                      </a:pPr>
                      <a:r>
                        <a:t>74.2%</a:t>
                      </a:r>
                    </a:p>
                  </a:txBody>
                  <a:tcPr/>
                </a:tc>
              </a:tr>
              <a:tr h="320040">
                <a:tc>
                  <a:txBody>
                    <a:bodyPr/>
                    <a:lstStyle/>
                    <a:p>
                      <a:pPr>
                        <a:defRPr sz="1300">
                          <a:solidFill>
                            <a:srgbClr val="1A1A1A"/>
                          </a:solidFill>
                        </a:defRPr>
                      </a:pPr>
                      <a:r>
                        <a:t>2020</a:t>
                      </a:r>
                    </a:p>
                  </a:txBody>
                  <a:tcPr>
                    <a:solidFill>
                      <a:srgbClr val="F5F8FC"/>
                    </a:solidFill>
                  </a:tcPr>
                </a:tc>
                <a:tc>
                  <a:txBody>
                    <a:bodyPr/>
                    <a:lstStyle/>
                    <a:p>
                      <a:pPr>
                        <a:defRPr sz="1300">
                          <a:solidFill>
                            <a:srgbClr val="1A1A1A"/>
                          </a:solidFill>
                        </a:defRPr>
                      </a:pPr>
                      <a:r>
                        <a:t>774,188</a:t>
                      </a:r>
                    </a:p>
                  </a:txBody>
                  <a:tcPr>
                    <a:solidFill>
                      <a:srgbClr val="F5F8FC"/>
                    </a:solidFill>
                  </a:tcPr>
                </a:tc>
                <a:tc>
                  <a:txBody>
                    <a:bodyPr/>
                    <a:lstStyle/>
                    <a:p>
                      <a:pPr>
                        <a:defRPr sz="1300">
                          <a:solidFill>
                            <a:srgbClr val="1A1A1A"/>
                          </a:solidFill>
                        </a:defRPr>
                      </a:pPr>
                      <a:r>
                        <a:t>331,632</a:t>
                      </a:r>
                    </a:p>
                  </a:txBody>
                  <a:tcPr>
                    <a:solidFill>
                      <a:srgbClr val="F5F8FC"/>
                    </a:solidFill>
                  </a:tcPr>
                </a:tc>
                <a:tc>
                  <a:txBody>
                    <a:bodyPr/>
                    <a:lstStyle/>
                    <a:p>
                      <a:pPr>
                        <a:defRPr sz="1300">
                          <a:solidFill>
                            <a:srgbClr val="1A1A1A"/>
                          </a:solidFill>
                        </a:defRPr>
                      </a:pPr>
                      <a:r>
                        <a:t>69.9%</a:t>
                      </a:r>
                    </a:p>
                  </a:txBody>
                  <a:tcPr>
                    <a:solidFill>
                      <a:srgbClr val="F5F8FC"/>
                    </a:solidFill>
                  </a:tcPr>
                </a:tc>
              </a:tr>
              <a:tr h="320040">
                <a:tc>
                  <a:txBody>
                    <a:bodyPr/>
                    <a:lstStyle/>
                    <a:p>
                      <a:pPr>
                        <a:defRPr sz="1300">
                          <a:solidFill>
                            <a:srgbClr val="1A1A1A"/>
                          </a:solidFill>
                        </a:defRPr>
                      </a:pPr>
                      <a:r>
                        <a:t>2021</a:t>
                      </a:r>
                    </a:p>
                  </a:txBody>
                  <a:tcPr/>
                </a:tc>
                <a:tc>
                  <a:txBody>
                    <a:bodyPr/>
                    <a:lstStyle/>
                    <a:p>
                      <a:pPr>
                        <a:defRPr sz="1300">
                          <a:solidFill>
                            <a:srgbClr val="1A1A1A"/>
                          </a:solidFill>
                        </a:defRPr>
                      </a:pPr>
                      <a:r>
                        <a:t>2,272,486</a:t>
                      </a:r>
                    </a:p>
                  </a:txBody>
                  <a:tcPr/>
                </a:tc>
                <a:tc>
                  <a:txBody>
                    <a:bodyPr/>
                    <a:lstStyle/>
                    <a:p>
                      <a:pPr>
                        <a:defRPr sz="1300">
                          <a:solidFill>
                            <a:srgbClr val="1A1A1A"/>
                          </a:solidFill>
                        </a:defRPr>
                      </a:pPr>
                      <a:r>
                        <a:t>454,492</a:t>
                      </a:r>
                    </a:p>
                  </a:txBody>
                  <a:tcPr/>
                </a:tc>
                <a:tc>
                  <a:txBody>
                    <a:bodyPr/>
                    <a:lstStyle/>
                    <a:p>
                      <a:pPr>
                        <a:defRPr sz="1300">
                          <a:solidFill>
                            <a:srgbClr val="1A1A1A"/>
                          </a:solidFill>
                        </a:defRPr>
                      </a:pPr>
                      <a:r>
                        <a:t>83.3%</a:t>
                      </a:r>
                    </a:p>
                  </a:txBody>
                  <a:tcPr/>
                </a:tc>
              </a:tr>
              <a:tr h="320040">
                <a:tc>
                  <a:txBody>
                    <a:bodyPr/>
                    <a:lstStyle/>
                    <a:p>
                      <a:pPr>
                        <a:defRPr sz="1300">
                          <a:solidFill>
                            <a:srgbClr val="1A1A1A"/>
                          </a:solidFill>
                        </a:defRPr>
                      </a:pPr>
                      <a:r>
                        <a:t>2024</a:t>
                      </a:r>
                    </a:p>
                  </a:txBody>
                  <a:tcPr>
                    <a:solidFill>
                      <a:srgbClr val="F5F8FC"/>
                    </a:solidFill>
                  </a:tcPr>
                </a:tc>
                <a:tc>
                  <a:txBody>
                    <a:bodyPr/>
                    <a:lstStyle/>
                    <a:p>
                      <a:pPr>
                        <a:defRPr sz="1300">
                          <a:solidFill>
                            <a:srgbClr val="1A1A1A"/>
                          </a:solidFill>
                        </a:defRPr>
                      </a:pPr>
                      <a:r>
                        <a:t>998,971</a:t>
                      </a:r>
                    </a:p>
                  </a:txBody>
                  <a:tcPr>
                    <a:solidFill>
                      <a:srgbClr val="F5F8FC"/>
                    </a:solidFill>
                  </a:tcPr>
                </a:tc>
                <a:tc>
                  <a:txBody>
                    <a:bodyPr/>
                    <a:lstStyle/>
                    <a:p>
                      <a:pPr>
                        <a:defRPr sz="1300">
                          <a:solidFill>
                            <a:srgbClr val="1A1A1A"/>
                          </a:solidFill>
                        </a:defRPr>
                      </a:pPr>
                      <a:r>
                        <a:t>723,822</a:t>
                      </a:r>
                    </a:p>
                  </a:txBody>
                  <a:tcPr>
                    <a:solidFill>
                      <a:srgbClr val="F5F8FC"/>
                    </a:solidFill>
                  </a:tcPr>
                </a:tc>
                <a:tc>
                  <a:txBody>
                    <a:bodyPr/>
                    <a:lstStyle/>
                    <a:p>
                      <a:pPr>
                        <a:defRPr sz="1300">
                          <a:solidFill>
                            <a:srgbClr val="1A1A1A"/>
                          </a:solidFill>
                        </a:defRPr>
                      </a:pPr>
                      <a:r>
                        <a:t>58.0%</a:t>
                      </a:r>
                    </a:p>
                  </a:txBody>
                  <a:tcPr>
                    <a:solidFill>
                      <a:srgbClr val="F5F8FC"/>
                    </a:solidFill>
                  </a:tcPr>
                </a:tc>
              </a:tr>
              <a:tr h="320040">
                <a:tc>
                  <a:txBody>
                    <a:bodyPr/>
                    <a:lstStyle/>
                    <a:p>
                      <a:pPr>
                        <a:defRPr sz="1300">
                          <a:solidFill>
                            <a:srgbClr val="1A1A1A"/>
                          </a:solidFill>
                        </a:defRPr>
                      </a:pPr>
                      <a:r>
                        <a:t>2026 (Jan-Oct)</a:t>
                      </a:r>
                    </a:p>
                  </a:txBody>
                  <a:tcPr/>
                </a:tc>
                <a:tc>
                  <a:txBody>
                    <a:bodyPr/>
                    <a:lstStyle/>
                    <a:p>
                      <a:pPr>
                        <a:defRPr sz="1300">
                          <a:solidFill>
                            <a:srgbClr val="1A1A1A"/>
                          </a:solidFill>
                        </a:defRPr>
                      </a:pPr>
                      <a:r>
                        <a:t>561,709</a:t>
                      </a:r>
                    </a:p>
                  </a:txBody>
                  <a:tcPr/>
                </a:tc>
                <a:tc>
                  <a:txBody>
                    <a:bodyPr/>
                    <a:lstStyle/>
                    <a:p>
                      <a:pPr>
                        <a:defRPr sz="1300">
                          <a:solidFill>
                            <a:srgbClr val="1A1A1A"/>
                          </a:solidFill>
                        </a:defRPr>
                      </a:pPr>
                      <a:r>
                        <a:t>540,012</a:t>
                      </a:r>
                    </a:p>
                  </a:txBody>
                  <a:tcPr/>
                </a:tc>
                <a:tc>
                  <a:txBody>
                    <a:bodyPr/>
                    <a:lstStyle/>
                    <a:p>
                      <a:pPr>
                        <a:defRPr sz="1300">
                          <a:solidFill>
                            <a:srgbClr val="1A1A1A"/>
                          </a:solidFill>
                        </a:defRPr>
                      </a:pPr>
                      <a:r>
                        <a:t>50.9%</a:t>
                      </a:r>
                    </a:p>
                  </a:txBody>
                  <a:tcPr/>
                </a:tc>
              </a:tr>
            </a:tbl>
          </a:graphicData>
        </a:graphic>
      </p:graphicFrame>
      <p:sp>
        <p:nvSpPr>
          <p:cNvPr id="5" name="TextBox 4"/>
          <p:cNvSpPr txBox="1"/>
          <p:nvPr/>
        </p:nvSpPr>
        <p:spPr>
          <a:xfrm>
            <a:off x="7040880" y="1554480"/>
            <a:ext cx="4846320" cy="4572000"/>
          </a:xfrm>
          <a:prstGeom prst="rect">
            <a:avLst/>
          </a:prstGeom>
          <a:noFill/>
        </p:spPr>
        <p:txBody>
          <a:bodyPr wrap="square">
            <a:spAutoFit/>
          </a:bodyPr>
          <a:lstStyle/>
          <a:p>
            <a:pPr>
              <a:lnSpc>
                <a:spcPct val="130000"/>
              </a:lnSpc>
              <a:spcBef>
                <a:spcPts val="800"/>
              </a:spcBef>
              <a:defRPr sz="1600" b="1">
                <a:solidFill>
                  <a:srgbClr val="1A1A1A"/>
                </a:solidFill>
              </a:defRPr>
            </a:pPr>
            <a:r>
              <a:t>Overall, developed countries hold 70.4 per cent of all country-attributed records and developing countries hold 29.5 per cent.</a:t>
            </a:r>
          </a:p>
          <a:p>
            <a:pPr>
              <a:lnSpc>
                <a:spcPct val="130000"/>
              </a:lnSpc>
              <a:spcBef>
                <a:spcPts val="800"/>
              </a:spcBef>
              <a:defRPr sz="1600" b="0">
                <a:solidFill>
                  <a:srgbClr val="1A1A1A"/>
                </a:solidFill>
              </a:defRPr>
            </a:pPr>
            <a:r>
              <a:t>The developed-country share fell from 74.2 per cent in 2018 to 50.9 per cent in the first ten months of 2026. This is a genuine shift, but it is not smooth.</a:t>
            </a:r>
          </a:p>
          <a:p>
            <a:pPr>
              <a:lnSpc>
                <a:spcPct val="130000"/>
              </a:lnSpc>
              <a:spcBef>
                <a:spcPts val="800"/>
              </a:spcBef>
              <a:defRPr sz="1600" b="0">
                <a:solidFill>
                  <a:srgbClr val="1A1A1A"/>
                </a:solidFill>
              </a:defRPr>
            </a:pPr>
            <a:r>
              <a:t>The 2021 surge to 83.3 per cent was caused by COVID-19 genomic surveillance, particularly the COG-UK consortium in the United Kingdom.</a:t>
            </a:r>
          </a:p>
          <a:p>
            <a:pPr>
              <a:lnSpc>
                <a:spcPct val="130000"/>
              </a:lnSpc>
              <a:spcBef>
                <a:spcPts val="800"/>
              </a:spcBef>
              <a:defRPr sz="1600" b="0">
                <a:solidFill>
                  <a:srgbClr val="1A1A1A"/>
                </a:solidFill>
              </a:defRPr>
            </a:pPr>
            <a:r>
              <a:t>The convergence visible in 2026 is driven primarily by rapid growth in China and a handful of other upper middle income countries, not by broad-based gains across the developing world.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Trends over time by income group</a:t>
            </a:r>
          </a:p>
          <a:p>
            <a:pPr>
              <a:spcBef>
                <a:spcPts val="400"/>
              </a:spcBef>
              <a:defRPr sz="1600">
                <a:solidFill>
                  <a:srgbClr val="666666"/>
                </a:solidFill>
              </a:defRPr>
            </a:pPr>
            <a:r>
              <a:t>Annual record counts by World Bank income classification,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art_income_trends.png"/>
          <p:cNvPicPr>
            <a:picLocks noChangeAspect="1"/>
          </p:cNvPicPr>
          <p:nvPr/>
        </p:nvPicPr>
        <p:blipFill>
          <a:blip r:embed="rId2"/>
          <a:stretch>
            <a:fillRect/>
          </a:stretch>
        </p:blipFill>
        <p:spPr>
          <a:xfrm>
            <a:off x="731520" y="1463040"/>
            <a:ext cx="7315200" cy="3947494"/>
          </a:xfrm>
          <a:prstGeom prst="rect">
            <a:avLst/>
          </a:prstGeom>
        </p:spPr>
      </p:pic>
      <p:sp>
        <p:nvSpPr>
          <p:cNvPr id="5" name="TextBox 4"/>
          <p:cNvSpPr txBox="1"/>
          <p:nvPr/>
        </p:nvSpPr>
        <p:spPr>
          <a:xfrm>
            <a:off x="8412480" y="1463040"/>
            <a:ext cx="3474720" cy="4572000"/>
          </a:xfrm>
          <a:prstGeom prst="rect">
            <a:avLst/>
          </a:prstGeom>
          <a:noFill/>
        </p:spPr>
        <p:txBody>
          <a:bodyPr wrap="square">
            <a:spAutoFit/>
          </a:bodyPr>
          <a:lstStyle/>
          <a:p>
            <a:pPr>
              <a:lnSpc>
                <a:spcPct val="125000"/>
              </a:lnSpc>
              <a:spcBef>
                <a:spcPts val="600"/>
              </a:spcBef>
              <a:defRPr sz="1600" b="1">
                <a:solidFill>
                  <a:srgbClr val="1F4E79"/>
                </a:solidFill>
              </a:defRPr>
            </a:pPr>
            <a:r>
              <a:t>What this shows</a:t>
            </a:r>
          </a:p>
          <a:p>
            <a:pPr>
              <a:lnSpc>
                <a:spcPct val="125000"/>
              </a:lnSpc>
              <a:spcBef>
                <a:spcPts val="600"/>
              </a:spcBef>
              <a:defRPr sz="1400" b="0">
                <a:solidFill>
                  <a:srgbClr val="1A1A1A"/>
                </a:solidFill>
              </a:defRPr>
            </a:pPr>
            <a:r>
              <a:t>High-income countries (blue) dominate throughout, but their annual output peaked in 2021 during the COVID-19 surge and has since declined sharply.</a:t>
            </a:r>
          </a:p>
          <a:p>
            <a:pPr>
              <a:lnSpc>
                <a:spcPct val="125000"/>
              </a:lnSpc>
              <a:spcBef>
                <a:spcPts val="600"/>
              </a:spcBef>
              <a:defRPr sz="1400" b="0">
                <a:solidFill>
                  <a:srgbClr val="1A1A1A"/>
                </a:solidFill>
              </a:defRPr>
            </a:pPr>
            <a:r>
              <a:t>Upper middle income countries (green), led by China, have grown steadily and are now approaching parity with high-income countries.</a:t>
            </a:r>
          </a:p>
          <a:p>
            <a:pPr>
              <a:lnSpc>
                <a:spcPct val="125000"/>
              </a:lnSpc>
              <a:spcBef>
                <a:spcPts val="600"/>
              </a:spcBef>
              <a:defRPr sz="1400" b="0">
                <a:solidFill>
                  <a:srgbClr val="1A1A1A"/>
                </a:solidFill>
              </a:defRPr>
            </a:pPr>
            <a:r>
              <a:t>Lower middle income and low-income countries (orange and red) remain far behind, together accounting for only 5 per cent of annual records.</a:t>
            </a:r>
          </a:p>
          <a:p>
            <a:pPr>
              <a:lnSpc>
                <a:spcPct val="125000"/>
              </a:lnSpc>
              <a:spcBef>
                <a:spcPts val="600"/>
              </a:spcBef>
              <a:defRPr sz="1400" b="1">
                <a:solidFill>
                  <a:srgbClr val="E15759"/>
                </a:solidFill>
              </a:defRPr>
            </a:pPr>
            <a:r>
              <a:t>The convergence is the clearest structural trend, but it is driven substantially by a single country.</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Income group trends excluding high income</a:t>
            </a:r>
          </a:p>
          <a:p>
            <a:pPr>
              <a:spcBef>
                <a:spcPts val="400"/>
              </a:spcBef>
              <a:defRPr sz="1600">
                <a:solidFill>
                  <a:srgbClr val="666666"/>
                </a:solidFill>
              </a:defRPr>
            </a:pPr>
            <a:r>
              <a:t>Annual record counts for upper middle, lower middle, and low income countries,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art_income_excl_high.png"/>
          <p:cNvPicPr>
            <a:picLocks noChangeAspect="1"/>
          </p:cNvPicPr>
          <p:nvPr/>
        </p:nvPicPr>
        <p:blipFill>
          <a:blip r:embed="rId2"/>
          <a:stretch>
            <a:fillRect/>
          </a:stretch>
        </p:blipFill>
        <p:spPr>
          <a:xfrm>
            <a:off x="731520" y="1463040"/>
            <a:ext cx="7315200" cy="3949159"/>
          </a:xfrm>
          <a:prstGeom prst="rect">
            <a:avLst/>
          </a:prstGeom>
        </p:spPr>
      </p:pic>
      <p:sp>
        <p:nvSpPr>
          <p:cNvPr id="5" name="TextBox 4"/>
          <p:cNvSpPr txBox="1"/>
          <p:nvPr/>
        </p:nvSpPr>
        <p:spPr>
          <a:xfrm>
            <a:off x="8412480" y="1463040"/>
            <a:ext cx="3474720" cy="4572000"/>
          </a:xfrm>
          <a:prstGeom prst="rect">
            <a:avLst/>
          </a:prstGeom>
          <a:noFill/>
        </p:spPr>
        <p:txBody>
          <a:bodyPr wrap="square">
            <a:spAutoFit/>
          </a:bodyPr>
          <a:lstStyle/>
          <a:p>
            <a:pPr>
              <a:lnSpc>
                <a:spcPct val="125000"/>
              </a:lnSpc>
              <a:spcBef>
                <a:spcPts val="600"/>
              </a:spcBef>
              <a:defRPr sz="1600" b="1">
                <a:solidFill>
                  <a:srgbClr val="1F4E79"/>
                </a:solidFill>
              </a:defRPr>
            </a:pPr>
            <a:r>
              <a:t>What this shows</a:t>
            </a:r>
          </a:p>
          <a:p>
            <a:pPr>
              <a:lnSpc>
                <a:spcPct val="125000"/>
              </a:lnSpc>
              <a:spcBef>
                <a:spcPts val="600"/>
              </a:spcBef>
              <a:defRPr sz="1400" b="0">
                <a:solidFill>
                  <a:srgbClr val="1A1A1A"/>
                </a:solidFill>
              </a:defRPr>
            </a:pPr>
            <a:r>
              <a:t>With high-income countries removed, the scale differences between the remaining three groups become visible.</a:t>
            </a:r>
          </a:p>
          <a:p>
            <a:pPr>
              <a:lnSpc>
                <a:spcPct val="125000"/>
              </a:lnSpc>
              <a:spcBef>
                <a:spcPts val="600"/>
              </a:spcBef>
              <a:defRPr sz="1400" b="0">
                <a:solidFill>
                  <a:srgbClr val="1A1A1A"/>
                </a:solidFill>
              </a:defRPr>
            </a:pPr>
            <a:r>
              <a:t>Upper middle income countries (green) dominate this view, reaching over 700,000 records per year by 2025, driven largely by China.</a:t>
            </a:r>
          </a:p>
          <a:p>
            <a:pPr>
              <a:lnSpc>
                <a:spcPct val="125000"/>
              </a:lnSpc>
              <a:spcBef>
                <a:spcPts val="600"/>
              </a:spcBef>
              <a:defRPr sz="1400" b="0">
                <a:solidFill>
                  <a:srgbClr val="1A1A1A"/>
                </a:solidFill>
              </a:defRPr>
            </a:pPr>
            <a:r>
              <a:t>Lower middle income countries (orange) peaked in 2022 at 124,000 records, partly from a single large project, then fell back.</a:t>
            </a:r>
          </a:p>
          <a:p>
            <a:pPr>
              <a:lnSpc>
                <a:spcPct val="125000"/>
              </a:lnSpc>
              <a:spcBef>
                <a:spcPts val="600"/>
              </a:spcBef>
              <a:defRPr sz="1400" b="1">
                <a:solidFill>
                  <a:srgbClr val="E15759"/>
                </a:solidFill>
              </a:defRPr>
            </a:pPr>
            <a:r>
              <a:t>Low-income countries (red) remain below 25,000 records per year throughout. The gap between upper middle and low income is roughly 30-fold.</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 High-income countries excluded to show scale differences among the remaining groups.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Income group distribution</a:t>
            </a:r>
          </a:p>
          <a:p>
            <a:pPr>
              <a:spcBef>
                <a:spcPts val="400"/>
              </a:spcBef>
              <a:defRPr sz="1600">
                <a:solidFill>
                  <a:srgbClr val="666666"/>
                </a:solidFill>
              </a:defRPr>
            </a:pPr>
            <a:r>
              <a:t>Concentration at the top, scarcity at the bottom</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5943600" cy="1600200"/>
        </p:xfrm>
        <a:graphic>
          <a:graphicData uri="http://schemas.openxmlformats.org/drawingml/2006/table">
            <a:tbl>
              <a:tblPr firstRow="1" bandRow="1">
                <a:tableStyleId>{5C22544A-7EE6-4342-B048-85BDC9FD1C3A}</a:tableStyleId>
              </a:tblPr>
              <a:tblGrid>
                <a:gridCol w="1485900"/>
                <a:gridCol w="1485900"/>
                <a:gridCol w="1485900"/>
                <a:gridCol w="1485900"/>
              </a:tblGrid>
              <a:tr h="320040">
                <a:tc>
                  <a:txBody>
                    <a:bodyPr/>
                    <a:lstStyle/>
                    <a:p>
                      <a:pPr>
                        <a:defRPr sz="1400" b="1">
                          <a:solidFill>
                            <a:srgbClr val="FFFFFF"/>
                          </a:solidFill>
                        </a:defRPr>
                      </a:pPr>
                      <a:r>
                        <a:t>Income group</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tr>
              <a:tr h="320040">
                <a:tc>
                  <a:txBody>
                    <a:bodyPr/>
                    <a:lstStyle/>
                    <a:p>
                      <a:pPr>
                        <a:defRPr sz="1300">
                          <a:solidFill>
                            <a:srgbClr val="1A1A1A"/>
                          </a:solidFill>
                        </a:defRPr>
                      </a:pPr>
                      <a:r>
                        <a:t>High income</a:t>
                      </a:r>
                    </a:p>
                  </a:txBody>
                  <a:tcPr/>
                </a:tc>
                <a:tc>
                  <a:txBody>
                    <a:bodyPr/>
                    <a:lstStyle/>
                    <a:p>
                      <a:pPr>
                        <a:defRPr sz="1300">
                          <a:solidFill>
                            <a:srgbClr val="1A1A1A"/>
                          </a:solidFill>
                        </a:defRPr>
                      </a:pPr>
                      <a:r>
                        <a:t>82</a:t>
                      </a:r>
                    </a:p>
                  </a:txBody>
                  <a:tcPr/>
                </a:tc>
                <a:tc>
                  <a:txBody>
                    <a:bodyPr/>
                    <a:lstStyle/>
                    <a:p>
                      <a:pPr>
                        <a:defRPr sz="1300">
                          <a:solidFill>
                            <a:srgbClr val="1A1A1A"/>
                          </a:solidFill>
                        </a:defRPr>
                      </a:pPr>
                      <a:r>
                        <a:t>13,806,686</a:t>
                      </a:r>
                    </a:p>
                  </a:txBody>
                  <a:tcPr/>
                </a:tc>
                <a:tc>
                  <a:txBody>
                    <a:bodyPr/>
                    <a:lstStyle/>
                    <a:p>
                      <a:pPr>
                        <a:defRPr sz="1300">
                          <a:solidFill>
                            <a:srgbClr val="1A1A1A"/>
                          </a:solidFill>
                        </a:defRPr>
                      </a:pPr>
                      <a:r>
                        <a:t>72.7%</a:t>
                      </a:r>
                    </a:p>
                  </a:txBody>
                  <a:tcPr/>
                </a:tc>
              </a:tr>
              <a:tr h="320040">
                <a:tc>
                  <a:txBody>
                    <a:bodyPr/>
                    <a:lstStyle/>
                    <a:p>
                      <a:pPr>
                        <a:defRPr sz="1300">
                          <a:solidFill>
                            <a:srgbClr val="1A1A1A"/>
                          </a:solidFill>
                        </a:defRPr>
                      </a:pPr>
                      <a:r>
                        <a:t>Upper middle income</a:t>
                      </a:r>
                    </a:p>
                  </a:txBody>
                  <a:tcPr>
                    <a:solidFill>
                      <a:srgbClr val="F5F8FC"/>
                    </a:solidFill>
                  </a:tcPr>
                </a:tc>
                <a:tc>
                  <a:txBody>
                    <a:bodyPr/>
                    <a:lstStyle/>
                    <a:p>
                      <a:pPr>
                        <a:defRPr sz="1300">
                          <a:solidFill>
                            <a:srgbClr val="1A1A1A"/>
                          </a:solidFill>
                        </a:defRPr>
                      </a:pPr>
                      <a:r>
                        <a:t>54</a:t>
                      </a:r>
                    </a:p>
                  </a:txBody>
                  <a:tcPr>
                    <a:solidFill>
                      <a:srgbClr val="F5F8FC"/>
                    </a:solidFill>
                  </a:tcPr>
                </a:tc>
                <a:tc>
                  <a:txBody>
                    <a:bodyPr/>
                    <a:lstStyle/>
                    <a:p>
                      <a:pPr>
                        <a:defRPr sz="1300">
                          <a:solidFill>
                            <a:srgbClr val="1A1A1A"/>
                          </a:solidFill>
                        </a:defRPr>
                      </a:pPr>
                      <a:r>
                        <a:t>4,163,957</a:t>
                      </a:r>
                    </a:p>
                  </a:txBody>
                  <a:tcPr>
                    <a:solidFill>
                      <a:srgbClr val="F5F8FC"/>
                    </a:solidFill>
                  </a:tcPr>
                </a:tc>
                <a:tc>
                  <a:txBody>
                    <a:bodyPr/>
                    <a:lstStyle/>
                    <a:p>
                      <a:pPr>
                        <a:defRPr sz="1300">
                          <a:solidFill>
                            <a:srgbClr val="1A1A1A"/>
                          </a:solidFill>
                        </a:defRPr>
                      </a:pPr>
                      <a:r>
                        <a:t>21.9%</a:t>
                      </a:r>
                    </a:p>
                  </a:txBody>
                  <a:tcPr>
                    <a:solidFill>
                      <a:srgbClr val="F5F8FC"/>
                    </a:solidFill>
                  </a:tcPr>
                </a:tc>
              </a:tr>
              <a:tr h="320040">
                <a:tc>
                  <a:txBody>
                    <a:bodyPr/>
                    <a:lstStyle/>
                    <a:p>
                      <a:pPr>
                        <a:defRPr sz="1300">
                          <a:solidFill>
                            <a:srgbClr val="1A1A1A"/>
                          </a:solidFill>
                        </a:defRPr>
                      </a:pPr>
                      <a:r>
                        <a:t>Lower middle income</a:t>
                      </a:r>
                    </a:p>
                  </a:txBody>
                  <a:tcPr/>
                </a:tc>
                <a:tc>
                  <a:txBody>
                    <a:bodyPr/>
                    <a:lstStyle/>
                    <a:p>
                      <a:pPr>
                        <a:defRPr sz="1300">
                          <a:solidFill>
                            <a:srgbClr val="1A1A1A"/>
                          </a:solidFill>
                        </a:defRPr>
                      </a:pPr>
                      <a:r>
                        <a:t>52</a:t>
                      </a:r>
                    </a:p>
                  </a:txBody>
                  <a:tcPr/>
                </a:tc>
                <a:tc>
                  <a:txBody>
                    <a:bodyPr/>
                    <a:lstStyle/>
                    <a:p>
                      <a:pPr>
                        <a:defRPr sz="1300">
                          <a:solidFill>
                            <a:srgbClr val="1A1A1A"/>
                          </a:solidFill>
                        </a:defRPr>
                      </a:pPr>
                      <a:r>
                        <a:t>684,992</a:t>
                      </a:r>
                    </a:p>
                  </a:txBody>
                  <a:tcPr/>
                </a:tc>
                <a:tc>
                  <a:txBody>
                    <a:bodyPr/>
                    <a:lstStyle/>
                    <a:p>
                      <a:pPr>
                        <a:defRPr sz="1300">
                          <a:solidFill>
                            <a:srgbClr val="1A1A1A"/>
                          </a:solidFill>
                        </a:defRPr>
                      </a:pPr>
                      <a:r>
                        <a:t>3.6%</a:t>
                      </a:r>
                    </a:p>
                  </a:txBody>
                  <a:tcPr/>
                </a:tc>
              </a:tr>
              <a:tr h="320040">
                <a:tc>
                  <a:txBody>
                    <a:bodyPr/>
                    <a:lstStyle/>
                    <a:p>
                      <a:pPr>
                        <a:defRPr sz="1300">
                          <a:solidFill>
                            <a:srgbClr val="1A1A1A"/>
                          </a:solidFill>
                        </a:defRPr>
                      </a:pPr>
                      <a:r>
                        <a:t>Low income</a:t>
                      </a:r>
                    </a:p>
                  </a:txBody>
                  <a:tcPr>
                    <a:solidFill>
                      <a:srgbClr val="F5F8FC"/>
                    </a:solidFill>
                  </a:tcPr>
                </a:tc>
                <a:tc>
                  <a:txBody>
                    <a:bodyPr/>
                    <a:lstStyle/>
                    <a:p>
                      <a:pPr>
                        <a:defRPr sz="1300">
                          <a:solidFill>
                            <a:srgbClr val="1A1A1A"/>
                          </a:solidFill>
                        </a:defRPr>
                      </a:pPr>
                      <a:r>
                        <a:t>26</a:t>
                      </a:r>
                    </a:p>
                  </a:txBody>
                  <a:tcPr>
                    <a:solidFill>
                      <a:srgbClr val="F5F8FC"/>
                    </a:solidFill>
                  </a:tcPr>
                </a:tc>
                <a:tc>
                  <a:txBody>
                    <a:bodyPr/>
                    <a:lstStyle/>
                    <a:p>
                      <a:pPr>
                        <a:defRPr sz="1300">
                          <a:solidFill>
                            <a:srgbClr val="1A1A1A"/>
                          </a:solidFill>
                        </a:defRPr>
                      </a:pPr>
                      <a:r>
                        <a:t>261,334</a:t>
                      </a:r>
                    </a:p>
                  </a:txBody>
                  <a:tcPr>
                    <a:solidFill>
                      <a:srgbClr val="F5F8FC"/>
                    </a:solidFill>
                  </a:tcPr>
                </a:tc>
                <a:tc>
                  <a:txBody>
                    <a:bodyPr/>
                    <a:lstStyle/>
                    <a:p>
                      <a:pPr>
                        <a:defRPr sz="1300">
                          <a:solidFill>
                            <a:srgbClr val="1A1A1A"/>
                          </a:solidFill>
                        </a:defRPr>
                      </a:pPr>
                      <a:r>
                        <a:t>1.4%</a:t>
                      </a:r>
                    </a:p>
                  </a:txBody>
                  <a:tcPr>
                    <a:solidFill>
                      <a:srgbClr val="F5F8FC"/>
                    </a:solidFill>
                  </a:tcPr>
                </a:tc>
              </a:tr>
            </a:tbl>
          </a:graphicData>
        </a:graphic>
      </p:graphicFrame>
      <p:sp>
        <p:nvSpPr>
          <p:cNvPr id="5" name="TextBox 4"/>
          <p:cNvSpPr txBox="1"/>
          <p:nvPr/>
        </p:nvSpPr>
        <p:spPr>
          <a:xfrm>
            <a:off x="7040880" y="1554480"/>
            <a:ext cx="4846320" cy="4572000"/>
          </a:xfrm>
          <a:prstGeom prst="rect">
            <a:avLst/>
          </a:prstGeom>
          <a:noFill/>
        </p:spPr>
        <p:txBody>
          <a:bodyPr wrap="square">
            <a:spAutoFit/>
          </a:bodyPr>
          <a:lstStyle/>
          <a:p>
            <a:pPr>
              <a:lnSpc>
                <a:spcPct val="130000"/>
              </a:lnSpc>
              <a:spcBef>
                <a:spcPts val="800"/>
              </a:spcBef>
              <a:defRPr sz="1600" b="0">
                <a:solidFill>
                  <a:srgbClr val="1A1A1A"/>
                </a:solidFill>
              </a:defRPr>
            </a:pPr>
            <a:r>
              <a:t>High-income countries hold nearly three-quarters of all records. Upper middle income countries, led by China, hold just under a quarter. Lower middle income and low-income countries together account for only 5.0 per cent, despite containing 78 countries between them.</a:t>
            </a:r>
          </a:p>
          <a:p>
            <a:pPr>
              <a:lnSpc>
                <a:spcPct val="130000"/>
              </a:lnSpc>
              <a:spcBef>
                <a:spcPts val="800"/>
              </a:spcBef>
              <a:defRPr sz="1600" b="0">
                <a:solidFill>
                  <a:srgbClr val="1A1A1A"/>
                </a:solidFill>
              </a:defRPr>
            </a:pPr>
            <a:r>
              <a:t>Comparing 2021-2023 with 2024-2026, upper middle income countries grew by 43 per cent on an annualised basis, while high-income countries declined by 55 per cent. This is the strongest evidence of a structural shift, though the decline is partly the natural end of the COVID-19 surge.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Vulnerable country groups</a:t>
            </a:r>
          </a:p>
          <a:p>
            <a:pPr>
              <a:spcBef>
                <a:spcPts val="400"/>
              </a:spcBef>
              <a:defRPr sz="1600">
                <a:solidFill>
                  <a:srgbClr val="666666"/>
                </a:solidFill>
              </a:defRPr>
            </a:pPr>
            <a:r>
              <a:t>LDCs, SIDS, and LLDCs remain far behind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5029200" cy="1280160"/>
        </p:xfrm>
        <a:graphic>
          <a:graphicData uri="http://schemas.openxmlformats.org/drawingml/2006/table">
            <a:tbl>
              <a:tblPr firstRow="1" bandRow="1">
                <a:tableStyleId>{5C22544A-7EE6-4342-B048-85BDC9FD1C3A}</a:tableStyleId>
              </a:tblPr>
              <a:tblGrid>
                <a:gridCol w="1257300"/>
                <a:gridCol w="1257300"/>
                <a:gridCol w="1257300"/>
                <a:gridCol w="1257300"/>
              </a:tblGrid>
              <a:tr h="320040">
                <a:tc>
                  <a:txBody>
                    <a:bodyPr/>
                    <a:lstStyle/>
                    <a:p>
                      <a:pPr>
                        <a:defRPr sz="1400" b="1">
                          <a:solidFill>
                            <a:srgbClr val="FFFFFF"/>
                          </a:solidFill>
                        </a:defRPr>
                      </a:pPr>
                      <a:r>
                        <a:t>Group</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tr>
              <a:tr h="320040">
                <a:tc>
                  <a:txBody>
                    <a:bodyPr/>
                    <a:lstStyle/>
                    <a:p>
                      <a:pPr>
                        <a:defRPr sz="1300">
                          <a:solidFill>
                            <a:srgbClr val="1A1A1A"/>
                          </a:solidFill>
                        </a:defRPr>
                      </a:pPr>
                      <a:r>
                        <a:t>LDCs</a:t>
                      </a:r>
                    </a:p>
                  </a:txBody>
                  <a:tcPr/>
                </a:tc>
                <a:tc>
                  <a:txBody>
                    <a:bodyPr/>
                    <a:lstStyle/>
                    <a:p>
                      <a:pPr>
                        <a:defRPr sz="1300">
                          <a:solidFill>
                            <a:srgbClr val="1A1A1A"/>
                          </a:solidFill>
                        </a:defRPr>
                      </a:pPr>
                      <a:r>
                        <a:t>47</a:t>
                      </a:r>
                    </a:p>
                  </a:txBody>
                  <a:tcPr/>
                </a:tc>
                <a:tc>
                  <a:txBody>
                    <a:bodyPr/>
                    <a:lstStyle/>
                    <a:p>
                      <a:pPr>
                        <a:defRPr sz="1300">
                          <a:solidFill>
                            <a:srgbClr val="1A1A1A"/>
                          </a:solidFill>
                        </a:defRPr>
                      </a:pPr>
                      <a:r>
                        <a:t>527,519</a:t>
                      </a:r>
                    </a:p>
                  </a:txBody>
                  <a:tcPr/>
                </a:tc>
                <a:tc>
                  <a:txBody>
                    <a:bodyPr/>
                    <a:lstStyle/>
                    <a:p>
                      <a:pPr>
                        <a:defRPr sz="1300">
                          <a:solidFill>
                            <a:srgbClr val="1A1A1A"/>
                          </a:solidFill>
                        </a:defRPr>
                      </a:pPr>
                      <a:r>
                        <a:t>2.8%</a:t>
                      </a:r>
                    </a:p>
                  </a:txBody>
                  <a:tcPr/>
                </a:tc>
              </a:tr>
              <a:tr h="320040">
                <a:tc>
                  <a:txBody>
                    <a:bodyPr/>
                    <a:lstStyle/>
                    <a:p>
                      <a:pPr>
                        <a:defRPr sz="1300">
                          <a:solidFill>
                            <a:srgbClr val="1A1A1A"/>
                          </a:solidFill>
                        </a:defRPr>
                      </a:pPr>
                      <a:r>
                        <a:t>SIDS</a:t>
                      </a:r>
                    </a:p>
                  </a:txBody>
                  <a:tcPr>
                    <a:solidFill>
                      <a:srgbClr val="F5F8FC"/>
                    </a:solidFill>
                  </a:tcPr>
                </a:tc>
                <a:tc>
                  <a:txBody>
                    <a:bodyPr/>
                    <a:lstStyle/>
                    <a:p>
                      <a:pPr>
                        <a:defRPr sz="1300">
                          <a:solidFill>
                            <a:srgbClr val="1A1A1A"/>
                          </a:solidFill>
                        </a:defRPr>
                      </a:pPr>
                      <a:r>
                        <a:t>51</a:t>
                      </a:r>
                    </a:p>
                  </a:txBody>
                  <a:tcPr>
                    <a:solidFill>
                      <a:srgbClr val="F5F8FC"/>
                    </a:solidFill>
                  </a:tcPr>
                </a:tc>
                <a:tc>
                  <a:txBody>
                    <a:bodyPr/>
                    <a:lstStyle/>
                    <a:p>
                      <a:pPr>
                        <a:defRPr sz="1300">
                          <a:solidFill>
                            <a:srgbClr val="1A1A1A"/>
                          </a:solidFill>
                        </a:defRPr>
                      </a:pPr>
                      <a:r>
                        <a:t>218,743</a:t>
                      </a:r>
                    </a:p>
                  </a:txBody>
                  <a:tcPr>
                    <a:solidFill>
                      <a:srgbClr val="F5F8FC"/>
                    </a:solidFill>
                  </a:tcPr>
                </a:tc>
                <a:tc>
                  <a:txBody>
                    <a:bodyPr/>
                    <a:lstStyle/>
                    <a:p>
                      <a:pPr>
                        <a:defRPr sz="1300">
                          <a:solidFill>
                            <a:srgbClr val="1A1A1A"/>
                          </a:solidFill>
                        </a:defRPr>
                      </a:pPr>
                      <a:r>
                        <a:t>1.2%</a:t>
                      </a:r>
                    </a:p>
                  </a:txBody>
                  <a:tcPr>
                    <a:solidFill>
                      <a:srgbClr val="F5F8FC"/>
                    </a:solidFill>
                  </a:tcPr>
                </a:tc>
              </a:tr>
              <a:tr h="320040">
                <a:tc>
                  <a:txBody>
                    <a:bodyPr/>
                    <a:lstStyle/>
                    <a:p>
                      <a:pPr>
                        <a:defRPr sz="1300">
                          <a:solidFill>
                            <a:srgbClr val="1A1A1A"/>
                          </a:solidFill>
                        </a:defRPr>
                      </a:pPr>
                      <a:r>
                        <a:t>LLDCs</a:t>
                      </a:r>
                    </a:p>
                  </a:txBody>
                  <a:tcPr/>
                </a:tc>
                <a:tc>
                  <a:txBody>
                    <a:bodyPr/>
                    <a:lstStyle/>
                    <a:p>
                      <a:pPr>
                        <a:defRPr sz="1300">
                          <a:solidFill>
                            <a:srgbClr val="1A1A1A"/>
                          </a:solidFill>
                        </a:defRPr>
                      </a:pPr>
                      <a:r>
                        <a:t>32</a:t>
                      </a:r>
                    </a:p>
                  </a:txBody>
                  <a:tcPr/>
                </a:tc>
                <a:tc>
                  <a:txBody>
                    <a:bodyPr/>
                    <a:lstStyle/>
                    <a:p>
                      <a:pPr>
                        <a:defRPr sz="1300">
                          <a:solidFill>
                            <a:srgbClr val="1A1A1A"/>
                          </a:solidFill>
                        </a:defRPr>
                      </a:pPr>
                      <a:r>
                        <a:t>235,701</a:t>
                      </a:r>
                    </a:p>
                  </a:txBody>
                  <a:tcPr/>
                </a:tc>
                <a:tc>
                  <a:txBody>
                    <a:bodyPr/>
                    <a:lstStyle/>
                    <a:p>
                      <a:pPr>
                        <a:defRPr sz="1300">
                          <a:solidFill>
                            <a:srgbClr val="1A1A1A"/>
                          </a:solidFill>
                        </a:defRPr>
                      </a:pPr>
                      <a:r>
                        <a:t>1.2%</a:t>
                      </a:r>
                    </a:p>
                  </a:txBody>
                  <a:tcPr/>
                </a:tc>
              </a:tr>
            </a:tbl>
          </a:graphicData>
        </a:graphic>
      </p:graphicFrame>
      <p:sp>
        <p:nvSpPr>
          <p:cNvPr id="5" name="TextBox 4"/>
          <p:cNvSpPr txBox="1"/>
          <p:nvPr/>
        </p:nvSpPr>
        <p:spPr>
          <a:xfrm>
            <a:off x="6217920" y="1554480"/>
            <a:ext cx="5486400" cy="2286000"/>
          </a:xfrm>
          <a:prstGeom prst="rect">
            <a:avLst/>
          </a:prstGeom>
          <a:noFill/>
        </p:spPr>
        <p:txBody>
          <a:bodyPr wrap="square">
            <a:spAutoFit/>
          </a:bodyPr>
          <a:lstStyle/>
          <a:p>
            <a:pPr>
              <a:defRPr sz="1800" b="1">
                <a:solidFill>
                  <a:srgbClr val="1F4E79"/>
                </a:solidFill>
              </a:defRPr>
            </a:pPr>
            <a:r>
              <a:t>The Canada comparison</a:t>
            </a:r>
          </a:p>
          <a:p>
            <a:pPr>
              <a:spcBef>
                <a:spcPts val="1200"/>
              </a:spcBef>
              <a:defRPr sz="2000" b="1">
                <a:solidFill>
                  <a:srgbClr val="E15759"/>
                </a:solidFill>
              </a:defRPr>
            </a:pPr>
            <a:r>
              <a:t>47 LDCs combined: 527,519 records</a:t>
            </a:r>
          </a:p>
          <a:p>
            <a:pPr>
              <a:spcBef>
                <a:spcPts val="600"/>
              </a:spcBef>
              <a:defRPr sz="2000" b="1">
                <a:solidFill>
                  <a:srgbClr val="4E79A7"/>
                </a:solidFill>
              </a:defRPr>
            </a:pPr>
            <a:r>
              <a:t>Canada alone: 530,725 records</a:t>
            </a:r>
          </a:p>
        </p:txBody>
      </p:sp>
      <p:sp>
        <p:nvSpPr>
          <p:cNvPr id="6" name="TextBox 5"/>
          <p:cNvSpPr txBox="1"/>
          <p:nvPr/>
        </p:nvSpPr>
        <p:spPr>
          <a:xfrm>
            <a:off x="731520" y="4114800"/>
            <a:ext cx="10515600" cy="2286000"/>
          </a:xfrm>
          <a:prstGeom prst="rect">
            <a:avLst/>
          </a:prstGeom>
          <a:noFill/>
        </p:spPr>
        <p:txBody>
          <a:bodyPr wrap="square">
            <a:spAutoFit/>
          </a:bodyPr>
          <a:lstStyle/>
          <a:p>
            <a:pPr>
              <a:lnSpc>
                <a:spcPct val="130000"/>
              </a:lnSpc>
              <a:spcBef>
                <a:spcPts val="800"/>
              </a:spcBef>
              <a:defRPr sz="1600" b="0">
                <a:solidFill>
                  <a:srgbClr val="1A1A1A"/>
                </a:solidFill>
              </a:defRPr>
            </a:pPr>
            <a:r>
              <a:t>LDC records are highly volatile. A 407 per cent surge in 2022 was driven by a few large projects, not broad-based capacity growth. The following year, LDC records fell by 71 per cent. This illustrates how dependent these counts are on individual projects and funding cycles, rather than durable institutional capacity.</a:t>
            </a:r>
          </a:p>
          <a:p>
            <a:pPr>
              <a:lnSpc>
                <a:spcPct val="130000"/>
              </a:lnSpc>
              <a:spcBef>
                <a:spcPts val="800"/>
              </a:spcBef>
              <a:defRPr sz="1600" b="0">
                <a:solidFill>
                  <a:srgbClr val="1A1A1A"/>
                </a:solidFill>
              </a:defRPr>
            </a:pPr>
            <a:r>
              <a:t>The thin margin between 47 LDCs and a single G7 economy (approximately 3,200 records) could reverse with one large deposition. This fragility is itself a finding relevant to the Cali Fund equity objectives.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Regional distribution</a:t>
            </a:r>
          </a:p>
          <a:p>
            <a:pPr>
              <a:spcBef>
                <a:spcPts val="400"/>
              </a:spcBef>
              <a:defRPr sz="1600">
                <a:solidFill>
                  <a:srgbClr val="666666"/>
                </a:solidFill>
              </a:defRPr>
            </a:pPr>
            <a:r>
              <a:t>Europe dominates, Africa persists at the bottom</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5486400" cy="1920240"/>
        </p:xfrm>
        <a:graphic>
          <a:graphicData uri="http://schemas.openxmlformats.org/drawingml/2006/table">
            <a:tbl>
              <a:tblPr firstRow="1" bandRow="1">
                <a:tableStyleId>{5C22544A-7EE6-4342-B048-85BDC9FD1C3A}</a:tableStyleId>
              </a:tblPr>
              <a:tblGrid>
                <a:gridCol w="1371600"/>
                <a:gridCol w="1371600"/>
                <a:gridCol w="1371600"/>
                <a:gridCol w="1371600"/>
              </a:tblGrid>
              <a:tr h="320040">
                <a:tc>
                  <a:txBody>
                    <a:bodyPr/>
                    <a:lstStyle/>
                    <a:p>
                      <a:pPr>
                        <a:defRPr sz="1400" b="1">
                          <a:solidFill>
                            <a:srgbClr val="FFFFFF"/>
                          </a:solidFill>
                        </a:defRPr>
                      </a:pPr>
                      <a:r>
                        <a:t>Region</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tr>
              <a:tr h="320040">
                <a:tc>
                  <a:txBody>
                    <a:bodyPr/>
                    <a:lstStyle/>
                    <a:p>
                      <a:pPr>
                        <a:defRPr sz="1300">
                          <a:solidFill>
                            <a:srgbClr val="1A1A1A"/>
                          </a:solidFill>
                        </a:defRPr>
                      </a:pPr>
                      <a:r>
                        <a:t>Europe</a:t>
                      </a:r>
                    </a:p>
                  </a:txBody>
                  <a:tcPr/>
                </a:tc>
                <a:tc>
                  <a:txBody>
                    <a:bodyPr/>
                    <a:lstStyle/>
                    <a:p>
                      <a:pPr>
                        <a:defRPr sz="1300">
                          <a:solidFill>
                            <a:srgbClr val="1A1A1A"/>
                          </a:solidFill>
                        </a:defRPr>
                      </a:pPr>
                      <a:r>
                        <a:t>49</a:t>
                      </a:r>
                    </a:p>
                  </a:txBody>
                  <a:tcPr/>
                </a:tc>
                <a:tc>
                  <a:txBody>
                    <a:bodyPr/>
                    <a:lstStyle/>
                    <a:p>
                      <a:pPr>
                        <a:defRPr sz="1300">
                          <a:solidFill>
                            <a:srgbClr val="1A1A1A"/>
                          </a:solidFill>
                        </a:defRPr>
                      </a:pPr>
                      <a:r>
                        <a:t>7,768,889</a:t>
                      </a:r>
                    </a:p>
                  </a:txBody>
                  <a:tcPr/>
                </a:tc>
                <a:tc>
                  <a:txBody>
                    <a:bodyPr/>
                    <a:lstStyle/>
                    <a:p>
                      <a:pPr>
                        <a:defRPr sz="1300">
                          <a:solidFill>
                            <a:srgbClr val="1A1A1A"/>
                          </a:solidFill>
                        </a:defRPr>
                      </a:pPr>
                      <a:r>
                        <a:t>40.9%</a:t>
                      </a:r>
                    </a:p>
                  </a:txBody>
                  <a:tcPr/>
                </a:tc>
              </a:tr>
              <a:tr h="320040">
                <a:tc>
                  <a:txBody>
                    <a:bodyPr/>
                    <a:lstStyle/>
                    <a:p>
                      <a:pPr>
                        <a:defRPr sz="1300">
                          <a:solidFill>
                            <a:srgbClr val="1A1A1A"/>
                          </a:solidFill>
                        </a:defRPr>
                      </a:pPr>
                      <a:r>
                        <a:t>Americas</a:t>
                      </a:r>
                    </a:p>
                  </a:txBody>
                  <a:tcPr>
                    <a:solidFill>
                      <a:srgbClr val="F5F8FC"/>
                    </a:solidFill>
                  </a:tcPr>
                </a:tc>
                <a:tc>
                  <a:txBody>
                    <a:bodyPr/>
                    <a:lstStyle/>
                    <a:p>
                      <a:pPr>
                        <a:defRPr sz="1300">
                          <a:solidFill>
                            <a:srgbClr val="1A1A1A"/>
                          </a:solidFill>
                        </a:defRPr>
                      </a:pPr>
                      <a:r>
                        <a:t>53</a:t>
                      </a:r>
                    </a:p>
                  </a:txBody>
                  <a:tcPr>
                    <a:solidFill>
                      <a:srgbClr val="F5F8FC"/>
                    </a:solidFill>
                  </a:tcPr>
                </a:tc>
                <a:tc>
                  <a:txBody>
                    <a:bodyPr/>
                    <a:lstStyle/>
                    <a:p>
                      <a:pPr>
                        <a:defRPr sz="1300">
                          <a:solidFill>
                            <a:srgbClr val="1A1A1A"/>
                          </a:solidFill>
                        </a:defRPr>
                      </a:pPr>
                      <a:r>
                        <a:t>5,217,623</a:t>
                      </a:r>
                    </a:p>
                  </a:txBody>
                  <a:tcPr>
                    <a:solidFill>
                      <a:srgbClr val="F5F8FC"/>
                    </a:solidFill>
                  </a:tcPr>
                </a:tc>
                <a:tc>
                  <a:txBody>
                    <a:bodyPr/>
                    <a:lstStyle/>
                    <a:p>
                      <a:pPr>
                        <a:defRPr sz="1300">
                          <a:solidFill>
                            <a:srgbClr val="1A1A1A"/>
                          </a:solidFill>
                        </a:defRPr>
                      </a:pPr>
                      <a:r>
                        <a:t>27.5%</a:t>
                      </a:r>
                    </a:p>
                  </a:txBody>
                  <a:tcPr>
                    <a:solidFill>
                      <a:srgbClr val="F5F8FC"/>
                    </a:solidFill>
                  </a:tcPr>
                </a:tc>
              </a:tr>
              <a:tr h="320040">
                <a:tc>
                  <a:txBody>
                    <a:bodyPr/>
                    <a:lstStyle/>
                    <a:p>
                      <a:pPr>
                        <a:defRPr sz="1300">
                          <a:solidFill>
                            <a:srgbClr val="1A1A1A"/>
                          </a:solidFill>
                        </a:defRPr>
                      </a:pPr>
                      <a:r>
                        <a:t>Asia</a:t>
                      </a:r>
                    </a:p>
                  </a:txBody>
                  <a:tcPr/>
                </a:tc>
                <a:tc>
                  <a:txBody>
                    <a:bodyPr/>
                    <a:lstStyle/>
                    <a:p>
                      <a:pPr>
                        <a:defRPr sz="1300">
                          <a:solidFill>
                            <a:srgbClr val="1A1A1A"/>
                          </a:solidFill>
                        </a:defRPr>
                      </a:pPr>
                      <a:r>
                        <a:t>50</a:t>
                      </a:r>
                    </a:p>
                  </a:txBody>
                  <a:tcPr/>
                </a:tc>
                <a:tc>
                  <a:txBody>
                    <a:bodyPr/>
                    <a:lstStyle/>
                    <a:p>
                      <a:pPr>
                        <a:defRPr sz="1300">
                          <a:solidFill>
                            <a:srgbClr val="1A1A1A"/>
                          </a:solidFill>
                        </a:defRPr>
                      </a:pPr>
                      <a:r>
                        <a:t>4,654,034</a:t>
                      </a:r>
                    </a:p>
                  </a:txBody>
                  <a:tcPr/>
                </a:tc>
                <a:tc>
                  <a:txBody>
                    <a:bodyPr/>
                    <a:lstStyle/>
                    <a:p>
                      <a:pPr>
                        <a:defRPr sz="1300">
                          <a:solidFill>
                            <a:srgbClr val="1A1A1A"/>
                          </a:solidFill>
                        </a:defRPr>
                      </a:pPr>
                      <a:r>
                        <a:t>24.5%</a:t>
                      </a:r>
                    </a:p>
                  </a:txBody>
                  <a:tcPr/>
                </a:tc>
              </a:tr>
              <a:tr h="320040">
                <a:tc>
                  <a:txBody>
                    <a:bodyPr/>
                    <a:lstStyle/>
                    <a:p>
                      <a:pPr>
                        <a:defRPr sz="1300">
                          <a:solidFill>
                            <a:srgbClr val="1A1A1A"/>
                          </a:solidFill>
                        </a:defRPr>
                      </a:pPr>
                      <a:r>
                        <a:t>Africa</a:t>
                      </a:r>
                    </a:p>
                  </a:txBody>
                  <a:tcPr>
                    <a:solidFill>
                      <a:srgbClr val="F5F8FC"/>
                    </a:solidFill>
                  </a:tcPr>
                </a:tc>
                <a:tc>
                  <a:txBody>
                    <a:bodyPr/>
                    <a:lstStyle/>
                    <a:p>
                      <a:pPr>
                        <a:defRPr sz="1300">
                          <a:solidFill>
                            <a:srgbClr val="1A1A1A"/>
                          </a:solidFill>
                        </a:defRPr>
                      </a:pPr>
                      <a:r>
                        <a:t>58</a:t>
                      </a:r>
                    </a:p>
                  </a:txBody>
                  <a:tcPr>
                    <a:solidFill>
                      <a:srgbClr val="F5F8FC"/>
                    </a:solidFill>
                  </a:tcPr>
                </a:tc>
                <a:tc>
                  <a:txBody>
                    <a:bodyPr/>
                    <a:lstStyle/>
                    <a:p>
                      <a:pPr>
                        <a:defRPr sz="1300">
                          <a:solidFill>
                            <a:srgbClr val="1A1A1A"/>
                          </a:solidFill>
                        </a:defRPr>
                      </a:pPr>
                      <a:r>
                        <a:t>688,721</a:t>
                      </a:r>
                    </a:p>
                  </a:txBody>
                  <a:tcPr>
                    <a:solidFill>
                      <a:srgbClr val="F5F8FC"/>
                    </a:solidFill>
                  </a:tcPr>
                </a:tc>
                <a:tc>
                  <a:txBody>
                    <a:bodyPr/>
                    <a:lstStyle/>
                    <a:p>
                      <a:pPr>
                        <a:defRPr sz="1300">
                          <a:solidFill>
                            <a:srgbClr val="1A1A1A"/>
                          </a:solidFill>
                        </a:defRPr>
                      </a:pPr>
                      <a:r>
                        <a:t>3.6%</a:t>
                      </a:r>
                    </a:p>
                  </a:txBody>
                  <a:tcPr>
                    <a:solidFill>
                      <a:srgbClr val="F5F8FC"/>
                    </a:solidFill>
                  </a:tcPr>
                </a:tc>
              </a:tr>
              <a:tr h="320040">
                <a:tc>
                  <a:txBody>
                    <a:bodyPr/>
                    <a:lstStyle/>
                    <a:p>
                      <a:pPr>
                        <a:defRPr sz="1300">
                          <a:solidFill>
                            <a:srgbClr val="1A1A1A"/>
                          </a:solidFill>
                        </a:defRPr>
                      </a:pPr>
                      <a:r>
                        <a:t>Oceania</a:t>
                      </a:r>
                    </a:p>
                  </a:txBody>
                  <a:tcPr/>
                </a:tc>
                <a:tc>
                  <a:txBody>
                    <a:bodyPr/>
                    <a:lstStyle/>
                    <a:p>
                      <a:pPr>
                        <a:defRPr sz="1300">
                          <a:solidFill>
                            <a:srgbClr val="1A1A1A"/>
                          </a:solidFill>
                        </a:defRPr>
                      </a:pPr>
                      <a:r>
                        <a:t>26</a:t>
                      </a:r>
                    </a:p>
                  </a:txBody>
                  <a:tcPr/>
                </a:tc>
                <a:tc>
                  <a:txBody>
                    <a:bodyPr/>
                    <a:lstStyle/>
                    <a:p>
                      <a:pPr>
                        <a:defRPr sz="1300">
                          <a:solidFill>
                            <a:srgbClr val="1A1A1A"/>
                          </a:solidFill>
                        </a:defRPr>
                      </a:pPr>
                      <a:r>
                        <a:t>605,378</a:t>
                      </a:r>
                    </a:p>
                  </a:txBody>
                  <a:tcPr/>
                </a:tc>
                <a:tc>
                  <a:txBody>
                    <a:bodyPr/>
                    <a:lstStyle/>
                    <a:p>
                      <a:pPr>
                        <a:defRPr sz="1300">
                          <a:solidFill>
                            <a:srgbClr val="1A1A1A"/>
                          </a:solidFill>
                        </a:defRPr>
                      </a:pPr>
                      <a:r>
                        <a:t>3.2%</a:t>
                      </a:r>
                    </a:p>
                  </a:txBody>
                  <a:tcPr/>
                </a:tc>
              </a:tr>
            </a:tbl>
          </a:graphicData>
        </a:graphic>
      </p:graphicFrame>
      <p:sp>
        <p:nvSpPr>
          <p:cNvPr id="5" name="TextBox 4"/>
          <p:cNvSpPr txBox="1"/>
          <p:nvPr/>
        </p:nvSpPr>
        <p:spPr>
          <a:xfrm>
            <a:off x="6583680" y="1554480"/>
            <a:ext cx="5303520" cy="4572000"/>
          </a:xfrm>
          <a:prstGeom prst="rect">
            <a:avLst/>
          </a:prstGeom>
          <a:noFill/>
        </p:spPr>
        <p:txBody>
          <a:bodyPr wrap="square">
            <a:spAutoFit/>
          </a:bodyPr>
          <a:lstStyle/>
          <a:p>
            <a:pPr>
              <a:lnSpc>
                <a:spcPct val="130000"/>
              </a:lnSpc>
              <a:spcBef>
                <a:spcPts val="800"/>
              </a:spcBef>
              <a:defRPr sz="1600" b="0">
                <a:solidFill>
                  <a:srgbClr val="1A1A1A"/>
                </a:solidFill>
              </a:defRPr>
            </a:pPr>
            <a:r>
              <a:t>Europe holds 40.9 per cent of all country-attributed records, more than any other region. This is heavily influenced by the United Kingdom, which alone accounts for 21.8 per cent of the country total, mostly from the COG-UK pandemic surveillance programme.</a:t>
            </a:r>
          </a:p>
          <a:p>
            <a:pPr>
              <a:lnSpc>
                <a:spcPct val="130000"/>
              </a:lnSpc>
              <a:spcBef>
                <a:spcPts val="800"/>
              </a:spcBef>
              <a:defRPr sz="1600" b="0">
                <a:solidFill>
                  <a:srgbClr val="1A1A1A"/>
                </a:solidFill>
              </a:defRPr>
            </a:pPr>
            <a:r>
              <a:t>Without the UK, Europe share would fall to approximately 19 per cent, closer to the Americas and Asia.</a:t>
            </a:r>
          </a:p>
          <a:p>
            <a:pPr>
              <a:lnSpc>
                <a:spcPct val="130000"/>
              </a:lnSpc>
              <a:spcBef>
                <a:spcPts val="800"/>
              </a:spcBef>
              <a:defRPr sz="1600" b="0">
                <a:solidFill>
                  <a:srgbClr val="1A1A1A"/>
                </a:solidFill>
              </a:defRPr>
            </a:pPr>
            <a:r>
              <a:t>Africa, despite having 58 classified countries, holds only 3.6 per cent of records. This share has remained roughly constant throughout the period studied.</a:t>
            </a:r>
          </a:p>
          <a:p>
            <a:pPr>
              <a:lnSpc>
                <a:spcPct val="130000"/>
              </a:lnSpc>
              <a:spcBef>
                <a:spcPts val="800"/>
              </a:spcBef>
              <a:defRPr sz="1600" b="0">
                <a:solidFill>
                  <a:srgbClr val="1A1A1A"/>
                </a:solidFill>
              </a:defRPr>
            </a:pPr>
            <a:r>
              <a:t>At the sub-regional level, Northern Europe and Northern America together hold over half of all records.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Three countries dominate</a:t>
            </a:r>
          </a:p>
          <a:p>
            <a:pPr>
              <a:spcBef>
                <a:spcPts val="400"/>
              </a:spcBef>
              <a:defRPr sz="1600">
                <a:solidFill>
                  <a:srgbClr val="666666"/>
                </a:solidFill>
              </a:defRPr>
            </a:pPr>
            <a:r>
              <a:t>UK, USA, and China account for over 60 per cent of records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5486400" cy="3520440"/>
        </p:xfrm>
        <a:graphic>
          <a:graphicData uri="http://schemas.openxmlformats.org/drawingml/2006/table">
            <a:tbl>
              <a:tblPr firstRow="1" bandRow="1">
                <a:tableStyleId>{5C22544A-7EE6-4342-B048-85BDC9FD1C3A}</a:tableStyleId>
              </a:tblPr>
              <a:tblGrid>
                <a:gridCol w="1371600"/>
                <a:gridCol w="1371600"/>
                <a:gridCol w="1371600"/>
                <a:gridCol w="1371600"/>
              </a:tblGrid>
              <a:tr h="320040">
                <a:tc>
                  <a:txBody>
                    <a:bodyPr/>
                    <a:lstStyle/>
                    <a:p>
                      <a:pPr>
                        <a:defRPr sz="1400" b="1">
                          <a:solidFill>
                            <a:srgbClr val="FFFFFF"/>
                          </a:solidFill>
                        </a:defRPr>
                      </a:pPr>
                      <a:r>
                        <a:t>Rank</a:t>
                      </a:r>
                    </a:p>
                  </a:txBody>
                  <a:tcPr>
                    <a:solidFill>
                      <a:srgbClr val="1F4E79"/>
                    </a:solidFill>
                  </a:tcPr>
                </a:tc>
                <a:tc>
                  <a:txBody>
                    <a:bodyPr/>
                    <a:lstStyle/>
                    <a:p>
                      <a:pPr>
                        <a:defRPr sz="1400" b="1">
                          <a:solidFill>
                            <a:srgbClr val="FFFFFF"/>
                          </a:solidFill>
                        </a:defRPr>
                      </a:pPr>
                      <a:r>
                        <a:t>Country</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tr>
              <a:tr h="320040">
                <a:tc>
                  <a:txBody>
                    <a:bodyPr/>
                    <a:lstStyle/>
                    <a:p>
                      <a:pPr>
                        <a:defRPr sz="1300">
                          <a:solidFill>
                            <a:srgbClr val="1A1A1A"/>
                          </a:solidFill>
                        </a:defRPr>
                      </a:pPr>
                      <a:r>
                        <a:t>1</a:t>
                      </a:r>
                    </a:p>
                  </a:txBody>
                  <a:tcPr/>
                </a:tc>
                <a:tc>
                  <a:txBody>
                    <a:bodyPr/>
                    <a:lstStyle/>
                    <a:p>
                      <a:pPr>
                        <a:defRPr sz="1300">
                          <a:solidFill>
                            <a:srgbClr val="1A1A1A"/>
                          </a:solidFill>
                        </a:defRPr>
                      </a:pPr>
                      <a:r>
                        <a:t>United Kingdom</a:t>
                      </a:r>
                    </a:p>
                  </a:txBody>
                  <a:tcPr/>
                </a:tc>
                <a:tc>
                  <a:txBody>
                    <a:bodyPr/>
                    <a:lstStyle/>
                    <a:p>
                      <a:pPr>
                        <a:defRPr sz="1300">
                          <a:solidFill>
                            <a:srgbClr val="1A1A1A"/>
                          </a:solidFill>
                        </a:defRPr>
                      </a:pPr>
                      <a:r>
                        <a:t>4,143,928</a:t>
                      </a:r>
                    </a:p>
                  </a:txBody>
                  <a:tcPr/>
                </a:tc>
                <a:tc>
                  <a:txBody>
                    <a:bodyPr/>
                    <a:lstStyle/>
                    <a:p>
                      <a:pPr>
                        <a:defRPr sz="1300">
                          <a:solidFill>
                            <a:srgbClr val="1A1A1A"/>
                          </a:solidFill>
                        </a:defRPr>
                      </a:pPr>
                      <a:r>
                        <a:t>21.8%</a:t>
                      </a:r>
                    </a:p>
                  </a:txBody>
                  <a:tcPr/>
                </a:tc>
              </a:tr>
              <a:tr h="320040">
                <a:tc>
                  <a:txBody>
                    <a:bodyPr/>
                    <a:lstStyle/>
                    <a:p>
                      <a:pPr>
                        <a:defRPr sz="1300">
                          <a:solidFill>
                            <a:srgbClr val="1A1A1A"/>
                          </a:solidFill>
                        </a:defRPr>
                      </a:pPr>
                      <a:r>
                        <a:t>2</a:t>
                      </a:r>
                    </a:p>
                  </a:txBody>
                  <a:tcPr>
                    <a:solidFill>
                      <a:srgbClr val="F5F8FC"/>
                    </a:solidFill>
                  </a:tcPr>
                </a:tc>
                <a:tc>
                  <a:txBody>
                    <a:bodyPr/>
                    <a:lstStyle/>
                    <a:p>
                      <a:pPr>
                        <a:defRPr sz="1300">
                          <a:solidFill>
                            <a:srgbClr val="1A1A1A"/>
                          </a:solidFill>
                        </a:defRPr>
                      </a:pPr>
                      <a:r>
                        <a:t>United States</a:t>
                      </a:r>
                    </a:p>
                  </a:txBody>
                  <a:tcPr>
                    <a:solidFill>
                      <a:srgbClr val="F5F8FC"/>
                    </a:solidFill>
                  </a:tcPr>
                </a:tc>
                <a:tc>
                  <a:txBody>
                    <a:bodyPr/>
                    <a:lstStyle/>
                    <a:p>
                      <a:pPr>
                        <a:defRPr sz="1300">
                          <a:solidFill>
                            <a:srgbClr val="1A1A1A"/>
                          </a:solidFill>
                        </a:defRPr>
                      </a:pPr>
                      <a:r>
                        <a:t>4,018,537</a:t>
                      </a:r>
                    </a:p>
                  </a:txBody>
                  <a:tcPr>
                    <a:solidFill>
                      <a:srgbClr val="F5F8FC"/>
                    </a:solidFill>
                  </a:tcPr>
                </a:tc>
                <a:tc>
                  <a:txBody>
                    <a:bodyPr/>
                    <a:lstStyle/>
                    <a:p>
                      <a:pPr>
                        <a:defRPr sz="1300">
                          <a:solidFill>
                            <a:srgbClr val="1A1A1A"/>
                          </a:solidFill>
                        </a:defRPr>
                      </a:pPr>
                      <a:r>
                        <a:t>21.2%</a:t>
                      </a:r>
                    </a:p>
                  </a:txBody>
                  <a:tcPr>
                    <a:solidFill>
                      <a:srgbClr val="F5F8FC"/>
                    </a:solidFill>
                  </a:tcPr>
                </a:tc>
              </a:tr>
              <a:tr h="320040">
                <a:tc>
                  <a:txBody>
                    <a:bodyPr/>
                    <a:lstStyle/>
                    <a:p>
                      <a:pPr>
                        <a:defRPr sz="1300">
                          <a:solidFill>
                            <a:srgbClr val="1A1A1A"/>
                          </a:solidFill>
                        </a:defRPr>
                      </a:pPr>
                      <a:r>
                        <a:t>3</a:t>
                      </a:r>
                    </a:p>
                  </a:txBody>
                  <a:tcPr/>
                </a:tc>
                <a:tc>
                  <a:txBody>
                    <a:bodyPr/>
                    <a:lstStyle/>
                    <a:p>
                      <a:pPr>
                        <a:defRPr sz="1300">
                          <a:solidFill>
                            <a:srgbClr val="1A1A1A"/>
                          </a:solidFill>
                        </a:defRPr>
                      </a:pPr>
                      <a:r>
                        <a:t>China</a:t>
                      </a:r>
                    </a:p>
                  </a:txBody>
                  <a:tcPr/>
                </a:tc>
                <a:tc>
                  <a:txBody>
                    <a:bodyPr/>
                    <a:lstStyle/>
                    <a:p>
                      <a:pPr>
                        <a:defRPr sz="1300">
                          <a:solidFill>
                            <a:srgbClr val="1A1A1A"/>
                          </a:solidFill>
                        </a:defRPr>
                      </a:pPr>
                      <a:r>
                        <a:t>3,357,157</a:t>
                      </a:r>
                    </a:p>
                  </a:txBody>
                  <a:tcPr/>
                </a:tc>
                <a:tc>
                  <a:txBody>
                    <a:bodyPr/>
                    <a:lstStyle/>
                    <a:p>
                      <a:pPr>
                        <a:defRPr sz="1300">
                          <a:solidFill>
                            <a:srgbClr val="1A1A1A"/>
                          </a:solidFill>
                        </a:defRPr>
                      </a:pPr>
                      <a:r>
                        <a:t>17.7%</a:t>
                      </a:r>
                    </a:p>
                  </a:txBody>
                  <a:tcPr/>
                </a:tc>
              </a:tr>
              <a:tr h="320040">
                <a:tc>
                  <a:txBody>
                    <a:bodyPr/>
                    <a:lstStyle/>
                    <a:p>
                      <a:pPr>
                        <a:defRPr sz="1300">
                          <a:solidFill>
                            <a:srgbClr val="1A1A1A"/>
                          </a:solidFill>
                        </a:defRPr>
                      </a:pPr>
                      <a:r>
                        <a:t>4</a:t>
                      </a:r>
                    </a:p>
                  </a:txBody>
                  <a:tcPr>
                    <a:solidFill>
                      <a:srgbClr val="F5F8FC"/>
                    </a:solidFill>
                  </a:tcPr>
                </a:tc>
                <a:tc>
                  <a:txBody>
                    <a:bodyPr/>
                    <a:lstStyle/>
                    <a:p>
                      <a:pPr>
                        <a:defRPr sz="1300">
                          <a:solidFill>
                            <a:srgbClr val="1A1A1A"/>
                          </a:solidFill>
                        </a:defRPr>
                      </a:pPr>
                      <a:r>
                        <a:t>Canada</a:t>
                      </a:r>
                    </a:p>
                  </a:txBody>
                  <a:tcPr>
                    <a:solidFill>
                      <a:srgbClr val="F5F8FC"/>
                    </a:solidFill>
                  </a:tcPr>
                </a:tc>
                <a:tc>
                  <a:txBody>
                    <a:bodyPr/>
                    <a:lstStyle/>
                    <a:p>
                      <a:pPr>
                        <a:defRPr sz="1300">
                          <a:solidFill>
                            <a:srgbClr val="1A1A1A"/>
                          </a:solidFill>
                        </a:defRPr>
                      </a:pPr>
                      <a:r>
                        <a:t>530,725</a:t>
                      </a:r>
                    </a:p>
                  </a:txBody>
                  <a:tcPr>
                    <a:solidFill>
                      <a:srgbClr val="F5F8FC"/>
                    </a:solidFill>
                  </a:tcPr>
                </a:tc>
                <a:tc>
                  <a:txBody>
                    <a:bodyPr/>
                    <a:lstStyle/>
                    <a:p>
                      <a:pPr>
                        <a:defRPr sz="1300">
                          <a:solidFill>
                            <a:srgbClr val="1A1A1A"/>
                          </a:solidFill>
                        </a:defRPr>
                      </a:pPr>
                      <a:r>
                        <a:t>2.8%</a:t>
                      </a:r>
                    </a:p>
                  </a:txBody>
                  <a:tcPr>
                    <a:solidFill>
                      <a:srgbClr val="F5F8FC"/>
                    </a:solidFill>
                  </a:tcPr>
                </a:tc>
              </a:tr>
              <a:tr h="320040">
                <a:tc>
                  <a:txBody>
                    <a:bodyPr/>
                    <a:lstStyle/>
                    <a:p>
                      <a:pPr>
                        <a:defRPr sz="1300">
                          <a:solidFill>
                            <a:srgbClr val="1A1A1A"/>
                          </a:solidFill>
                        </a:defRPr>
                      </a:pPr>
                      <a:r>
                        <a:t>5</a:t>
                      </a:r>
                    </a:p>
                  </a:txBody>
                  <a:tcPr/>
                </a:tc>
                <a:tc>
                  <a:txBody>
                    <a:bodyPr/>
                    <a:lstStyle/>
                    <a:p>
                      <a:pPr>
                        <a:defRPr sz="1300">
                          <a:solidFill>
                            <a:srgbClr val="1A1A1A"/>
                          </a:solidFill>
                        </a:defRPr>
                      </a:pPr>
                      <a:r>
                        <a:t>Germany</a:t>
                      </a:r>
                    </a:p>
                  </a:txBody>
                  <a:tcPr/>
                </a:tc>
                <a:tc>
                  <a:txBody>
                    <a:bodyPr/>
                    <a:lstStyle/>
                    <a:p>
                      <a:pPr>
                        <a:defRPr sz="1300">
                          <a:solidFill>
                            <a:srgbClr val="1A1A1A"/>
                          </a:solidFill>
                        </a:defRPr>
                      </a:pPr>
                      <a:r>
                        <a:t>510,489</a:t>
                      </a:r>
                    </a:p>
                  </a:txBody>
                  <a:tcPr/>
                </a:tc>
                <a:tc>
                  <a:txBody>
                    <a:bodyPr/>
                    <a:lstStyle/>
                    <a:p>
                      <a:pPr>
                        <a:defRPr sz="1300">
                          <a:solidFill>
                            <a:srgbClr val="1A1A1A"/>
                          </a:solidFill>
                        </a:defRPr>
                      </a:pPr>
                      <a:r>
                        <a:t>2.7%</a:t>
                      </a:r>
                    </a:p>
                  </a:txBody>
                  <a:tcPr/>
                </a:tc>
              </a:tr>
              <a:tr h="320040">
                <a:tc>
                  <a:txBody>
                    <a:bodyPr/>
                    <a:lstStyle/>
                    <a:p>
                      <a:pPr>
                        <a:defRPr sz="1300">
                          <a:solidFill>
                            <a:srgbClr val="1A1A1A"/>
                          </a:solidFill>
                        </a:defRPr>
                      </a:pPr>
                      <a:r>
                        <a:t>6</a:t>
                      </a:r>
                    </a:p>
                  </a:txBody>
                  <a:tcPr>
                    <a:solidFill>
                      <a:srgbClr val="F5F8FC"/>
                    </a:solidFill>
                  </a:tcPr>
                </a:tc>
                <a:tc>
                  <a:txBody>
                    <a:bodyPr/>
                    <a:lstStyle/>
                    <a:p>
                      <a:pPr>
                        <a:defRPr sz="1300">
                          <a:solidFill>
                            <a:srgbClr val="1A1A1A"/>
                          </a:solidFill>
                        </a:defRPr>
                      </a:pPr>
                      <a:r>
                        <a:t>Australia</a:t>
                      </a:r>
                    </a:p>
                  </a:txBody>
                  <a:tcPr>
                    <a:solidFill>
                      <a:srgbClr val="F5F8FC"/>
                    </a:solidFill>
                  </a:tcPr>
                </a:tc>
                <a:tc>
                  <a:txBody>
                    <a:bodyPr/>
                    <a:lstStyle/>
                    <a:p>
                      <a:pPr>
                        <a:defRPr sz="1300">
                          <a:solidFill>
                            <a:srgbClr val="1A1A1A"/>
                          </a:solidFill>
                        </a:defRPr>
                      </a:pPr>
                      <a:r>
                        <a:t>424,457</a:t>
                      </a:r>
                    </a:p>
                  </a:txBody>
                  <a:tcPr>
                    <a:solidFill>
                      <a:srgbClr val="F5F8FC"/>
                    </a:solidFill>
                  </a:tcPr>
                </a:tc>
                <a:tc>
                  <a:txBody>
                    <a:bodyPr/>
                    <a:lstStyle/>
                    <a:p>
                      <a:pPr>
                        <a:defRPr sz="1300">
                          <a:solidFill>
                            <a:srgbClr val="1A1A1A"/>
                          </a:solidFill>
                        </a:defRPr>
                      </a:pPr>
                      <a:r>
                        <a:t>2.2%</a:t>
                      </a:r>
                    </a:p>
                  </a:txBody>
                  <a:tcPr>
                    <a:solidFill>
                      <a:srgbClr val="F5F8FC"/>
                    </a:solidFill>
                  </a:tcPr>
                </a:tc>
              </a:tr>
              <a:tr h="320040">
                <a:tc>
                  <a:txBody>
                    <a:bodyPr/>
                    <a:lstStyle/>
                    <a:p>
                      <a:pPr>
                        <a:defRPr sz="1300">
                          <a:solidFill>
                            <a:srgbClr val="1A1A1A"/>
                          </a:solidFill>
                        </a:defRPr>
                      </a:pPr>
                      <a:r>
                        <a:t>7</a:t>
                      </a:r>
                    </a:p>
                  </a:txBody>
                  <a:tcPr/>
                </a:tc>
                <a:tc>
                  <a:txBody>
                    <a:bodyPr/>
                    <a:lstStyle/>
                    <a:p>
                      <a:pPr>
                        <a:defRPr sz="1300">
                          <a:solidFill>
                            <a:srgbClr val="1A1A1A"/>
                          </a:solidFill>
                        </a:defRPr>
                      </a:pPr>
                      <a:r>
                        <a:t>Denmark</a:t>
                      </a:r>
                    </a:p>
                  </a:txBody>
                  <a:tcPr/>
                </a:tc>
                <a:tc>
                  <a:txBody>
                    <a:bodyPr/>
                    <a:lstStyle/>
                    <a:p>
                      <a:pPr>
                        <a:defRPr sz="1300">
                          <a:solidFill>
                            <a:srgbClr val="1A1A1A"/>
                          </a:solidFill>
                        </a:defRPr>
                      </a:pPr>
                      <a:r>
                        <a:t>403,788</a:t>
                      </a:r>
                    </a:p>
                  </a:txBody>
                  <a:tcPr/>
                </a:tc>
                <a:tc>
                  <a:txBody>
                    <a:bodyPr/>
                    <a:lstStyle/>
                    <a:p>
                      <a:pPr>
                        <a:defRPr sz="1300">
                          <a:solidFill>
                            <a:srgbClr val="1A1A1A"/>
                          </a:solidFill>
                        </a:defRPr>
                      </a:pPr>
                      <a:r>
                        <a:t>2.1%</a:t>
                      </a:r>
                    </a:p>
                  </a:txBody>
                  <a:tcPr/>
                </a:tc>
              </a:tr>
              <a:tr h="320040">
                <a:tc>
                  <a:txBody>
                    <a:bodyPr/>
                    <a:lstStyle/>
                    <a:p>
                      <a:pPr>
                        <a:defRPr sz="1300">
                          <a:solidFill>
                            <a:srgbClr val="1A1A1A"/>
                          </a:solidFill>
                        </a:defRPr>
                      </a:pPr>
                      <a:r>
                        <a:t>8</a:t>
                      </a:r>
                    </a:p>
                  </a:txBody>
                  <a:tcPr>
                    <a:solidFill>
                      <a:srgbClr val="F5F8FC"/>
                    </a:solidFill>
                  </a:tcPr>
                </a:tc>
                <a:tc>
                  <a:txBody>
                    <a:bodyPr/>
                    <a:lstStyle/>
                    <a:p>
                      <a:pPr>
                        <a:defRPr sz="1300">
                          <a:solidFill>
                            <a:srgbClr val="1A1A1A"/>
                          </a:solidFill>
                        </a:defRPr>
                      </a:pPr>
                      <a:r>
                        <a:t>France</a:t>
                      </a:r>
                    </a:p>
                  </a:txBody>
                  <a:tcPr>
                    <a:solidFill>
                      <a:srgbClr val="F5F8FC"/>
                    </a:solidFill>
                  </a:tcPr>
                </a:tc>
                <a:tc>
                  <a:txBody>
                    <a:bodyPr/>
                    <a:lstStyle/>
                    <a:p>
                      <a:pPr>
                        <a:defRPr sz="1300">
                          <a:solidFill>
                            <a:srgbClr val="1A1A1A"/>
                          </a:solidFill>
                        </a:defRPr>
                      </a:pPr>
                      <a:r>
                        <a:t>388,062</a:t>
                      </a:r>
                    </a:p>
                  </a:txBody>
                  <a:tcPr>
                    <a:solidFill>
                      <a:srgbClr val="F5F8FC"/>
                    </a:solidFill>
                  </a:tcPr>
                </a:tc>
                <a:tc>
                  <a:txBody>
                    <a:bodyPr/>
                    <a:lstStyle/>
                    <a:p>
                      <a:pPr>
                        <a:defRPr sz="1300">
                          <a:solidFill>
                            <a:srgbClr val="1A1A1A"/>
                          </a:solidFill>
                        </a:defRPr>
                      </a:pPr>
                      <a:r>
                        <a:t>2.0%</a:t>
                      </a:r>
                    </a:p>
                  </a:txBody>
                  <a:tcPr>
                    <a:solidFill>
                      <a:srgbClr val="F5F8FC"/>
                    </a:solidFill>
                  </a:tcPr>
                </a:tc>
              </a:tr>
              <a:tr h="320040">
                <a:tc>
                  <a:txBody>
                    <a:bodyPr/>
                    <a:lstStyle/>
                    <a:p>
                      <a:pPr>
                        <a:defRPr sz="1300">
                          <a:solidFill>
                            <a:srgbClr val="1A1A1A"/>
                          </a:solidFill>
                        </a:defRPr>
                      </a:pPr>
                      <a:r>
                        <a:t>9</a:t>
                      </a:r>
                    </a:p>
                  </a:txBody>
                  <a:tcPr/>
                </a:tc>
                <a:tc>
                  <a:txBody>
                    <a:bodyPr/>
                    <a:lstStyle/>
                    <a:p>
                      <a:pPr>
                        <a:defRPr sz="1300">
                          <a:solidFill>
                            <a:srgbClr val="1A1A1A"/>
                          </a:solidFill>
                        </a:defRPr>
                      </a:pPr>
                      <a:r>
                        <a:t>Japan</a:t>
                      </a:r>
                    </a:p>
                  </a:txBody>
                  <a:tcPr/>
                </a:tc>
                <a:tc>
                  <a:txBody>
                    <a:bodyPr/>
                    <a:lstStyle/>
                    <a:p>
                      <a:pPr>
                        <a:defRPr sz="1300">
                          <a:solidFill>
                            <a:srgbClr val="1A1A1A"/>
                          </a:solidFill>
                        </a:defRPr>
                      </a:pPr>
                      <a:r>
                        <a:t>380,094</a:t>
                      </a:r>
                    </a:p>
                  </a:txBody>
                  <a:tcPr/>
                </a:tc>
                <a:tc>
                  <a:txBody>
                    <a:bodyPr/>
                    <a:lstStyle/>
                    <a:p>
                      <a:pPr>
                        <a:defRPr sz="1300">
                          <a:solidFill>
                            <a:srgbClr val="1A1A1A"/>
                          </a:solidFill>
                        </a:defRPr>
                      </a:pPr>
                      <a:r>
                        <a:t>2.0%</a:t>
                      </a:r>
                    </a:p>
                  </a:txBody>
                  <a:tcPr/>
                </a:tc>
              </a:tr>
              <a:tr h="320040">
                <a:tc>
                  <a:txBody>
                    <a:bodyPr/>
                    <a:lstStyle/>
                    <a:p>
                      <a:pPr>
                        <a:defRPr sz="1300">
                          <a:solidFill>
                            <a:srgbClr val="1A1A1A"/>
                          </a:solidFill>
                        </a:defRPr>
                      </a:pPr>
                      <a:r>
                        <a:t>10</a:t>
                      </a:r>
                    </a:p>
                  </a:txBody>
                  <a:tcPr>
                    <a:solidFill>
                      <a:srgbClr val="F5F8FC"/>
                    </a:solidFill>
                  </a:tcPr>
                </a:tc>
                <a:tc>
                  <a:txBody>
                    <a:bodyPr/>
                    <a:lstStyle/>
                    <a:p>
                      <a:pPr>
                        <a:defRPr sz="1300">
                          <a:solidFill>
                            <a:srgbClr val="1A1A1A"/>
                          </a:solidFill>
                        </a:defRPr>
                      </a:pPr>
                      <a:r>
                        <a:t>Spain</a:t>
                      </a:r>
                    </a:p>
                  </a:txBody>
                  <a:tcPr>
                    <a:solidFill>
                      <a:srgbClr val="F5F8FC"/>
                    </a:solidFill>
                  </a:tcPr>
                </a:tc>
                <a:tc>
                  <a:txBody>
                    <a:bodyPr/>
                    <a:lstStyle/>
                    <a:p>
                      <a:pPr>
                        <a:defRPr sz="1300">
                          <a:solidFill>
                            <a:srgbClr val="1A1A1A"/>
                          </a:solidFill>
                        </a:defRPr>
                      </a:pPr>
                      <a:r>
                        <a:t>331,748</a:t>
                      </a:r>
                    </a:p>
                  </a:txBody>
                  <a:tcPr>
                    <a:solidFill>
                      <a:srgbClr val="F5F8FC"/>
                    </a:solidFill>
                  </a:tcPr>
                </a:tc>
                <a:tc>
                  <a:txBody>
                    <a:bodyPr/>
                    <a:lstStyle/>
                    <a:p>
                      <a:pPr>
                        <a:defRPr sz="1300">
                          <a:solidFill>
                            <a:srgbClr val="1A1A1A"/>
                          </a:solidFill>
                        </a:defRPr>
                      </a:pPr>
                      <a:r>
                        <a:t>1.7%</a:t>
                      </a:r>
                    </a:p>
                  </a:txBody>
                  <a:tcPr>
                    <a:solidFill>
                      <a:srgbClr val="F5F8FC"/>
                    </a:solidFill>
                  </a:tcPr>
                </a:tc>
              </a:tr>
            </a:tbl>
          </a:graphicData>
        </a:graphic>
      </p:graphicFrame>
      <p:sp>
        <p:nvSpPr>
          <p:cNvPr id="5" name="TextBox 4"/>
          <p:cNvSpPr txBox="1"/>
          <p:nvPr/>
        </p:nvSpPr>
        <p:spPr>
          <a:xfrm>
            <a:off x="6583680" y="1554480"/>
            <a:ext cx="5303520" cy="4572000"/>
          </a:xfrm>
          <a:prstGeom prst="rect">
            <a:avLst/>
          </a:prstGeom>
          <a:noFill/>
        </p:spPr>
        <p:txBody>
          <a:bodyPr wrap="square">
            <a:spAutoFit/>
          </a:bodyPr>
          <a:lstStyle/>
          <a:p>
            <a:pPr>
              <a:lnSpc>
                <a:spcPct val="130000"/>
              </a:lnSpc>
              <a:spcBef>
                <a:spcPts val="800"/>
              </a:spcBef>
              <a:defRPr sz="1600" b="1">
                <a:solidFill>
                  <a:srgbClr val="1A1A1A"/>
                </a:solidFill>
              </a:defRPr>
            </a:pPr>
            <a:r>
              <a:t>The United Kingdom, the United States, and China together account for 60.7 per cent of all country-attributed records. No other country reaches 3 per cent.</a:t>
            </a:r>
          </a:p>
          <a:p>
            <a:pPr>
              <a:lnSpc>
                <a:spcPct val="130000"/>
              </a:lnSpc>
              <a:spcBef>
                <a:spcPts val="800"/>
              </a:spcBef>
              <a:defRPr sz="1600" b="0">
                <a:solidFill>
                  <a:srgbClr val="1A1A1A"/>
                </a:solidFill>
              </a:defRPr>
            </a:pPr>
            <a:r>
              <a:t>This concentration is a critical consideration for any allocation formula. A formula based on raw record counts would channel most benefits to a small number of countries that already have substantial sequencing capacity, undermining the equity objectives of the Cali Fund.</a:t>
            </a:r>
          </a:p>
          <a:p>
            <a:pPr>
              <a:lnSpc>
                <a:spcPct val="130000"/>
              </a:lnSpc>
              <a:spcBef>
                <a:spcPts val="800"/>
              </a:spcBef>
              <a:defRPr sz="1600" b="0">
                <a:solidFill>
                  <a:srgbClr val="1A1A1A"/>
                </a:solidFill>
              </a:defRPr>
            </a:pPr>
            <a:r>
              <a:t>The UK count is inflated by the COG-UK consortium, which deposited over 1.5 million SARS-CoV-2 records in 2021. Without these pandemic records, the UK would rank below China and the USA.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The COVID-19 distortion</a:t>
            </a:r>
          </a:p>
          <a:p>
            <a:pPr>
              <a:spcBef>
                <a:spcPts val="400"/>
              </a:spcBef>
              <a:defRPr sz="1600">
                <a:solidFill>
                  <a:srgbClr val="666666"/>
                </a:solidFill>
              </a:defRPr>
            </a:pPr>
            <a:r>
              <a:t>Pandemic surveillance severely distorts temporal trends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In 2021, UK records jumped from 162,561 to 1,651,232, a tenfold increase driven by the COVID-19 Genomics UK (COG-UK) consortium. Similar surges occurred in the United States and other developed countries with large genomic surveillance programmes.</a:t>
            </a:r>
          </a:p>
          <a:p>
            <a:pPr>
              <a:lnSpc>
                <a:spcPct val="130000"/>
              </a:lnSpc>
              <a:spcBef>
                <a:spcPts val="800"/>
              </a:spcBef>
              <a:defRPr sz="1700" b="0">
                <a:solidFill>
                  <a:srgbClr val="1A1A1A"/>
                </a:solidFill>
              </a:defRPr>
            </a:pPr>
            <a:r>
              <a:t>This single event inflated the developed-country share by approximately 13 percentage points, from 69.9 per cent in 2020 to 83.3 per cent in 2021. The pandemic records are SARS-CoV-2 sequences, not biodiversity DSI, and they are not representative of the underlying trend.</a:t>
            </a:r>
          </a:p>
          <a:p>
            <a:pPr>
              <a:lnSpc>
                <a:spcPct val="130000"/>
              </a:lnSpc>
              <a:spcBef>
                <a:spcPts val="800"/>
              </a:spcBef>
              <a:defRPr sz="1700" b="0">
                <a:solidFill>
                  <a:srgbClr val="1A1A1A"/>
                </a:solidFill>
              </a:defRPr>
            </a:pPr>
            <a:r>
              <a:t>The decline from 2021 onwards reflects two forces: the winding down of pandemic surveillance in developed countries, and continued growth in developing-country sequencing, particularly from China. It is not yet clear whether the convergence visible in 2026 will be sustained once pandemic records are no longer distorting the baseline.</a:t>
            </a:r>
          </a:p>
          <a:p>
            <a:pPr>
              <a:lnSpc>
                <a:spcPct val="130000"/>
              </a:lnSpc>
              <a:spcBef>
                <a:spcPts val="800"/>
              </a:spcBef>
              <a:defRPr sz="1700" b="1">
                <a:solidFill>
                  <a:srgbClr val="1F4E79"/>
                </a:solidFill>
              </a:defRPr>
            </a:pPr>
            <a:r>
              <a:t>To assess genuine trends in biodiversity DSI, a sensitivity view excluding SARS-CoV-2 records would be needed. This was not available for this report but should be a priority for future analysis.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Temporal trends: Three periods compared</a:t>
            </a:r>
          </a:p>
          <a:p>
            <a:pPr>
              <a:spcBef>
                <a:spcPts val="400"/>
              </a:spcBef>
              <a:defRPr sz="1600">
                <a:solidFill>
                  <a:srgbClr val="666666"/>
                </a:solidFill>
              </a:defRPr>
            </a:pPr>
            <a:r>
              <a:t>Pre-pandemic, pandemic, and post-pandemic annual averages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54480"/>
          <a:ext cx="10241280" cy="1920240"/>
        </p:xfrm>
        <a:graphic>
          <a:graphicData uri="http://schemas.openxmlformats.org/drawingml/2006/table">
            <a:tbl>
              <a:tblPr firstRow="1" bandRow="1">
                <a:tableStyleId>{5C22544A-7EE6-4342-B048-85BDC9FD1C3A}</a:tableStyleId>
              </a:tblPr>
              <a:tblGrid>
                <a:gridCol w="1645920"/>
                <a:gridCol w="1828800"/>
                <a:gridCol w="2011680"/>
                <a:gridCol w="1371600"/>
                <a:gridCol w="2011680"/>
                <a:gridCol w="1371600"/>
              </a:tblGrid>
              <a:tr h="320040">
                <a:tc>
                  <a:txBody>
                    <a:bodyPr/>
                    <a:lstStyle/>
                    <a:p>
                      <a:pPr>
                        <a:defRPr sz="1400" b="1">
                          <a:solidFill>
                            <a:srgbClr val="FFFFFF"/>
                          </a:solidFill>
                        </a:defRPr>
                      </a:pPr>
                      <a:r>
                        <a:t>Group</a:t>
                      </a:r>
                    </a:p>
                  </a:txBody>
                  <a:tcPr>
                    <a:solidFill>
                      <a:srgbClr val="1F4E79"/>
                    </a:solidFill>
                  </a:tcPr>
                </a:tc>
                <a:tc>
                  <a:txBody>
                    <a:bodyPr/>
                    <a:lstStyle/>
                    <a:p>
                      <a:pPr>
                        <a:defRPr sz="1400" b="1">
                          <a:solidFill>
                            <a:srgbClr val="FFFFFF"/>
                          </a:solidFill>
                        </a:defRPr>
                      </a:pPr>
                      <a:r>
                        <a:t>2018-2020/yr</a:t>
                      </a:r>
                    </a:p>
                  </a:txBody>
                  <a:tcPr>
                    <a:solidFill>
                      <a:srgbClr val="1F4E79"/>
                    </a:solidFill>
                  </a:tcPr>
                </a:tc>
                <a:tc>
                  <a:txBody>
                    <a:bodyPr/>
                    <a:lstStyle/>
                    <a:p>
                      <a:pPr>
                        <a:defRPr sz="1400" b="1">
                          <a:solidFill>
                            <a:srgbClr val="FFFFFF"/>
                          </a:solidFill>
                        </a:defRPr>
                      </a:pPr>
                      <a:r>
                        <a:t>2021-2023/yr</a:t>
                      </a:r>
                    </a:p>
                  </a:txBody>
                  <a:tcPr>
                    <a:solidFill>
                      <a:srgbClr val="1F4E79"/>
                    </a:solidFill>
                  </a:tcPr>
                </a:tc>
                <a:tc>
                  <a:txBody>
                    <a:bodyPr/>
                    <a:lstStyle/>
                    <a:p>
                      <a:pPr>
                        <a:defRPr sz="1400" b="1">
                          <a:solidFill>
                            <a:srgbClr val="FFFFFF"/>
                          </a:solidFill>
                        </a:defRPr>
                      </a:pPr>
                      <a:r>
                        <a:t>Change</a:t>
                      </a:r>
                    </a:p>
                  </a:txBody>
                  <a:tcPr>
                    <a:solidFill>
                      <a:srgbClr val="1F4E79"/>
                    </a:solidFill>
                  </a:tcPr>
                </a:tc>
                <a:tc>
                  <a:txBody>
                    <a:bodyPr/>
                    <a:lstStyle/>
                    <a:p>
                      <a:pPr>
                        <a:defRPr sz="1400" b="1">
                          <a:solidFill>
                            <a:srgbClr val="FFFFFF"/>
                          </a:solidFill>
                        </a:defRPr>
                      </a:pPr>
                      <a:r>
                        <a:t>2024-2026/yr</a:t>
                      </a:r>
                    </a:p>
                  </a:txBody>
                  <a:tcPr>
                    <a:solidFill>
                      <a:srgbClr val="1F4E79"/>
                    </a:solidFill>
                  </a:tcPr>
                </a:tc>
                <a:tc>
                  <a:txBody>
                    <a:bodyPr/>
                    <a:lstStyle/>
                    <a:p>
                      <a:pPr>
                        <a:defRPr sz="1400" b="1">
                          <a:solidFill>
                            <a:srgbClr val="FFFFFF"/>
                          </a:solidFill>
                        </a:defRPr>
                      </a:pPr>
                      <a:r>
                        <a:t>Change</a:t>
                      </a:r>
                    </a:p>
                  </a:txBody>
                  <a:tcPr>
                    <a:solidFill>
                      <a:srgbClr val="1F4E79"/>
                    </a:solidFill>
                  </a:tcPr>
                </a:tc>
              </a:tr>
              <a:tr h="320040">
                <a:tc>
                  <a:txBody>
                    <a:bodyPr/>
                    <a:lstStyle/>
                    <a:p>
                      <a:pPr>
                        <a:defRPr sz="1300">
                          <a:solidFill>
                            <a:srgbClr val="1A1A1A"/>
                          </a:solidFill>
                        </a:defRPr>
                      </a:pPr>
                      <a:r>
                        <a:t>Developed</a:t>
                      </a:r>
                    </a:p>
                  </a:txBody>
                  <a:tcPr/>
                </a:tc>
                <a:tc>
                  <a:txBody>
                    <a:bodyPr/>
                    <a:lstStyle/>
                    <a:p>
                      <a:pPr>
                        <a:defRPr sz="1300">
                          <a:solidFill>
                            <a:srgbClr val="1A1A1A"/>
                          </a:solidFill>
                        </a:defRPr>
                      </a:pPr>
                      <a:r>
                        <a:t>577,721</a:t>
                      </a:r>
                    </a:p>
                  </a:txBody>
                  <a:tcPr/>
                </a:tc>
                <a:tc>
                  <a:txBody>
                    <a:bodyPr/>
                    <a:lstStyle/>
                    <a:p>
                      <a:pPr>
                        <a:defRPr sz="1300">
                          <a:solidFill>
                            <a:srgbClr val="1A1A1A"/>
                          </a:solidFill>
                        </a:defRPr>
                      </a:pPr>
                      <a:r>
                        <a:t>1,985,212</a:t>
                      </a:r>
                    </a:p>
                  </a:txBody>
                  <a:tcPr/>
                </a:tc>
                <a:tc>
                  <a:txBody>
                    <a:bodyPr/>
                    <a:lstStyle/>
                    <a:p>
                      <a:pPr>
                        <a:defRPr sz="1300">
                          <a:solidFill>
                            <a:srgbClr val="1A1A1A"/>
                          </a:solidFill>
                        </a:defRPr>
                      </a:pPr>
                      <a:r>
                        <a:t>+244%</a:t>
                      </a:r>
                    </a:p>
                  </a:txBody>
                  <a:tcPr/>
                </a:tc>
                <a:tc>
                  <a:txBody>
                    <a:bodyPr/>
                    <a:lstStyle/>
                    <a:p>
                      <a:pPr>
                        <a:defRPr sz="1300">
                          <a:solidFill>
                            <a:srgbClr val="1A1A1A"/>
                          </a:solidFill>
                        </a:defRPr>
                      </a:pPr>
                      <a:r>
                        <a:t>865,856</a:t>
                      </a:r>
                    </a:p>
                  </a:txBody>
                  <a:tcPr/>
                </a:tc>
                <a:tc>
                  <a:txBody>
                    <a:bodyPr/>
                    <a:lstStyle/>
                    <a:p>
                      <a:pPr>
                        <a:defRPr sz="1300">
                          <a:solidFill>
                            <a:srgbClr val="1A1A1A"/>
                          </a:solidFill>
                        </a:defRPr>
                      </a:pPr>
                      <a:r>
                        <a:t>-56%</a:t>
                      </a:r>
                    </a:p>
                  </a:txBody>
                  <a:tcPr/>
                </a:tc>
              </a:tr>
              <a:tr h="320040">
                <a:tc>
                  <a:txBody>
                    <a:bodyPr/>
                    <a:lstStyle/>
                    <a:p>
                      <a:pPr>
                        <a:defRPr sz="1300">
                          <a:solidFill>
                            <a:srgbClr val="1A1A1A"/>
                          </a:solidFill>
                        </a:defRPr>
                      </a:pPr>
                      <a:r>
                        <a:t>Developing</a:t>
                      </a:r>
                    </a:p>
                  </a:txBody>
                  <a:tcPr>
                    <a:solidFill>
                      <a:srgbClr val="F5F8FC"/>
                    </a:solidFill>
                  </a:tcPr>
                </a:tc>
                <a:tc>
                  <a:txBody>
                    <a:bodyPr/>
                    <a:lstStyle/>
                    <a:p>
                      <a:pPr>
                        <a:defRPr sz="1300">
                          <a:solidFill>
                            <a:srgbClr val="1A1A1A"/>
                          </a:solidFill>
                        </a:defRPr>
                      </a:pPr>
                      <a:r>
                        <a:t>229,487</a:t>
                      </a:r>
                    </a:p>
                  </a:txBody>
                  <a:tcPr>
                    <a:solidFill>
                      <a:srgbClr val="F5F8FC"/>
                    </a:solidFill>
                  </a:tcPr>
                </a:tc>
                <a:tc>
                  <a:txBody>
                    <a:bodyPr/>
                    <a:lstStyle/>
                    <a:p>
                      <a:pPr>
                        <a:defRPr sz="1300">
                          <a:solidFill>
                            <a:srgbClr val="1A1A1A"/>
                          </a:solidFill>
                        </a:defRPr>
                      </a:pPr>
                      <a:r>
                        <a:t>556,709</a:t>
                      </a:r>
                    </a:p>
                  </a:txBody>
                  <a:tcPr>
                    <a:solidFill>
                      <a:srgbClr val="F5F8FC"/>
                    </a:solidFill>
                  </a:tcPr>
                </a:tc>
                <a:tc>
                  <a:txBody>
                    <a:bodyPr/>
                    <a:lstStyle/>
                    <a:p>
                      <a:pPr>
                        <a:defRPr sz="1300">
                          <a:solidFill>
                            <a:srgbClr val="1A1A1A"/>
                          </a:solidFill>
                        </a:defRPr>
                      </a:pPr>
                      <a:r>
                        <a:t>+143%</a:t>
                      </a:r>
                    </a:p>
                  </a:txBody>
                  <a:tcPr>
                    <a:solidFill>
                      <a:srgbClr val="F5F8FC"/>
                    </a:solidFill>
                  </a:tcPr>
                </a:tc>
                <a:tc>
                  <a:txBody>
                    <a:bodyPr/>
                    <a:lstStyle/>
                    <a:p>
                      <a:pPr>
                        <a:defRPr sz="1300">
                          <a:solidFill>
                            <a:srgbClr val="1A1A1A"/>
                          </a:solidFill>
                        </a:defRPr>
                      </a:pPr>
                      <a:r>
                        <a:t>709,245</a:t>
                      </a:r>
                    </a:p>
                  </a:txBody>
                  <a:tcPr>
                    <a:solidFill>
                      <a:srgbClr val="F5F8FC"/>
                    </a:solidFill>
                  </a:tcPr>
                </a:tc>
                <a:tc>
                  <a:txBody>
                    <a:bodyPr/>
                    <a:lstStyle/>
                    <a:p>
                      <a:pPr>
                        <a:defRPr sz="1300">
                          <a:solidFill>
                            <a:srgbClr val="1A1A1A"/>
                          </a:solidFill>
                        </a:defRPr>
                      </a:pPr>
                      <a:r>
                        <a:t>+27%</a:t>
                      </a:r>
                    </a:p>
                  </a:txBody>
                  <a:tcPr>
                    <a:solidFill>
                      <a:srgbClr val="F5F8FC"/>
                    </a:solidFill>
                  </a:tcPr>
                </a:tc>
              </a:tr>
              <a:tr h="320040">
                <a:tc>
                  <a:txBody>
                    <a:bodyPr/>
                    <a:lstStyle/>
                    <a:p>
                      <a:pPr>
                        <a:defRPr sz="1300">
                          <a:solidFill>
                            <a:srgbClr val="1A1A1A"/>
                          </a:solidFill>
                        </a:defRPr>
                      </a:pPr>
                      <a:r>
                        <a:t>LDCs</a:t>
                      </a:r>
                    </a:p>
                  </a:txBody>
                  <a:tcPr/>
                </a:tc>
                <a:tc>
                  <a:txBody>
                    <a:bodyPr/>
                    <a:lstStyle/>
                    <a:p>
                      <a:pPr>
                        <a:defRPr sz="1300">
                          <a:solidFill>
                            <a:srgbClr val="1A1A1A"/>
                          </a:solidFill>
                        </a:defRPr>
                      </a:pPr>
                      <a:r>
                        <a:t>10,796</a:t>
                      </a:r>
                    </a:p>
                  </a:txBody>
                  <a:tcPr/>
                </a:tc>
                <a:tc>
                  <a:txBody>
                    <a:bodyPr/>
                    <a:lstStyle/>
                    <a:p>
                      <a:pPr>
                        <a:defRPr sz="1300">
                          <a:solidFill>
                            <a:srgbClr val="1A1A1A"/>
                          </a:solidFill>
                        </a:defRPr>
                      </a:pPr>
                      <a:r>
                        <a:t>57,817</a:t>
                      </a:r>
                    </a:p>
                  </a:txBody>
                  <a:tcPr/>
                </a:tc>
                <a:tc>
                  <a:txBody>
                    <a:bodyPr/>
                    <a:lstStyle/>
                    <a:p>
                      <a:pPr>
                        <a:defRPr sz="1300">
                          <a:solidFill>
                            <a:srgbClr val="1A1A1A"/>
                          </a:solidFill>
                        </a:defRPr>
                      </a:pPr>
                      <a:r>
                        <a:t>+436%</a:t>
                      </a:r>
                    </a:p>
                  </a:txBody>
                  <a:tcPr/>
                </a:tc>
                <a:tc>
                  <a:txBody>
                    <a:bodyPr/>
                    <a:lstStyle/>
                    <a:p>
                      <a:pPr>
                        <a:defRPr sz="1300">
                          <a:solidFill>
                            <a:srgbClr val="1A1A1A"/>
                          </a:solidFill>
                        </a:defRPr>
                      </a:pPr>
                      <a:r>
                        <a:t>22,009</a:t>
                      </a:r>
                    </a:p>
                  </a:txBody>
                  <a:tcPr/>
                </a:tc>
                <a:tc>
                  <a:txBody>
                    <a:bodyPr/>
                    <a:lstStyle/>
                    <a:p>
                      <a:pPr>
                        <a:defRPr sz="1300">
                          <a:solidFill>
                            <a:srgbClr val="1A1A1A"/>
                          </a:solidFill>
                        </a:defRPr>
                      </a:pPr>
                      <a:r>
                        <a:t>-62%</a:t>
                      </a:r>
                    </a:p>
                  </a:txBody>
                  <a:tcPr/>
                </a:tc>
              </a:tr>
              <a:tr h="320040">
                <a:tc>
                  <a:txBody>
                    <a:bodyPr/>
                    <a:lstStyle/>
                    <a:p>
                      <a:pPr>
                        <a:defRPr sz="1300">
                          <a:solidFill>
                            <a:srgbClr val="1A1A1A"/>
                          </a:solidFill>
                        </a:defRPr>
                      </a:pPr>
                      <a:r>
                        <a:t>SIDS</a:t>
                      </a:r>
                    </a:p>
                  </a:txBody>
                  <a:tcPr>
                    <a:solidFill>
                      <a:srgbClr val="F5F8FC"/>
                    </a:solidFill>
                  </a:tcPr>
                </a:tc>
                <a:tc>
                  <a:txBody>
                    <a:bodyPr/>
                    <a:lstStyle/>
                    <a:p>
                      <a:pPr>
                        <a:defRPr sz="1300">
                          <a:solidFill>
                            <a:srgbClr val="1A1A1A"/>
                          </a:solidFill>
                        </a:defRPr>
                      </a:pPr>
                      <a:r>
                        <a:t>9,617</a:t>
                      </a:r>
                    </a:p>
                  </a:txBody>
                  <a:tcPr>
                    <a:solidFill>
                      <a:srgbClr val="F5F8FC"/>
                    </a:solidFill>
                  </a:tcPr>
                </a:tc>
                <a:tc>
                  <a:txBody>
                    <a:bodyPr/>
                    <a:lstStyle/>
                    <a:p>
                      <a:pPr>
                        <a:defRPr sz="1300">
                          <a:solidFill>
                            <a:srgbClr val="1A1A1A"/>
                          </a:solidFill>
                        </a:defRPr>
                      </a:pPr>
                      <a:r>
                        <a:t>24,792</a:t>
                      </a:r>
                    </a:p>
                  </a:txBody>
                  <a:tcPr>
                    <a:solidFill>
                      <a:srgbClr val="F5F8FC"/>
                    </a:solidFill>
                  </a:tcPr>
                </a:tc>
                <a:tc>
                  <a:txBody>
                    <a:bodyPr/>
                    <a:lstStyle/>
                    <a:p>
                      <a:pPr>
                        <a:defRPr sz="1300">
                          <a:solidFill>
                            <a:srgbClr val="1A1A1A"/>
                          </a:solidFill>
                        </a:defRPr>
                      </a:pPr>
                      <a:r>
                        <a:t>+158%</a:t>
                      </a:r>
                    </a:p>
                  </a:txBody>
                  <a:tcPr>
                    <a:solidFill>
                      <a:srgbClr val="F5F8FC"/>
                    </a:solidFill>
                  </a:tcPr>
                </a:tc>
                <a:tc>
                  <a:txBody>
                    <a:bodyPr/>
                    <a:lstStyle/>
                    <a:p>
                      <a:pPr>
                        <a:defRPr sz="1300">
                          <a:solidFill>
                            <a:srgbClr val="1A1A1A"/>
                          </a:solidFill>
                        </a:defRPr>
                      </a:pPr>
                      <a:r>
                        <a:t>20,408</a:t>
                      </a:r>
                    </a:p>
                  </a:txBody>
                  <a:tcPr>
                    <a:solidFill>
                      <a:srgbClr val="F5F8FC"/>
                    </a:solidFill>
                  </a:tcPr>
                </a:tc>
                <a:tc>
                  <a:txBody>
                    <a:bodyPr/>
                    <a:lstStyle/>
                    <a:p>
                      <a:pPr>
                        <a:defRPr sz="1300">
                          <a:solidFill>
                            <a:srgbClr val="1A1A1A"/>
                          </a:solidFill>
                        </a:defRPr>
                      </a:pPr>
                      <a:r>
                        <a:t>-18%</a:t>
                      </a:r>
                    </a:p>
                  </a:txBody>
                  <a:tcPr>
                    <a:solidFill>
                      <a:srgbClr val="F5F8FC"/>
                    </a:solidFill>
                  </a:tcPr>
                </a:tc>
              </a:tr>
              <a:tr h="320040">
                <a:tc>
                  <a:txBody>
                    <a:bodyPr/>
                    <a:lstStyle/>
                    <a:p>
                      <a:pPr>
                        <a:defRPr sz="1300">
                          <a:solidFill>
                            <a:srgbClr val="1A1A1A"/>
                          </a:solidFill>
                        </a:defRPr>
                      </a:pPr>
                      <a:r>
                        <a:t>LLDCs</a:t>
                      </a:r>
                    </a:p>
                  </a:txBody>
                  <a:tcPr/>
                </a:tc>
                <a:tc>
                  <a:txBody>
                    <a:bodyPr/>
                    <a:lstStyle/>
                    <a:p>
                      <a:pPr>
                        <a:defRPr sz="1300">
                          <a:solidFill>
                            <a:srgbClr val="1A1A1A"/>
                          </a:solidFill>
                        </a:defRPr>
                      </a:pPr>
                      <a:r>
                        <a:t>7,292</a:t>
                      </a:r>
                    </a:p>
                  </a:txBody>
                  <a:tcPr/>
                </a:tc>
                <a:tc>
                  <a:txBody>
                    <a:bodyPr/>
                    <a:lstStyle/>
                    <a:p>
                      <a:pPr>
                        <a:defRPr sz="1300">
                          <a:solidFill>
                            <a:srgbClr val="1A1A1A"/>
                          </a:solidFill>
                        </a:defRPr>
                      </a:pPr>
                      <a:r>
                        <a:t>19,763</a:t>
                      </a:r>
                    </a:p>
                  </a:txBody>
                  <a:tcPr/>
                </a:tc>
                <a:tc>
                  <a:txBody>
                    <a:bodyPr/>
                    <a:lstStyle/>
                    <a:p>
                      <a:pPr>
                        <a:defRPr sz="1300">
                          <a:solidFill>
                            <a:srgbClr val="1A1A1A"/>
                          </a:solidFill>
                        </a:defRPr>
                      </a:pPr>
                      <a:r>
                        <a:t>+171%</a:t>
                      </a:r>
                    </a:p>
                  </a:txBody>
                  <a:tcPr/>
                </a:tc>
                <a:tc>
                  <a:txBody>
                    <a:bodyPr/>
                    <a:lstStyle/>
                    <a:p>
                      <a:pPr>
                        <a:defRPr sz="1300">
                          <a:solidFill>
                            <a:srgbClr val="1A1A1A"/>
                          </a:solidFill>
                        </a:defRPr>
                      </a:pPr>
                      <a:r>
                        <a:t>14,088</a:t>
                      </a:r>
                    </a:p>
                  </a:txBody>
                  <a:tcPr/>
                </a:tc>
                <a:tc>
                  <a:txBody>
                    <a:bodyPr/>
                    <a:lstStyle/>
                    <a:p>
                      <a:pPr>
                        <a:defRPr sz="1300">
                          <a:solidFill>
                            <a:srgbClr val="1A1A1A"/>
                          </a:solidFill>
                        </a:defRPr>
                      </a:pPr>
                      <a:r>
                        <a:t>-29%</a:t>
                      </a:r>
                    </a:p>
                  </a:txBody>
                  <a:tcPr/>
                </a:tc>
              </a:tr>
            </a:tbl>
          </a:graphicData>
        </a:graphic>
      </p:graphicFrame>
      <p:sp>
        <p:nvSpPr>
          <p:cNvPr id="5" name="TextBox 4"/>
          <p:cNvSpPr txBox="1"/>
          <p:nvPr/>
        </p:nvSpPr>
        <p:spPr>
          <a:xfrm>
            <a:off x="731520" y="4389120"/>
            <a:ext cx="10515600" cy="2011680"/>
          </a:xfrm>
          <a:prstGeom prst="rect">
            <a:avLst/>
          </a:prstGeom>
          <a:noFill/>
        </p:spPr>
        <p:txBody>
          <a:bodyPr wrap="square">
            <a:spAutoFit/>
          </a:bodyPr>
          <a:lstStyle/>
          <a:p>
            <a:pPr>
              <a:lnSpc>
                <a:spcPct val="130000"/>
              </a:lnSpc>
              <a:spcBef>
                <a:spcPts val="800"/>
              </a:spcBef>
              <a:defRPr sz="1600" b="0">
                <a:solidFill>
                  <a:srgbClr val="1A1A1A"/>
                </a:solidFill>
              </a:defRPr>
            </a:pPr>
            <a:r>
              <a:t>The pandemic period saw dramatic growth across all groups, but the growth was far larger for developed countries (+244 per cent) than for developing countries (+143 per cent). This widened the absolute gap even as it temporarily increased the developed-country share.</a:t>
            </a:r>
          </a:p>
          <a:p>
            <a:pPr>
              <a:lnSpc>
                <a:spcPct val="130000"/>
              </a:lnSpc>
              <a:spcBef>
                <a:spcPts val="800"/>
              </a:spcBef>
              <a:defRPr sz="1600" b="0">
                <a:solidFill>
                  <a:srgbClr val="1A1A1A"/>
                </a:solidFill>
              </a:defRPr>
            </a:pPr>
            <a:r>
              <a:t>In the post-pandemic period, developed-country records declined by 56 per cent from their pandemic peak, while developing-country records continued to grow, by 27 per cent. For the first time in the period studied, developing countries are generating more records per year than developed countries, though the 2026 figure is based on partial-year data.</a:t>
            </a:r>
          </a:p>
          <a:p>
            <a:pPr>
              <a:lnSpc>
                <a:spcPct val="130000"/>
              </a:lnSpc>
              <a:spcBef>
                <a:spcPts val="800"/>
              </a:spcBef>
              <a:defRPr sz="1600" b="0">
                <a:solidFill>
                  <a:srgbClr val="1A1A1A"/>
                </a:solidFill>
              </a:defRPr>
            </a:pPr>
            <a:r>
              <a:t>All vulnerable country groups saw their records decline from pandemic peaks, suggesting that pandemic-era growth was project-specific and temporary.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Can INSDC data support allocation?</a:t>
            </a:r>
          </a:p>
          <a:p>
            <a:pPr>
              <a:spcBef>
                <a:spcPts val="400"/>
              </a:spcBef>
              <a:defRPr sz="1600">
                <a:solidFill>
                  <a:srgbClr val="666666"/>
                </a:solidFill>
              </a:defRPr>
            </a:pPr>
            <a:r>
              <a:t>Four problems stand out</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800" b="1">
                <a:solidFill>
                  <a:srgbClr val="1F4E79"/>
                </a:solidFill>
              </a:defRPr>
            </a:pPr>
            <a:r>
              <a:t>1.  Incompleteness</a:t>
            </a:r>
          </a:p>
          <a:p>
            <a:pPr lvl="1">
              <a:lnSpc>
                <a:spcPct val="130000"/>
              </a:lnSpc>
              <a:spcBef>
                <a:spcPts val="400"/>
              </a:spcBef>
              <a:defRPr sz="1600" b="0">
                <a:solidFill>
                  <a:srgbClr val="1A1A1A"/>
                </a:solidFill>
              </a:defRPr>
            </a:pPr>
            <a:r>
              <a:t>38.3 per cent of records cannot be attributed to any country, and 21.5 per cent have no date. The excluded fraction is not random.</a:t>
            </a:r>
          </a:p>
          <a:p>
            <a:pPr>
              <a:lnSpc>
                <a:spcPct val="130000"/>
              </a:lnSpc>
              <a:spcBef>
                <a:spcPts val="800"/>
              </a:spcBef>
              <a:defRPr sz="1800" b="1">
                <a:solidFill>
                  <a:srgbClr val="1F4E79"/>
                </a:solidFill>
              </a:defRPr>
            </a:pPr>
            <a:r>
              <a:t>2.  Concentration</a:t>
            </a:r>
          </a:p>
          <a:p>
            <a:pPr lvl="1">
              <a:lnSpc>
                <a:spcPct val="130000"/>
              </a:lnSpc>
              <a:spcBef>
                <a:spcPts val="400"/>
              </a:spcBef>
              <a:defRPr sz="1600" b="0">
                <a:solidFill>
                  <a:srgbClr val="1A1A1A"/>
                </a:solidFill>
              </a:defRPr>
            </a:pPr>
            <a:r>
              <a:t>Three countries account for 60.7 per cent of records. A formula based on raw counts would channel benefits to countries that already have substantial sequencing capacity.</a:t>
            </a:r>
          </a:p>
          <a:p>
            <a:pPr>
              <a:lnSpc>
                <a:spcPct val="130000"/>
              </a:lnSpc>
              <a:spcBef>
                <a:spcPts val="800"/>
              </a:spcBef>
              <a:defRPr sz="1800" b="1">
                <a:solidFill>
                  <a:srgbClr val="1F4E79"/>
                </a:solidFill>
              </a:defRPr>
            </a:pPr>
            <a:r>
              <a:t>3.  Distortion</a:t>
            </a:r>
          </a:p>
          <a:p>
            <a:pPr lvl="1">
              <a:lnSpc>
                <a:spcPct val="130000"/>
              </a:lnSpc>
              <a:spcBef>
                <a:spcPts val="400"/>
              </a:spcBef>
              <a:defRPr sz="1600" b="0">
                <a:solidFill>
                  <a:srgbClr val="1A1A1A"/>
                </a:solidFill>
              </a:defRPr>
            </a:pPr>
            <a:r>
              <a:t>COVID-19 pandemic records severely distort temporal trends. The UK alone deposited 1.65 million records in 2021, ten times its 2020 count.</a:t>
            </a:r>
          </a:p>
          <a:p>
            <a:pPr>
              <a:lnSpc>
                <a:spcPct val="130000"/>
              </a:lnSpc>
              <a:spcBef>
                <a:spcPts val="800"/>
              </a:spcBef>
              <a:defRPr sz="1800" b="1">
                <a:solidFill>
                  <a:srgbClr val="1F4E79"/>
                </a:solidFill>
              </a:defRPr>
            </a:pPr>
            <a:r>
              <a:t>4.  Mismatch</a:t>
            </a:r>
          </a:p>
          <a:p>
            <a:pPr lvl="1">
              <a:lnSpc>
                <a:spcPct val="130000"/>
              </a:lnSpc>
              <a:spcBef>
                <a:spcPts val="400"/>
              </a:spcBef>
              <a:defRPr sz="1600" b="0">
                <a:solidFill>
                  <a:srgbClr val="1A1A1A"/>
                </a:solidFill>
              </a:defRPr>
            </a:pPr>
            <a:r>
              <a:t>The country field records where a sample was collected, not who sequenced it. A Kenyan sample sequenced in the UK appears as Kenya.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Conclusion and policy implications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2000" b="1">
                <a:solidFill>
                  <a:srgbClr val="1F4E79"/>
                </a:solidFill>
              </a:defRPr>
            </a:pPr>
            <a:r>
              <a:t>INSDC provenance data should inform, but not determine, Cali Fund allocation decisions.</a:t>
            </a:r>
          </a:p>
          <a:p>
            <a:pPr>
              <a:lnSpc>
                <a:spcPct val="130000"/>
              </a:lnSpc>
              <a:spcBef>
                <a:spcPts val="800"/>
              </a:spcBef>
              <a:defRPr sz="1700" b="0">
                <a:solidFill>
                  <a:srgbClr val="1A1A1A"/>
                </a:solidFill>
              </a:defRPr>
            </a:pPr>
            <a:r>
              <a:t>The data are useful for identifying broad patterns of inequality, for monitoring trends over time, and for highlighting the specific needs of regions and country groups. They are not suitable as a direct input to an allocation formula because they are too incomplete, too concentrated, and too distorted by external events.</a:t>
            </a:r>
          </a:p>
          <a:p>
            <a:pPr>
              <a:lnSpc>
                <a:spcPct val="130000"/>
              </a:lnSpc>
              <a:spcBef>
                <a:spcPts val="800"/>
              </a:spcBef>
              <a:defRPr sz="1700" b="1">
                <a:solidFill>
                  <a:srgbClr val="1A1A1A"/>
                </a:solidFill>
              </a:defRPr>
            </a:pPr>
            <a:r>
              <a:t>A more robust approach might combine INSDC data with other indicators:</a:t>
            </a:r>
          </a:p>
          <a:p>
            <a:pPr lvl="1">
              <a:lnSpc>
                <a:spcPct val="130000"/>
              </a:lnSpc>
              <a:spcBef>
                <a:spcPts val="400"/>
              </a:spcBef>
              <a:defRPr sz="1600" b="0">
                <a:solidFill>
                  <a:srgbClr val="666666"/>
                </a:solidFill>
              </a:defRPr>
            </a:pPr>
            <a:r>
              <a:t>Biodiversity richness (for example, species counts from GBIF)</a:t>
            </a:r>
          </a:p>
          <a:p>
            <a:pPr lvl="1">
              <a:lnSpc>
                <a:spcPct val="130000"/>
              </a:lnSpc>
              <a:spcBef>
                <a:spcPts val="400"/>
              </a:spcBef>
              <a:defRPr sz="1600" b="0">
                <a:solidFill>
                  <a:srgbClr val="666666"/>
                </a:solidFill>
              </a:defRPr>
            </a:pPr>
            <a:r>
              <a:t>Sequencing capacity (for example, number of sequencing facilities per country)</a:t>
            </a:r>
          </a:p>
          <a:p>
            <a:pPr lvl="1">
              <a:lnSpc>
                <a:spcPct val="130000"/>
              </a:lnSpc>
              <a:spcBef>
                <a:spcPts val="400"/>
              </a:spcBef>
              <a:defRPr sz="1600" b="0">
                <a:solidFill>
                  <a:srgbClr val="666666"/>
                </a:solidFill>
              </a:defRPr>
            </a:pPr>
            <a:r>
              <a:t>Economic need (for example, GDP per capita or LDC/SIDS/LLDC status)</a:t>
            </a:r>
          </a:p>
          <a:p>
            <a:pPr>
              <a:lnSpc>
                <a:spcPct val="130000"/>
              </a:lnSpc>
              <a:spcBef>
                <a:spcPts val="800"/>
              </a:spcBef>
              <a:defRPr sz="1700" b="1">
                <a:solidFill>
                  <a:srgbClr val="1F4E79"/>
                </a:solidFill>
              </a:defRPr>
            </a:pPr>
            <a:r>
              <a:t>The Cali Fund allocation methodology should be a matter for Parties to negotiate, informed by evidence but not determined by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Limitations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Snapshot: All counts are a point-in-time snapshot taken on 13 October 2026. The database grows daily.</a:t>
            </a:r>
          </a:p>
          <a:p>
            <a:pPr>
              <a:lnSpc>
                <a:spcPct val="130000"/>
              </a:lnSpc>
              <a:spcBef>
                <a:spcPts val="800"/>
              </a:spcBef>
              <a:defRPr sz="1700" b="0">
                <a:solidFill>
                  <a:srgbClr val="1A1A1A"/>
                </a:solidFill>
              </a:defRPr>
            </a:pPr>
            <a:r>
              <a:t>Partial year: 2026 covers January to October only.</a:t>
            </a:r>
          </a:p>
          <a:p>
            <a:pPr>
              <a:lnSpc>
                <a:spcPct val="130000"/>
              </a:lnSpc>
              <a:spcBef>
                <a:spcPts val="800"/>
              </a:spcBef>
              <a:defRPr sz="1700" b="0">
                <a:solidFill>
                  <a:srgbClr val="1A1A1A"/>
                </a:solidFill>
              </a:defRPr>
            </a:pPr>
            <a:r>
              <a:t>Undated records: 21.5 per cent have no public release date. Annual counts are partial censuses.</a:t>
            </a:r>
          </a:p>
          <a:p>
            <a:pPr>
              <a:lnSpc>
                <a:spcPct val="130000"/>
              </a:lnSpc>
              <a:spcBef>
                <a:spcPts val="800"/>
              </a:spcBef>
              <a:defRPr sz="1700" b="0">
                <a:solidFill>
                  <a:srgbClr val="1A1A1A"/>
                </a:solidFill>
              </a:defRPr>
            </a:pPr>
            <a:r>
              <a:t>Data quality: The country field is submitter-populated and not standardised.</a:t>
            </a:r>
          </a:p>
          <a:p>
            <a:pPr>
              <a:lnSpc>
                <a:spcPct val="130000"/>
              </a:lnSpc>
              <a:spcBef>
                <a:spcPts val="800"/>
              </a:spcBef>
              <a:defRPr sz="1700" b="0">
                <a:solidFill>
                  <a:srgbClr val="1A1A1A"/>
                </a:solidFill>
              </a:defRPr>
            </a:pPr>
            <a:r>
              <a:t>Metagenomes: Environmental metagenomes (27.7 per cent) are included and inflate counts for some countries.</a:t>
            </a:r>
          </a:p>
          <a:p>
            <a:pPr>
              <a:lnSpc>
                <a:spcPct val="130000"/>
              </a:lnSpc>
              <a:spcBef>
                <a:spcPts val="800"/>
              </a:spcBef>
              <a:defRPr sz="1700" b="0">
                <a:solidFill>
                  <a:srgbClr val="1A1A1A"/>
                </a:solidFill>
              </a:defRPr>
            </a:pPr>
            <a:r>
              <a:t>Collection versus contribution: The country field records collection locality, not the sequencing institution.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914400" y="1828800"/>
            <a:ext cx="10058400" cy="3200400"/>
          </a:xfrm>
          <a:prstGeom prst="rect">
            <a:avLst/>
          </a:prstGeom>
          <a:noFill/>
        </p:spPr>
        <p:txBody>
          <a:bodyPr wrap="square">
            <a:spAutoFit/>
          </a:bodyPr>
          <a:lstStyle/>
          <a:p>
            <a:pPr>
              <a:defRPr sz="3600" b="1">
                <a:solidFill>
                  <a:srgbClr val="FFFFFF"/>
                </a:solidFill>
              </a:defRPr>
            </a:pPr>
            <a:r>
              <a:t>Thank you</a:t>
            </a:r>
          </a:p>
          <a:p>
            <a:pPr>
              <a:spcBef>
                <a:spcPts val="1600"/>
              </a:spcBef>
              <a:defRPr sz="2200">
                <a:solidFill>
                  <a:srgbClr val="A8C7E8"/>
                </a:solidFill>
              </a:defRPr>
            </a:pPr>
            <a:r>
              <a:t>Questions and discussion welcome</a:t>
            </a:r>
          </a:p>
          <a:p>
            <a:pPr>
              <a:spcBef>
                <a:spcPts val="2400"/>
              </a:spcBef>
              <a:defRPr sz="1800">
                <a:solidFill>
                  <a:srgbClr val="7BA8D4"/>
                </a:solidFill>
              </a:defRPr>
            </a:pPr>
            <a:r>
              <a:t>Full report: Global Variation in Sequence Accessions Over Time</a:t>
            </a:r>
            <a:br/>
            <a:r>
              <a:t>13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